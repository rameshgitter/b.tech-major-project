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MEME</c:v>
                </c:pt>
              </c:strCache>
            </c:strRef>
          </c:tx>
          <c:spPr>
            <a:solidFill>
              <a:srgbClr val="1D4ED8"/>
            </a:solidFill>
            <a:effectLst/>
          </c:spPr>
          <c:invertIfNegative val="0"/>
          <c:dLbls>
            <c:numFmt formatCode="0.0" sourceLinked="0"/>
            <c:txPr>
              <a:bodyPr/>
              <a:lstStyle/>
              <a:p>
                <a:pPr>
                  <a:defRPr b="0" i="0" strike="noStrike" sz="750" u="none">
                    <a:solidFill>
                      <a:srgbClr val="1E293B"/>
                    </a:solidFill>
                    <a:latin typeface="Arial"/>
                  </a:defRPr>
                </a:pPr>
              </a:p>
            </c:txPr>
            <c:showLegendKey val="0"/>
            <c:showVal val="1"/>
            <c:showCatName val="0"/>
            <c:showSerName val="0"/>
            <c:showPercent val="0"/>
            <c:showBubbleSize val="0"/>
            <c:showLeaderLines val="0"/>
          </c:dLbls>
          <c:cat>
            <c:multiLvlStrRef>
              <c:f>Sheet1!$A$2:$A$10</c:f>
              <c:multiLvlStrCache>
                <c:ptCount val="9"/>
                <c:lvl>
                  <c:pt idx="0">
                    <c:v>CTCF</c:v>
                  </c:pt>
                  <c:pt idx="1">
                    <c:v>E2F1
SELEX</c:v>
                  </c:pt>
                  <c:pt idx="2">
                    <c:v>E2F1
ChIP</c:v>
                  </c:pt>
                  <c:pt idx="3">
                    <c:v>HOXA10</c:v>
                  </c:pt>
                  <c:pt idx="4">
                    <c:v>Plant
bZIP</c:v>
                  </c:pt>
                  <c:pt idx="5">
                    <c:v>Plant
B3/MADS</c:v>
                  </c:pt>
                  <c:pt idx="6">
                    <c:v>Yeast
ABF</c:v>
                  </c:pt>
                  <c:pt idx="7">
                    <c:v>Synth
TATA</c:v>
                  </c:pt>
                  <c:pt idx="8">
                    <c:v>Synth
E-box</c:v>
                  </c:pt>
                </c:lvl>
              </c:multiLvlStrCache>
            </c:multiLvlStrRef>
          </c:cat>
          <c:val>
            <c:numRef>
              <c:f>Sheet1!$B$2:$B$10</c:f>
              <c:numCache>
                <c:formatCode>General</c:formatCode>
                <c:ptCount val="9"/>
                <c:pt idx="0">
                  <c:v>9</c:v>
                </c:pt>
                <c:pt idx="1">
                  <c:v>10.11</c:v>
                </c:pt>
                <c:pt idx="2">
                  <c:v>8.47</c:v>
                </c:pt>
                <c:pt idx="3">
                  <c:v>6.52</c:v>
                </c:pt>
                <c:pt idx="4">
                  <c:v>8.64</c:v>
                </c:pt>
                <c:pt idx="5">
                  <c:v>4.69</c:v>
                </c:pt>
                <c:pt idx="6">
                  <c:v>6.63</c:v>
                </c:pt>
                <c:pt idx="7">
                  <c:v>6.96</c:v>
                </c:pt>
                <c:pt idx="8">
                  <c:v>6.9</c:v>
                </c:pt>
              </c:numCache>
            </c:numRef>
          </c:val>
        </c:ser>
        <c:ser>
          <c:idx val="1"/>
          <c:order val="1"/>
          <c:tx>
            <c:strRef>
              <c:f>Sheet1!$C$1</c:f>
              <c:strCache>
                <c:ptCount val="1"/>
                <c:pt idx="0">
                  <c:v>Gibbs</c:v>
                </c:pt>
              </c:strCache>
            </c:strRef>
          </c:tx>
          <c:spPr>
            <a:solidFill>
              <a:srgbClr val="0D9488"/>
            </a:solidFill>
            <a:effectLst/>
          </c:spPr>
          <c:invertIfNegative val="0"/>
          <c:dLbls>
            <c:numFmt formatCode="0.0" sourceLinked="0"/>
            <c:txPr>
              <a:bodyPr/>
              <a:lstStyle/>
              <a:p>
                <a:pPr>
                  <a:defRPr b="0" i="0" strike="noStrike" sz="750" u="none">
                    <a:solidFill>
                      <a:srgbClr val="1E293B"/>
                    </a:solidFill>
                    <a:latin typeface="Arial"/>
                  </a:defRPr>
                </a:pPr>
              </a:p>
            </c:txPr>
            <c:showLegendKey val="0"/>
            <c:showVal val="1"/>
            <c:showCatName val="0"/>
            <c:showSerName val="0"/>
            <c:showPercent val="0"/>
            <c:showBubbleSize val="0"/>
            <c:showLeaderLines val="0"/>
          </c:dLbls>
          <c:cat>
            <c:multiLvlStrRef>
              <c:f>Sheet1!$A$2:$A$10</c:f>
              <c:multiLvlStrCache>
                <c:ptCount val="9"/>
                <c:lvl>
                  <c:pt idx="0">
                    <c:v>CTCF</c:v>
                  </c:pt>
                  <c:pt idx="1">
                    <c:v>E2F1
SELEX</c:v>
                  </c:pt>
                  <c:pt idx="2">
                    <c:v>E2F1
ChIP</c:v>
                  </c:pt>
                  <c:pt idx="3">
                    <c:v>HOXA10</c:v>
                  </c:pt>
                  <c:pt idx="4">
                    <c:v>Plant
bZIP</c:v>
                  </c:pt>
                  <c:pt idx="5">
                    <c:v>Plant
B3/MADS</c:v>
                  </c:pt>
                  <c:pt idx="6">
                    <c:v>Yeast
ABF</c:v>
                  </c:pt>
                  <c:pt idx="7">
                    <c:v>Synth
TATA</c:v>
                  </c:pt>
                  <c:pt idx="8">
                    <c:v>Synth
E-box</c:v>
                  </c:pt>
                </c:lvl>
              </c:multiLvlStrCache>
            </c:multiLvlStrRef>
          </c:cat>
          <c:val>
            <c:numRef>
              <c:f>Sheet1!$C$2:$C$10</c:f>
              <c:numCache>
                <c:formatCode>General</c:formatCode>
                <c:ptCount val="9"/>
                <c:pt idx="0">
                  <c:v>11.29</c:v>
                </c:pt>
                <c:pt idx="1">
                  <c:v>11.12</c:v>
                </c:pt>
                <c:pt idx="2">
                  <c:v>9.47</c:v>
                </c:pt>
                <c:pt idx="3">
                  <c:v>7.38</c:v>
                </c:pt>
                <c:pt idx="4">
                  <c:v>8.85</c:v>
                </c:pt>
                <c:pt idx="5">
                  <c:v>5.15</c:v>
                </c:pt>
                <c:pt idx="6">
                  <c:v>6.72</c:v>
                </c:pt>
                <c:pt idx="7">
                  <c:v>10.66</c:v>
                </c:pt>
                <c:pt idx="8">
                  <c:v>8.73</c:v>
                </c:pt>
              </c:numCache>
            </c:numRef>
          </c:val>
        </c:ser>
        <c:dLbls>
          <c:numFmt formatCode="0.0" sourceLinked="0"/>
          <c:txPr>
            <a:bodyPr/>
            <a:lstStyle/>
            <a:p>
              <a:pPr>
                <a:defRPr b="0" i="0" strike="noStrike" sz="75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475569"/>
                </a:solidFill>
                <a:latin typeface="Arial"/>
              </a:defRPr>
            </a:pPr>
            <a:endParaRPr lang="en-US"/>
          </a:p>
        </c:txPr>
        <c:crossAx val="2094734552"/>
        <c:crosses val="autoZero"/>
        <c:auto val="1"/>
        <c:lblAlgn val="ctr"/>
        <c:noMultiLvlLbl val="1"/>
      </c:catAx>
      <c:valAx>
        <c:axId val="2094734552"/>
        <c:scaling>
          <c:orientation val="minMax"/>
          <c:max val="13"/>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75569"/>
                </a:solidFill>
                <a:latin typeface="Arial"/>
              </a:defRPr>
            </a:pPr>
            <a:endParaRPr lang="en-US"/>
          </a:p>
        </c:txPr>
        <c:crossAx val="2094734554"/>
        <c:crosses val="autoZero"/>
        <c:crossBetween val="between"/>
      </c:valAx>
      <c:spPr>
        <a:solidFill>
          <a:srgbClr val="FFFFFF"/>
        </a:solidFill>
        <a:ln>
          <a:noFill/>
        </a:ln>
        <a:effectLst/>
      </c:spPr>
    </c:plotArea>
    <c:legend>
      <c:legendPos val="t"/>
      <c:overlay val="0"/>
      <c:txPr>
        <a:bodyPr/>
        <a:lstStyle/>
        <a:p>
          <a:pPr>
            <a:defRPr sz="1100">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MEME</c:v>
                </c:pt>
              </c:strCache>
            </c:strRef>
          </c:tx>
          <c:spPr>
            <a:solidFill>
              <a:srgbClr val="1D4ED8"/>
            </a:solidFill>
            <a:effectLst/>
          </c:spPr>
          <c:invertIfNegative val="0"/>
          <c:dLbls>
            <c:numFmt formatCode="#,##0" sourceLinked="0"/>
            <c:txPr>
              <a:bodyPr/>
              <a:lstStyle/>
              <a:p>
                <a:pPr>
                  <a:defRPr b="0" i="0" strike="noStrike" sz="800" u="none">
                    <a:solidFill>
                      <a:srgbClr val="1E293B"/>
                    </a:solidFill>
                    <a:latin typeface="Arial"/>
                  </a:defRPr>
                </a:pPr>
              </a:p>
            </c:txPr>
            <c:showLegendKey val="0"/>
            <c:showVal val="1"/>
            <c:showCatName val="0"/>
            <c:showSerName val="0"/>
            <c:showPercent val="0"/>
            <c:showBubbleSize val="0"/>
            <c:showLeaderLines val="0"/>
          </c:dLbls>
          <c:cat>
            <c:multiLvlStrRef>
              <c:f>Sheet1!$A$2:$A$3</c:f>
              <c:multiLvlStrCache>
                <c:ptCount val="2"/>
                <c:lvl>
                  <c:pt idx="0">
                    <c:v>TATA</c:v>
                  </c:pt>
                  <c:pt idx="1">
                    <c:v>E-box</c:v>
                  </c:pt>
                </c:lvl>
              </c:multiLvlStrCache>
            </c:multiLvlStrRef>
          </c:cat>
          <c:val>
            <c:numRef>
              <c:f>Sheet1!$B$2:$B$3</c:f>
              <c:numCache>
                <c:formatCode>General</c:formatCode>
                <c:ptCount val="2"/>
                <c:pt idx="0">
                  <c:v>6.96</c:v>
                </c:pt>
                <c:pt idx="1">
                  <c:v>6.9</c:v>
                </c:pt>
              </c:numCache>
            </c:numRef>
          </c:val>
        </c:ser>
        <c:ser>
          <c:idx val="1"/>
          <c:order val="1"/>
          <c:tx>
            <c:strRef>
              <c:f>Sheet1!$C$1</c:f>
              <c:strCache>
                <c:ptCount val="1"/>
                <c:pt idx="0">
                  <c:v>Gibbs</c:v>
                </c:pt>
              </c:strCache>
            </c:strRef>
          </c:tx>
          <c:spPr>
            <a:solidFill>
              <a:srgbClr val="0D9488"/>
            </a:solidFill>
            <a:effectLst/>
          </c:spPr>
          <c:invertIfNegative val="0"/>
          <c:dLbls>
            <c:numFmt formatCode="#,##0" sourceLinked="0"/>
            <c:txPr>
              <a:bodyPr/>
              <a:lstStyle/>
              <a:p>
                <a:pPr>
                  <a:defRPr b="0" i="0" strike="noStrike" sz="800" u="none">
                    <a:solidFill>
                      <a:srgbClr val="1E293B"/>
                    </a:solidFill>
                    <a:latin typeface="Arial"/>
                  </a:defRPr>
                </a:pPr>
              </a:p>
            </c:txPr>
            <c:showLegendKey val="0"/>
            <c:showVal val="1"/>
            <c:showCatName val="0"/>
            <c:showSerName val="0"/>
            <c:showPercent val="0"/>
            <c:showBubbleSize val="0"/>
            <c:showLeaderLines val="0"/>
          </c:dLbls>
          <c:cat>
            <c:multiLvlStrRef>
              <c:f>Sheet1!$A$2:$A$3</c:f>
              <c:multiLvlStrCache>
                <c:ptCount val="2"/>
                <c:lvl>
                  <c:pt idx="0">
                    <c:v>TATA</c:v>
                  </c:pt>
                  <c:pt idx="1">
                    <c:v>E-box</c:v>
                  </c:pt>
                </c:lvl>
              </c:multiLvlStrCache>
            </c:multiLvlStrRef>
          </c:cat>
          <c:val>
            <c:numRef>
              <c:f>Sheet1!$C$2:$C$3</c:f>
              <c:numCache>
                <c:formatCode>General</c:formatCode>
                <c:ptCount val="2"/>
                <c:pt idx="0">
                  <c:v>10.66</c:v>
                </c:pt>
                <c:pt idx="1">
                  <c:v>8.73</c:v>
                </c:pt>
              </c:numCache>
            </c:numRef>
          </c:val>
        </c:ser>
        <c:dLbls>
          <c:numFmt formatCode="#,##0" sourceLinked="0"/>
          <c:txPr>
            <a:bodyPr/>
            <a:lstStyle/>
            <a:p>
              <a:pPr>
                <a:defRPr b="0" i="0" strike="noStrike" sz="8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r"/>
      <c:overlay val="0"/>
      <c:txPr>
        <a:bodyPr/>
        <a:lstStyle/>
        <a:p>
          <a:pPr>
            <a:defRPr sz="900">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I'll be presenting my B.Tech major project on Biological Sequence Motif Discovery. This is a core problem in bioinformatics — finding recurring patterns in DNA sequences that act as regulatory switches.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cover seven sections. The talk is structured to build from problem motivation through implementation to real experimental results. Total: 10 minutes. [20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Introduction. [5 seconds to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Biological motifs are the vocabulary of gene regulation. The TATA box recruits RNA polymerase; the G-box drives plant stress responses; the E-box controls cell proliferation via MYC. These short patterns, just 6-20 base pairs long, determine whether a gene is switched on or off. [~50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search space for finding a width-10 motif across thousands of sequences is astronomically large. For a single sequence of length 1000, there are 991 possible windows. With 1000 sequences, that's close to a million candidate alignments. This is NP-hard. That's why we need smart algorithms like MEME and Gibbs Sampling.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The two algorithms. [5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MEME treats motif discovery as a mixture model problem and applies Expectation Maximisation. In the E-step we compute the probability that the motif starts at each position in each sequence. In the M-step we update the Position Weight Matrix using those fractional probabilities as weights. We repeat until convergence, then erase found sites and search for additional motifs.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insight of Gibbs Sampling is the leave-one-out update. By excluding one sequence at a time, we get an unbiased estimate of the motif model, then sample a new position for the excluded sequence probabilistically. This stochastic step is what lets Gibbs escape local optima that would trap MEME's deterministic EM. We run 3-5 restarts with random initialisation and keep the best result. [~55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Data and Methodology. [5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real data was fetched live from the JASPAR REST API at jaspar.elixir.no. JASPAR is the world's premier open-access database of transcription factor binding profiles, curated from peer-reviewed publications. Each PFM comes with the original experiment type — SELEX, PBM, ChIP-seq, or DAP-seq — and a PubMed reference. For each matrix, I generated 30 binding-site sequences by probabilistic sampling from the PFM.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Results. This is the heart of the presentation. [5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information content — measured in bits — for every dataset. Blue bars are MEME, teal bars are Gibbs Sampling. Gibbs wins on every single dataset. The advantage is most dramatic on CTCF where Gibbs achieves 11.29 bits versus MEME's 9.00 — a 2.3 bit improvement. On synthetic TATA-box Gibbs hits 10.66 versus MEME's 6.96. [~45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statistically significant result in the project. From 180 real binding-site sequences derived from 9 independent experiments spanning four different assay types, both MEME and Gibbs independently recovered ACACGTGT — the canonical G-box. The E-value of 10 to the minus 300 is essentially impossible by chance. This exact motif was characterised experimentally by Uno et al. in 2000 — we reproduced it computationally. [~55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major human transcription factors. CTCF is the most extensively studied insulator protein — 19 million binding sites in the human genome. Both algorithms recovered the GC-rich insulator motif, with Gibbs achieving 11.29 bits versus MEME's 9.00. E2F1 controls cell-cycle entry — both algorithms converged on TTGGCGCC, matching the known GCGCGCGC E2F preference exactly. HOXA10 yielded GTAATAAA — containing the canonical TAAT homeodomain core from structural biology. [~55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yeast ABF1, both algorithms found the known RTCGATCGA core. For synthetic benchmarks with planted ground truth, we can measure exact performance. Gibbs Sampling achieved 10.66 bits on the TATA-box benchmark versus MEME's 6.96 bits, with 90% site-level accuracy for both. This validates the pipeline — the algorithms correctly recover motifs we intentionally planted. [~50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Evaluation metrics. [5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synthetic benchmarks where we know the true positions, Gibbs consistently beats MEME on information content — 10.66 versus 6.96 on TATA-box. Both achieve similar sensitivity and PPV, around 0.78 to 0.80. The key takeaway is that the algorithms are complementary: MEME gives you reliable E-values and multi-motif discovery; Gibbs gives you higher IC and better sensitivity when the signal is strong. [~50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implementation is pure Python 3 with NumPy for matrix operations and Matplotlib for visualisation. The architecture separates data acquisition, preprocessing, core algorithm implementations, evaluation, and visualisation into independent modules totalling around 1,200 lines of code. The JASPAR and NCBI fetchers use live REST API calls — every dataset in this project came from real databases, not textbook examples. [~45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techniques in this project have direct real-world impact. The ABF transcription factors we studied from Arabidopsis are being actively engineered into drought-tolerant crops using the G-box motif we discovered. CTCF dysregulation causes cancer — identifying its binding motif is a step toward therapeutic intervention. Personalised medicine depends on understanding how patient-specific mutations in binding sites change gene expression.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key conclusions: [ONE] Motif discovery is fundamental infrastructure for modern genomics. [TWO] All known motifs were computationally recovered from real published data — G-box, CTCF, E2F1, HOXA10. [THREE] Gibbs Sampling consistently outperforms MEME in information content; the algorithms are complementary. [FOUR] The applications are immediate and commercially relevant. Thank you. I'm happy to take questions.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5"/>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D9488"/>
          </a:solidFill>
          <a:ln w="12700">
            <a:solidFill>
              <a:srgbClr val="0D9488"/>
            </a:solidFill>
            <a:prstDash val="solid"/>
          </a:ln>
        </p:spPr>
      </p:sp>
      <p:sp>
        <p:nvSpPr>
          <p:cNvPr id="3" name="Shape 1"/>
          <p:cNvSpPr/>
          <p:nvPr/>
        </p:nvSpPr>
        <p:spPr>
          <a:xfrm>
            <a:off x="8412480" y="365760"/>
            <a:ext cx="822960" cy="822960"/>
          </a:xfrm>
          <a:prstGeom prst="ellipse">
            <a:avLst/>
          </a:prstGeom>
          <a:solidFill>
            <a:srgbClr val="0D9488">
              <a:alpha val="15000"/>
            </a:srgbClr>
          </a:solidFill>
          <a:ln w="12700">
            <a:solidFill>
              <a:srgbClr val="14B8A6"/>
            </a:solidFill>
            <a:prstDash val="solid"/>
          </a:ln>
        </p:spPr>
      </p:sp>
      <p:sp>
        <p:nvSpPr>
          <p:cNvPr id="4" name="Shape 2"/>
          <p:cNvSpPr/>
          <p:nvPr/>
        </p:nvSpPr>
        <p:spPr>
          <a:xfrm>
            <a:off x="8732520" y="1097280"/>
            <a:ext cx="594360" cy="594360"/>
          </a:xfrm>
          <a:prstGeom prst="ellipse">
            <a:avLst/>
          </a:prstGeom>
          <a:solidFill>
            <a:srgbClr val="0D9488">
              <a:alpha val="15000"/>
            </a:srgbClr>
          </a:solidFill>
          <a:ln w="12700">
            <a:solidFill>
              <a:srgbClr val="14B8A6"/>
            </a:solidFill>
            <a:prstDash val="solid"/>
          </a:ln>
        </p:spPr>
      </p:sp>
      <p:sp>
        <p:nvSpPr>
          <p:cNvPr id="5" name="Shape 3"/>
          <p:cNvSpPr/>
          <p:nvPr/>
        </p:nvSpPr>
        <p:spPr>
          <a:xfrm>
            <a:off x="8366760" y="1828800"/>
            <a:ext cx="777240" cy="777240"/>
          </a:xfrm>
          <a:prstGeom prst="ellipse">
            <a:avLst/>
          </a:prstGeom>
          <a:solidFill>
            <a:srgbClr val="0D9488">
              <a:alpha val="15000"/>
            </a:srgbClr>
          </a:solidFill>
          <a:ln w="12700">
            <a:solidFill>
              <a:srgbClr val="14B8A6"/>
            </a:solidFill>
            <a:prstDash val="solid"/>
          </a:ln>
        </p:spPr>
      </p:sp>
      <p:sp>
        <p:nvSpPr>
          <p:cNvPr id="6" name="Shape 4"/>
          <p:cNvSpPr/>
          <p:nvPr/>
        </p:nvSpPr>
        <p:spPr>
          <a:xfrm>
            <a:off x="8686800" y="2560320"/>
            <a:ext cx="548640" cy="548640"/>
          </a:xfrm>
          <a:prstGeom prst="ellipse">
            <a:avLst/>
          </a:prstGeom>
          <a:solidFill>
            <a:srgbClr val="0D9488">
              <a:alpha val="15000"/>
            </a:srgbClr>
          </a:solidFill>
          <a:ln w="12700">
            <a:solidFill>
              <a:srgbClr val="14B8A6"/>
            </a:solidFill>
            <a:prstDash val="solid"/>
          </a:ln>
        </p:spPr>
      </p:sp>
      <p:sp>
        <p:nvSpPr>
          <p:cNvPr id="7" name="Shape 5"/>
          <p:cNvSpPr/>
          <p:nvPr/>
        </p:nvSpPr>
        <p:spPr>
          <a:xfrm>
            <a:off x="8366760" y="3200400"/>
            <a:ext cx="731520" cy="731520"/>
          </a:xfrm>
          <a:prstGeom prst="ellipse">
            <a:avLst/>
          </a:prstGeom>
          <a:solidFill>
            <a:srgbClr val="0D9488">
              <a:alpha val="15000"/>
            </a:srgbClr>
          </a:solidFill>
          <a:ln w="12700">
            <a:solidFill>
              <a:srgbClr val="14B8A6"/>
            </a:solidFill>
            <a:prstDash val="solid"/>
          </a:ln>
        </p:spPr>
      </p:sp>
      <p:sp>
        <p:nvSpPr>
          <p:cNvPr id="8" name="Shape 6"/>
          <p:cNvSpPr/>
          <p:nvPr/>
        </p:nvSpPr>
        <p:spPr>
          <a:xfrm>
            <a:off x="8686800" y="3977640"/>
            <a:ext cx="640080" cy="640080"/>
          </a:xfrm>
          <a:prstGeom prst="ellipse">
            <a:avLst/>
          </a:prstGeom>
          <a:solidFill>
            <a:srgbClr val="0D9488">
              <a:alpha val="15000"/>
            </a:srgbClr>
          </a:solidFill>
          <a:ln w="12700">
            <a:solidFill>
              <a:srgbClr val="14B8A6"/>
            </a:solidFill>
            <a:prstDash val="solid"/>
          </a:ln>
        </p:spPr>
      </p:sp>
      <p:pic>
        <p:nvPicPr>
          <p:cNvPr id="9" name="Image 0" descr="preencoded.png">    </p:cNvPr>
          <p:cNvPicPr>
            <a:picLocks noChangeAspect="1"/>
          </p:cNvPicPr>
          <p:nvPr/>
        </p:nvPicPr>
        <p:blipFill>
          <a:blip r:embed="rId1"/>
          <a:stretch>
            <a:fillRect/>
          </a:stretch>
        </p:blipFill>
        <p:spPr>
          <a:xfrm>
            <a:off x="457200" y="457200"/>
            <a:ext cx="640080" cy="640080"/>
          </a:xfrm>
          <a:prstGeom prst="rect">
            <a:avLst/>
          </a:prstGeom>
        </p:spPr>
      </p:pic>
      <p:sp>
        <p:nvSpPr>
          <p:cNvPr id="10" name="Text 7"/>
          <p:cNvSpPr/>
          <p:nvPr/>
        </p:nvSpPr>
        <p:spPr>
          <a:xfrm>
            <a:off x="201168" y="438912"/>
            <a:ext cx="7772400" cy="292608"/>
          </a:xfrm>
          <a:prstGeom prst="rect">
            <a:avLst/>
          </a:prstGeom>
          <a:noFill/>
          <a:ln/>
        </p:spPr>
        <p:txBody>
          <a:bodyPr wrap="square" lIns="0" tIns="0" rIns="0" bIns="0" rtlCol="0" anchor="ctr"/>
          <a:lstStyle/>
          <a:p>
            <a:pPr indent="0" marL="0">
              <a:buNone/>
            </a:pPr>
            <a:r>
              <a:rPr lang="en-US" sz="850" spc="200" kern="0" dirty="0">
                <a:solidFill>
                  <a:srgbClr val="14B8A6"/>
                </a:solidFill>
                <a:latin typeface="Calibri" pitchFamily="34" charset="0"/>
                <a:ea typeface="Calibri" pitchFamily="34" charset="-122"/>
                <a:cs typeface="Calibri" pitchFamily="34" charset="-120"/>
              </a:rPr>
              <a:t>IIEST SHIBPUR  ·  DEPT. COMPUTER SCIENCE &amp; TECHNOLOGY</a:t>
            </a:r>
            <a:endParaRPr lang="en-US" sz="850" dirty="0"/>
          </a:p>
        </p:txBody>
      </p:sp>
      <p:sp>
        <p:nvSpPr>
          <p:cNvPr id="11" name="Text 8"/>
          <p:cNvSpPr/>
          <p:nvPr/>
        </p:nvSpPr>
        <p:spPr>
          <a:xfrm>
            <a:off x="201168" y="868680"/>
            <a:ext cx="8046720" cy="2011680"/>
          </a:xfrm>
          <a:prstGeom prst="rect">
            <a:avLst/>
          </a:prstGeom>
          <a:noFill/>
          <a:ln/>
        </p:spPr>
        <p:txBody>
          <a:bodyPr wrap="square" rtlCol="0" anchor="ctr"/>
          <a:lstStyle/>
          <a:p>
            <a:pPr indent="0" marL="0">
              <a:lnSpc>
                <a:spcPct val="115000"/>
              </a:lnSpc>
              <a:buNone/>
            </a:pPr>
            <a:r>
              <a:rPr lang="en-US" sz="4200" b="1" dirty="0">
                <a:solidFill>
                  <a:srgbClr val="FFFFFF"/>
                </a:solidFill>
                <a:latin typeface="Calibri" pitchFamily="34" charset="0"/>
                <a:ea typeface="Calibri" pitchFamily="34" charset="-122"/>
                <a:cs typeface="Calibri" pitchFamily="34" charset="-120"/>
              </a:rPr>
              <a:t>Biological Sequence</a:t>
            </a:r>
            <a:endParaRPr lang="en-US" sz="4200" dirty="0"/>
          </a:p>
          <a:p>
            <a:pPr indent="0" marL="0">
              <a:lnSpc>
                <a:spcPct val="115000"/>
              </a:lnSpc>
              <a:buNone/>
            </a:pPr>
            <a:r>
              <a:rPr lang="en-US" sz="4200" b="1" dirty="0">
                <a:solidFill>
                  <a:srgbClr val="FFFFFF"/>
                </a:solidFill>
                <a:latin typeface="Calibri" pitchFamily="34" charset="0"/>
                <a:ea typeface="Calibri" pitchFamily="34" charset="-122"/>
                <a:cs typeface="Calibri" pitchFamily="34" charset="-120"/>
              </a:rPr>
              <a:t>Motif Discovery</a:t>
            </a:r>
            <a:endParaRPr lang="en-US" sz="4200" dirty="0"/>
          </a:p>
        </p:txBody>
      </p:sp>
      <p:sp>
        <p:nvSpPr>
          <p:cNvPr id="12" name="Text 9"/>
          <p:cNvSpPr/>
          <p:nvPr/>
        </p:nvSpPr>
        <p:spPr>
          <a:xfrm>
            <a:off x="201168" y="2944368"/>
            <a:ext cx="8046720" cy="502920"/>
          </a:xfrm>
          <a:prstGeom prst="rect">
            <a:avLst/>
          </a:prstGeom>
          <a:noFill/>
          <a:ln/>
        </p:spPr>
        <p:txBody>
          <a:bodyPr wrap="square"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De Novo Motif Discovery from Real Genomic Data using MEME &amp; Gibbs Sampling</a:t>
            </a:r>
            <a:endParaRPr lang="en-US" sz="1400" dirty="0"/>
          </a:p>
        </p:txBody>
      </p:sp>
      <p:sp>
        <p:nvSpPr>
          <p:cNvPr id="13" name="Shape 10"/>
          <p:cNvSpPr/>
          <p:nvPr/>
        </p:nvSpPr>
        <p:spPr>
          <a:xfrm>
            <a:off x="201168" y="3520440"/>
            <a:ext cx="5943600" cy="27432"/>
          </a:xfrm>
          <a:prstGeom prst="rect">
            <a:avLst/>
          </a:prstGeom>
          <a:solidFill>
            <a:srgbClr val="0D9488"/>
          </a:solidFill>
          <a:ln w="12700">
            <a:solidFill>
              <a:srgbClr val="0D9488"/>
            </a:solidFill>
            <a:prstDash val="solid"/>
          </a:ln>
        </p:spPr>
      </p:sp>
      <p:sp>
        <p:nvSpPr>
          <p:cNvPr id="14" name="Text 11"/>
          <p:cNvSpPr/>
          <p:nvPr/>
        </p:nvSpPr>
        <p:spPr>
          <a:xfrm>
            <a:off x="201168" y="3657600"/>
            <a:ext cx="8046720" cy="292608"/>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Presented by  </a:t>
            </a:r>
            <a:pPr indent="0" marL="0">
              <a:buNone/>
            </a:pPr>
            <a:r>
              <a:rPr lang="en-US" sz="1100" b="1" dirty="0">
                <a:solidFill>
                  <a:srgbClr val="FFFFFF"/>
                </a:solidFill>
                <a:latin typeface="Calibri" pitchFamily="34" charset="0"/>
                <a:ea typeface="Calibri" pitchFamily="34" charset="-122"/>
                <a:cs typeface="Calibri" pitchFamily="34" charset="-120"/>
              </a:rPr>
              <a:t>Ramesh Chandra Soren  (2022CSB086)</a:t>
            </a:r>
            <a:endParaRPr lang="en-US" sz="1100" dirty="0"/>
          </a:p>
        </p:txBody>
      </p:sp>
      <p:sp>
        <p:nvSpPr>
          <p:cNvPr id="15" name="Text 12"/>
          <p:cNvSpPr/>
          <p:nvPr/>
        </p:nvSpPr>
        <p:spPr>
          <a:xfrm>
            <a:off x="201168" y="3977640"/>
            <a:ext cx="8046720" cy="292608"/>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Supervisor  </a:t>
            </a:r>
            <a:pPr indent="0" marL="0">
              <a:buNone/>
            </a:pPr>
            <a:r>
              <a:rPr lang="en-US" sz="1100" dirty="0">
                <a:solidFill>
                  <a:srgbClr val="FFFFFF"/>
                </a:solidFill>
                <a:latin typeface="Calibri" pitchFamily="34" charset="0"/>
                <a:ea typeface="Calibri" pitchFamily="34" charset="-122"/>
                <a:cs typeface="Calibri" pitchFamily="34" charset="-120"/>
              </a:rPr>
              <a:t>Dr. Surajeet Ghosh</a:t>
            </a:r>
            <a:endParaRPr lang="en-US" sz="1100" dirty="0"/>
          </a:p>
        </p:txBody>
      </p:sp>
      <p:sp>
        <p:nvSpPr>
          <p:cNvPr id="16" name="Text 13"/>
          <p:cNvSpPr/>
          <p:nvPr/>
        </p:nvSpPr>
        <p:spPr>
          <a:xfrm>
            <a:off x="201168" y="4343400"/>
            <a:ext cx="36576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17 March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9FF"/>
        </a:solidFill>
      </p:bgPr>
    </p:bg>
    <p:spTree>
      <p:nvGrpSpPr>
        <p:cNvPr id="1" name=""/>
        <p:cNvGrpSpPr/>
        <p:nvPr/>
      </p:nvGrpSpPr>
      <p:grpSpPr>
        <a:xfrm>
          <a:off x="0" y="0"/>
          <a:ext cx="0" cy="0"/>
          <a:chOff x="0" y="0"/>
          <a:chExt cx="0" cy="0"/>
        </a:xfrm>
      </p:grpSpPr>
      <p:sp>
        <p:nvSpPr>
          <p:cNvPr id="2" name="Text 0"/>
          <p:cNvSpPr/>
          <p:nvPr/>
        </p:nvSpPr>
        <p:spPr>
          <a:xfrm>
            <a:off x="457200" y="256032"/>
            <a:ext cx="8229600" cy="640080"/>
          </a:xfrm>
          <a:prstGeom prst="rect">
            <a:avLst/>
          </a:prstGeom>
          <a:noFill/>
          <a:ln/>
        </p:spPr>
        <p:txBody>
          <a:bodyPr wrap="square" rtlCol="0" anchor="ctr"/>
          <a:lstStyle/>
          <a:p>
            <a:pPr indent="0" marL="0">
              <a:buNone/>
            </a:pPr>
            <a:r>
              <a:rPr lang="en-US" sz="3200" b="1" dirty="0">
                <a:solidFill>
                  <a:srgbClr val="0B1D35"/>
                </a:solidFill>
                <a:latin typeface="Calibri" pitchFamily="34" charset="0"/>
                <a:ea typeface="Calibri" pitchFamily="34" charset="-122"/>
                <a:cs typeface="Calibri" pitchFamily="34" charset="-120"/>
              </a:rPr>
              <a:t>Presentation Roadmap</a:t>
            </a:r>
            <a:endParaRPr lang="en-US" sz="3200" dirty="0"/>
          </a:p>
        </p:txBody>
      </p:sp>
      <p:sp>
        <p:nvSpPr>
          <p:cNvPr id="3" name="Text 1"/>
          <p:cNvSpPr/>
          <p:nvPr/>
        </p:nvSpPr>
        <p:spPr>
          <a:xfrm>
            <a:off x="457200" y="868680"/>
            <a:ext cx="8229600" cy="274320"/>
          </a:xfrm>
          <a:prstGeom prst="rect">
            <a:avLst/>
          </a:prstGeom>
          <a:noFill/>
          <a:ln/>
        </p:spPr>
        <p:txBody>
          <a:bodyPr wrap="square" rtlCol="0" anchor="ctr"/>
          <a:lstStyle/>
          <a:p>
            <a:pPr indent="0" marL="0">
              <a:buNone/>
            </a:pPr>
            <a:r>
              <a:rPr lang="en-US" sz="1200" i="1" dirty="0">
                <a:solidFill>
                  <a:srgbClr val="475569"/>
                </a:solidFill>
                <a:latin typeface="Calibri" pitchFamily="34" charset="0"/>
                <a:ea typeface="Calibri" pitchFamily="34" charset="-122"/>
                <a:cs typeface="Calibri" pitchFamily="34" charset="-120"/>
              </a:rPr>
              <a:t>10 minutes · 20 slides · 7 sections</a:t>
            </a:r>
            <a:endParaRPr lang="en-US" sz="1200" dirty="0"/>
          </a:p>
        </p:txBody>
      </p:sp>
      <p:sp>
        <p:nvSpPr>
          <p:cNvPr id="4" name="Shape 2"/>
          <p:cNvSpPr/>
          <p:nvPr/>
        </p:nvSpPr>
        <p:spPr>
          <a:xfrm>
            <a:off x="457200" y="1344168"/>
            <a:ext cx="384048" cy="384048"/>
          </a:xfrm>
          <a:prstGeom prst="ellipse">
            <a:avLst/>
          </a:prstGeom>
          <a:solidFill>
            <a:srgbClr val="0D9488"/>
          </a:solidFill>
          <a:ln w="12700">
            <a:solidFill>
              <a:srgbClr val="0D9488"/>
            </a:solidFill>
            <a:prstDash val="solid"/>
          </a:ln>
        </p:spPr>
      </p:sp>
      <p:sp>
        <p:nvSpPr>
          <p:cNvPr id="5" name="Text 3"/>
          <p:cNvSpPr/>
          <p:nvPr/>
        </p:nvSpPr>
        <p:spPr>
          <a:xfrm>
            <a:off x="457200" y="1344168"/>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01</a:t>
            </a:r>
            <a:endParaRPr lang="en-US" sz="950" dirty="0"/>
          </a:p>
        </p:txBody>
      </p:sp>
      <p:sp>
        <p:nvSpPr>
          <p:cNvPr id="6" name="Text 4"/>
          <p:cNvSpPr/>
          <p:nvPr/>
        </p:nvSpPr>
        <p:spPr>
          <a:xfrm>
            <a:off x="987552" y="1316736"/>
            <a:ext cx="5943600" cy="237744"/>
          </a:xfrm>
          <a:prstGeom prst="rect">
            <a:avLst/>
          </a:prstGeom>
          <a:noFill/>
          <a:ln/>
        </p:spPr>
        <p:txBody>
          <a:bodyPr wrap="square" lIns="0" tIns="0" rIns="0" bIns="0" rtlCol="0" anchor="ctr"/>
          <a:lstStyle/>
          <a:p>
            <a:pPr indent="0" marL="0">
              <a:buNone/>
            </a:pPr>
            <a:r>
              <a:rPr lang="en-US" sz="1300" b="1" dirty="0">
                <a:solidFill>
                  <a:srgbClr val="0B1D35"/>
                </a:solidFill>
                <a:latin typeface="Calibri" pitchFamily="34" charset="0"/>
                <a:ea typeface="Calibri" pitchFamily="34" charset="-122"/>
                <a:cs typeface="Calibri" pitchFamily="34" charset="-120"/>
              </a:rPr>
              <a:t>Introduction &amp; Motivation</a:t>
            </a:r>
            <a:endParaRPr lang="en-US" sz="1300" dirty="0"/>
          </a:p>
        </p:txBody>
      </p:sp>
      <p:sp>
        <p:nvSpPr>
          <p:cNvPr id="7" name="Text 5"/>
          <p:cNvSpPr/>
          <p:nvPr/>
        </p:nvSpPr>
        <p:spPr>
          <a:xfrm>
            <a:off x="987552" y="1554480"/>
            <a:ext cx="5943600" cy="201168"/>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What are biological motifs? Why discover them?</a:t>
            </a:r>
            <a:endParaRPr lang="en-US" sz="1000" dirty="0"/>
          </a:p>
        </p:txBody>
      </p:sp>
      <p:sp>
        <p:nvSpPr>
          <p:cNvPr id="8" name="Shape 6"/>
          <p:cNvSpPr/>
          <p:nvPr/>
        </p:nvSpPr>
        <p:spPr>
          <a:xfrm>
            <a:off x="7132320" y="1371600"/>
            <a:ext cx="1463040" cy="256032"/>
          </a:xfrm>
          <a:prstGeom prst="roundRect">
            <a:avLst>
              <a:gd name="adj" fmla="val 21429"/>
            </a:avLst>
          </a:prstGeom>
          <a:solidFill>
            <a:srgbClr val="0D9488">
              <a:alpha val="12000"/>
            </a:srgbClr>
          </a:solidFill>
          <a:ln w="12700">
            <a:solidFill>
              <a:srgbClr val="0D9488"/>
            </a:solidFill>
            <a:prstDash val="solid"/>
          </a:ln>
        </p:spPr>
      </p:sp>
      <p:sp>
        <p:nvSpPr>
          <p:cNvPr id="9" name="Text 7"/>
          <p:cNvSpPr/>
          <p:nvPr/>
        </p:nvSpPr>
        <p:spPr>
          <a:xfrm>
            <a:off x="7132320" y="1371600"/>
            <a:ext cx="1463040" cy="256032"/>
          </a:xfrm>
          <a:prstGeom prst="rect">
            <a:avLst/>
          </a:prstGeom>
          <a:noFill/>
          <a:ln/>
        </p:spPr>
        <p:txBody>
          <a:bodyPr wrap="square" lIns="0" tIns="0" rIns="0" bIns="0" rtlCol="0" anchor="ctr"/>
          <a:lstStyle/>
          <a:p>
            <a:pPr algn="ctr" indent="0" marL="0">
              <a:buNone/>
            </a:pPr>
            <a:r>
              <a:rPr lang="en-US" sz="900" b="1" dirty="0">
                <a:solidFill>
                  <a:srgbClr val="0D9488"/>
                </a:solidFill>
                <a:latin typeface="Calibri" pitchFamily="34" charset="0"/>
                <a:ea typeface="Calibri" pitchFamily="34" charset="-122"/>
                <a:cs typeface="Calibri" pitchFamily="34" charset="-120"/>
              </a:rPr>
              <a:t>1 min</a:t>
            </a:r>
            <a:endParaRPr lang="en-US" sz="900" dirty="0"/>
          </a:p>
        </p:txBody>
      </p:sp>
      <p:sp>
        <p:nvSpPr>
          <p:cNvPr id="10" name="Shape 8"/>
          <p:cNvSpPr/>
          <p:nvPr/>
        </p:nvSpPr>
        <p:spPr>
          <a:xfrm>
            <a:off x="457200" y="1879092"/>
            <a:ext cx="384048" cy="384048"/>
          </a:xfrm>
          <a:prstGeom prst="ellipse">
            <a:avLst/>
          </a:prstGeom>
          <a:solidFill>
            <a:srgbClr val="1D4ED8"/>
          </a:solidFill>
          <a:ln w="12700">
            <a:solidFill>
              <a:srgbClr val="1D4ED8"/>
            </a:solidFill>
            <a:prstDash val="solid"/>
          </a:ln>
        </p:spPr>
      </p:sp>
      <p:sp>
        <p:nvSpPr>
          <p:cNvPr id="11" name="Text 9"/>
          <p:cNvSpPr/>
          <p:nvPr/>
        </p:nvSpPr>
        <p:spPr>
          <a:xfrm>
            <a:off x="457200" y="1879092"/>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02</a:t>
            </a:r>
            <a:endParaRPr lang="en-US" sz="950" dirty="0"/>
          </a:p>
        </p:txBody>
      </p:sp>
      <p:sp>
        <p:nvSpPr>
          <p:cNvPr id="12" name="Text 10"/>
          <p:cNvSpPr/>
          <p:nvPr/>
        </p:nvSpPr>
        <p:spPr>
          <a:xfrm>
            <a:off x="987552" y="1851660"/>
            <a:ext cx="5943600" cy="237744"/>
          </a:xfrm>
          <a:prstGeom prst="rect">
            <a:avLst/>
          </a:prstGeom>
          <a:noFill/>
          <a:ln/>
        </p:spPr>
        <p:txBody>
          <a:bodyPr wrap="square" lIns="0" tIns="0" rIns="0" bIns="0" rtlCol="0" anchor="ctr"/>
          <a:lstStyle/>
          <a:p>
            <a:pPr indent="0" marL="0">
              <a:buNone/>
            </a:pPr>
            <a:r>
              <a:rPr lang="en-US" sz="1300" b="1" dirty="0">
                <a:solidFill>
                  <a:srgbClr val="0B1D35"/>
                </a:solidFill>
                <a:latin typeface="Calibri" pitchFamily="34" charset="0"/>
                <a:ea typeface="Calibri" pitchFamily="34" charset="-122"/>
                <a:cs typeface="Calibri" pitchFamily="34" charset="-120"/>
              </a:rPr>
              <a:t>Background &amp; Theory</a:t>
            </a:r>
            <a:endParaRPr lang="en-US" sz="1300" dirty="0"/>
          </a:p>
        </p:txBody>
      </p:sp>
      <p:sp>
        <p:nvSpPr>
          <p:cNvPr id="13" name="Text 11"/>
          <p:cNvSpPr/>
          <p:nvPr/>
        </p:nvSpPr>
        <p:spPr>
          <a:xfrm>
            <a:off x="987552" y="2089404"/>
            <a:ext cx="5943600" cy="201168"/>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PWM, EM algorithm, Gibbs Sampling math</a:t>
            </a:r>
            <a:endParaRPr lang="en-US" sz="1000" dirty="0"/>
          </a:p>
        </p:txBody>
      </p:sp>
      <p:sp>
        <p:nvSpPr>
          <p:cNvPr id="14" name="Shape 12"/>
          <p:cNvSpPr/>
          <p:nvPr/>
        </p:nvSpPr>
        <p:spPr>
          <a:xfrm>
            <a:off x="7132320" y="1906524"/>
            <a:ext cx="1463040" cy="256032"/>
          </a:xfrm>
          <a:prstGeom prst="roundRect">
            <a:avLst>
              <a:gd name="adj" fmla="val 21429"/>
            </a:avLst>
          </a:prstGeom>
          <a:solidFill>
            <a:srgbClr val="1D4ED8">
              <a:alpha val="12000"/>
            </a:srgbClr>
          </a:solidFill>
          <a:ln w="12700">
            <a:solidFill>
              <a:srgbClr val="1D4ED8"/>
            </a:solidFill>
            <a:prstDash val="solid"/>
          </a:ln>
        </p:spPr>
      </p:sp>
      <p:sp>
        <p:nvSpPr>
          <p:cNvPr id="15" name="Text 13"/>
          <p:cNvSpPr/>
          <p:nvPr/>
        </p:nvSpPr>
        <p:spPr>
          <a:xfrm>
            <a:off x="7132320" y="1906524"/>
            <a:ext cx="1463040" cy="256032"/>
          </a:xfrm>
          <a:prstGeom prst="rect">
            <a:avLst/>
          </a:prstGeom>
          <a:noFill/>
          <a:ln/>
        </p:spPr>
        <p:txBody>
          <a:bodyPr wrap="square" lIns="0" tIns="0" rIns="0" bIns="0" rtlCol="0" anchor="ctr"/>
          <a:lstStyle/>
          <a:p>
            <a:pPr algn="ctr" indent="0" marL="0">
              <a:buNone/>
            </a:pPr>
            <a:r>
              <a:rPr lang="en-US" sz="900" b="1" dirty="0">
                <a:solidFill>
                  <a:srgbClr val="1D4ED8"/>
                </a:solidFill>
                <a:latin typeface="Calibri" pitchFamily="34" charset="0"/>
                <a:ea typeface="Calibri" pitchFamily="34" charset="-122"/>
                <a:cs typeface="Calibri" pitchFamily="34" charset="-120"/>
              </a:rPr>
              <a:t>2 min</a:t>
            </a:r>
            <a:endParaRPr lang="en-US" sz="900" dirty="0"/>
          </a:p>
        </p:txBody>
      </p:sp>
      <p:sp>
        <p:nvSpPr>
          <p:cNvPr id="16" name="Shape 14"/>
          <p:cNvSpPr/>
          <p:nvPr/>
        </p:nvSpPr>
        <p:spPr>
          <a:xfrm>
            <a:off x="457200" y="2414016"/>
            <a:ext cx="384048" cy="384048"/>
          </a:xfrm>
          <a:prstGeom prst="ellipse">
            <a:avLst/>
          </a:prstGeom>
          <a:solidFill>
            <a:srgbClr val="7C3AED"/>
          </a:solidFill>
          <a:ln w="12700">
            <a:solidFill>
              <a:srgbClr val="7C3AED"/>
            </a:solidFill>
            <a:prstDash val="solid"/>
          </a:ln>
        </p:spPr>
      </p:sp>
      <p:sp>
        <p:nvSpPr>
          <p:cNvPr id="17" name="Text 15"/>
          <p:cNvSpPr/>
          <p:nvPr/>
        </p:nvSpPr>
        <p:spPr>
          <a:xfrm>
            <a:off x="457200" y="2414016"/>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03</a:t>
            </a:r>
            <a:endParaRPr lang="en-US" sz="950" dirty="0"/>
          </a:p>
        </p:txBody>
      </p:sp>
      <p:sp>
        <p:nvSpPr>
          <p:cNvPr id="18" name="Text 16"/>
          <p:cNvSpPr/>
          <p:nvPr/>
        </p:nvSpPr>
        <p:spPr>
          <a:xfrm>
            <a:off x="987552" y="2386584"/>
            <a:ext cx="5943600" cy="237744"/>
          </a:xfrm>
          <a:prstGeom prst="rect">
            <a:avLst/>
          </a:prstGeom>
          <a:noFill/>
          <a:ln/>
        </p:spPr>
        <p:txBody>
          <a:bodyPr wrap="square" lIns="0" tIns="0" rIns="0" bIns="0" rtlCol="0" anchor="ctr"/>
          <a:lstStyle/>
          <a:p>
            <a:pPr indent="0" marL="0">
              <a:buNone/>
            </a:pPr>
            <a:r>
              <a:rPr lang="en-US" sz="1300" b="1" dirty="0">
                <a:solidFill>
                  <a:srgbClr val="0B1D35"/>
                </a:solidFill>
                <a:latin typeface="Calibri" pitchFamily="34" charset="0"/>
                <a:ea typeface="Calibri" pitchFamily="34" charset="-122"/>
                <a:cs typeface="Calibri" pitchFamily="34" charset="-120"/>
              </a:rPr>
              <a:t>Datasets &amp; Methodology</a:t>
            </a:r>
            <a:endParaRPr lang="en-US" sz="1300" dirty="0"/>
          </a:p>
        </p:txBody>
      </p:sp>
      <p:sp>
        <p:nvSpPr>
          <p:cNvPr id="19" name="Text 17"/>
          <p:cNvSpPr/>
          <p:nvPr/>
        </p:nvSpPr>
        <p:spPr>
          <a:xfrm>
            <a:off x="987552" y="2624328"/>
            <a:ext cx="5943600" cy="201168"/>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22 real JASPAR matrices, NCBI sequences</a:t>
            </a:r>
            <a:endParaRPr lang="en-US" sz="1000" dirty="0"/>
          </a:p>
        </p:txBody>
      </p:sp>
      <p:sp>
        <p:nvSpPr>
          <p:cNvPr id="20" name="Shape 18"/>
          <p:cNvSpPr/>
          <p:nvPr/>
        </p:nvSpPr>
        <p:spPr>
          <a:xfrm>
            <a:off x="7132320" y="2441448"/>
            <a:ext cx="1463040" cy="256032"/>
          </a:xfrm>
          <a:prstGeom prst="roundRect">
            <a:avLst>
              <a:gd name="adj" fmla="val 21429"/>
            </a:avLst>
          </a:prstGeom>
          <a:solidFill>
            <a:srgbClr val="7C3AED">
              <a:alpha val="12000"/>
            </a:srgbClr>
          </a:solidFill>
          <a:ln w="12700">
            <a:solidFill>
              <a:srgbClr val="7C3AED"/>
            </a:solidFill>
            <a:prstDash val="solid"/>
          </a:ln>
        </p:spPr>
      </p:sp>
      <p:sp>
        <p:nvSpPr>
          <p:cNvPr id="21" name="Text 19"/>
          <p:cNvSpPr/>
          <p:nvPr/>
        </p:nvSpPr>
        <p:spPr>
          <a:xfrm>
            <a:off x="7132320" y="2441448"/>
            <a:ext cx="1463040" cy="256032"/>
          </a:xfrm>
          <a:prstGeom prst="rect">
            <a:avLst/>
          </a:prstGeom>
          <a:noFill/>
          <a:ln/>
        </p:spPr>
        <p:txBody>
          <a:bodyPr wrap="square" lIns="0" tIns="0" rIns="0" bIns="0" rtlCol="0" anchor="ctr"/>
          <a:lstStyle/>
          <a:p>
            <a:pPr algn="ctr" indent="0" marL="0">
              <a:buNone/>
            </a:pPr>
            <a:r>
              <a:rPr lang="en-US" sz="900" b="1" dirty="0">
                <a:solidFill>
                  <a:srgbClr val="7C3AED"/>
                </a:solidFill>
                <a:latin typeface="Calibri" pitchFamily="34" charset="0"/>
                <a:ea typeface="Calibri" pitchFamily="34" charset="-122"/>
                <a:cs typeface="Calibri" pitchFamily="34" charset="-120"/>
              </a:rPr>
              <a:t>1.5 min</a:t>
            </a:r>
            <a:endParaRPr lang="en-US" sz="900" dirty="0"/>
          </a:p>
        </p:txBody>
      </p:sp>
      <p:sp>
        <p:nvSpPr>
          <p:cNvPr id="22" name="Shape 20"/>
          <p:cNvSpPr/>
          <p:nvPr/>
        </p:nvSpPr>
        <p:spPr>
          <a:xfrm>
            <a:off x="457200" y="2948940"/>
            <a:ext cx="384048" cy="384048"/>
          </a:xfrm>
          <a:prstGeom prst="ellipse">
            <a:avLst/>
          </a:prstGeom>
          <a:solidFill>
            <a:srgbClr val="F59E0B"/>
          </a:solidFill>
          <a:ln w="12700">
            <a:solidFill>
              <a:srgbClr val="F59E0B"/>
            </a:solidFill>
            <a:prstDash val="solid"/>
          </a:ln>
        </p:spPr>
      </p:sp>
      <p:sp>
        <p:nvSpPr>
          <p:cNvPr id="23" name="Text 21"/>
          <p:cNvSpPr/>
          <p:nvPr/>
        </p:nvSpPr>
        <p:spPr>
          <a:xfrm>
            <a:off x="457200" y="2948940"/>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04</a:t>
            </a:r>
            <a:endParaRPr lang="en-US" sz="950" dirty="0"/>
          </a:p>
        </p:txBody>
      </p:sp>
      <p:sp>
        <p:nvSpPr>
          <p:cNvPr id="24" name="Text 22"/>
          <p:cNvSpPr/>
          <p:nvPr/>
        </p:nvSpPr>
        <p:spPr>
          <a:xfrm>
            <a:off x="987552" y="2921508"/>
            <a:ext cx="5943600" cy="237744"/>
          </a:xfrm>
          <a:prstGeom prst="rect">
            <a:avLst/>
          </a:prstGeom>
          <a:noFill/>
          <a:ln/>
        </p:spPr>
        <p:txBody>
          <a:bodyPr wrap="square" lIns="0" tIns="0" rIns="0" bIns="0" rtlCol="0" anchor="ctr"/>
          <a:lstStyle/>
          <a:p>
            <a:pPr indent="0" marL="0">
              <a:buNone/>
            </a:pPr>
            <a:r>
              <a:rPr lang="en-US" sz="1300" b="1" dirty="0">
                <a:solidFill>
                  <a:srgbClr val="0B1D35"/>
                </a:solidFill>
                <a:latin typeface="Calibri" pitchFamily="34" charset="0"/>
                <a:ea typeface="Calibri" pitchFamily="34" charset="-122"/>
                <a:cs typeface="Calibri" pitchFamily="34" charset="-120"/>
              </a:rPr>
              <a:t>Implementation</a:t>
            </a:r>
            <a:endParaRPr lang="en-US" sz="1300" dirty="0"/>
          </a:p>
        </p:txBody>
      </p:sp>
      <p:sp>
        <p:nvSpPr>
          <p:cNvPr id="25" name="Text 23"/>
          <p:cNvSpPr/>
          <p:nvPr/>
        </p:nvSpPr>
        <p:spPr>
          <a:xfrm>
            <a:off x="987552" y="3159252"/>
            <a:ext cx="5943600" cy="201168"/>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Python modules, architecture, data pipeline</a:t>
            </a:r>
            <a:endParaRPr lang="en-US" sz="1000" dirty="0"/>
          </a:p>
        </p:txBody>
      </p:sp>
      <p:sp>
        <p:nvSpPr>
          <p:cNvPr id="26" name="Shape 24"/>
          <p:cNvSpPr/>
          <p:nvPr/>
        </p:nvSpPr>
        <p:spPr>
          <a:xfrm>
            <a:off x="7132320" y="2976372"/>
            <a:ext cx="1463040" cy="256032"/>
          </a:xfrm>
          <a:prstGeom prst="roundRect">
            <a:avLst>
              <a:gd name="adj" fmla="val 21429"/>
            </a:avLst>
          </a:prstGeom>
          <a:solidFill>
            <a:srgbClr val="F59E0B">
              <a:alpha val="12000"/>
            </a:srgbClr>
          </a:solidFill>
          <a:ln w="12700">
            <a:solidFill>
              <a:srgbClr val="F59E0B"/>
            </a:solidFill>
            <a:prstDash val="solid"/>
          </a:ln>
        </p:spPr>
      </p:sp>
      <p:sp>
        <p:nvSpPr>
          <p:cNvPr id="27" name="Text 25"/>
          <p:cNvSpPr/>
          <p:nvPr/>
        </p:nvSpPr>
        <p:spPr>
          <a:xfrm>
            <a:off x="7132320" y="2976372"/>
            <a:ext cx="1463040" cy="256032"/>
          </a:xfrm>
          <a:prstGeom prst="rect">
            <a:avLst/>
          </a:prstGeom>
          <a:noFill/>
          <a:ln/>
        </p:spPr>
        <p:txBody>
          <a:bodyPr wrap="square" lIns="0" tIns="0" rIns="0" bIns="0" rtlCol="0" anchor="ctr"/>
          <a:lstStyle/>
          <a:p>
            <a:pPr algn="ctr" indent="0" marL="0">
              <a:buNone/>
            </a:pPr>
            <a:r>
              <a:rPr lang="en-US" sz="900" b="1" dirty="0">
                <a:solidFill>
                  <a:srgbClr val="F59E0B"/>
                </a:solidFill>
                <a:latin typeface="Calibri" pitchFamily="34" charset="0"/>
                <a:ea typeface="Calibri" pitchFamily="34" charset="-122"/>
                <a:cs typeface="Calibri" pitchFamily="34" charset="-120"/>
              </a:rPr>
              <a:t>1.5 min</a:t>
            </a:r>
            <a:endParaRPr lang="en-US" sz="900" dirty="0"/>
          </a:p>
        </p:txBody>
      </p:sp>
      <p:sp>
        <p:nvSpPr>
          <p:cNvPr id="28" name="Shape 26"/>
          <p:cNvSpPr/>
          <p:nvPr/>
        </p:nvSpPr>
        <p:spPr>
          <a:xfrm>
            <a:off x="457200" y="3483864"/>
            <a:ext cx="384048" cy="384048"/>
          </a:xfrm>
          <a:prstGeom prst="ellipse">
            <a:avLst/>
          </a:prstGeom>
          <a:solidFill>
            <a:srgbClr val="22C55E"/>
          </a:solidFill>
          <a:ln w="12700">
            <a:solidFill>
              <a:srgbClr val="22C55E"/>
            </a:solidFill>
            <a:prstDash val="solid"/>
          </a:ln>
        </p:spPr>
      </p:sp>
      <p:sp>
        <p:nvSpPr>
          <p:cNvPr id="29" name="Text 27"/>
          <p:cNvSpPr/>
          <p:nvPr/>
        </p:nvSpPr>
        <p:spPr>
          <a:xfrm>
            <a:off x="457200" y="3483864"/>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05</a:t>
            </a:r>
            <a:endParaRPr lang="en-US" sz="950" dirty="0"/>
          </a:p>
        </p:txBody>
      </p:sp>
      <p:sp>
        <p:nvSpPr>
          <p:cNvPr id="30" name="Text 28"/>
          <p:cNvSpPr/>
          <p:nvPr/>
        </p:nvSpPr>
        <p:spPr>
          <a:xfrm>
            <a:off x="987552" y="3456432"/>
            <a:ext cx="5943600" cy="237744"/>
          </a:xfrm>
          <a:prstGeom prst="rect">
            <a:avLst/>
          </a:prstGeom>
          <a:noFill/>
          <a:ln/>
        </p:spPr>
        <p:txBody>
          <a:bodyPr wrap="square" lIns="0" tIns="0" rIns="0" bIns="0" rtlCol="0" anchor="ctr"/>
          <a:lstStyle/>
          <a:p>
            <a:pPr indent="0" marL="0">
              <a:buNone/>
            </a:pPr>
            <a:r>
              <a:rPr lang="en-US" sz="1300" b="1" dirty="0">
                <a:solidFill>
                  <a:srgbClr val="0B1D35"/>
                </a:solidFill>
                <a:latin typeface="Calibri" pitchFamily="34" charset="0"/>
                <a:ea typeface="Calibri" pitchFamily="34" charset="-122"/>
                <a:cs typeface="Calibri" pitchFamily="34" charset="-120"/>
              </a:rPr>
              <a:t>Results — Real Data</a:t>
            </a:r>
            <a:endParaRPr lang="en-US" sz="1300" dirty="0"/>
          </a:p>
        </p:txBody>
      </p:sp>
      <p:sp>
        <p:nvSpPr>
          <p:cNvPr id="31" name="Text 29"/>
          <p:cNvSpPr/>
          <p:nvPr/>
        </p:nvSpPr>
        <p:spPr>
          <a:xfrm>
            <a:off x="987552" y="3694176"/>
            <a:ext cx="5943600" cy="201168"/>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Human CTCF, E2F1, HOXA10, Yeast, Plant TFs</a:t>
            </a:r>
            <a:endParaRPr lang="en-US" sz="1000" dirty="0"/>
          </a:p>
        </p:txBody>
      </p:sp>
      <p:sp>
        <p:nvSpPr>
          <p:cNvPr id="32" name="Shape 30"/>
          <p:cNvSpPr/>
          <p:nvPr/>
        </p:nvSpPr>
        <p:spPr>
          <a:xfrm>
            <a:off x="7132320" y="3511296"/>
            <a:ext cx="1463040" cy="256032"/>
          </a:xfrm>
          <a:prstGeom prst="roundRect">
            <a:avLst>
              <a:gd name="adj" fmla="val 21429"/>
            </a:avLst>
          </a:prstGeom>
          <a:solidFill>
            <a:srgbClr val="22C55E">
              <a:alpha val="12000"/>
            </a:srgbClr>
          </a:solidFill>
          <a:ln w="12700">
            <a:solidFill>
              <a:srgbClr val="22C55E"/>
            </a:solidFill>
            <a:prstDash val="solid"/>
          </a:ln>
        </p:spPr>
      </p:sp>
      <p:sp>
        <p:nvSpPr>
          <p:cNvPr id="33" name="Text 31"/>
          <p:cNvSpPr/>
          <p:nvPr/>
        </p:nvSpPr>
        <p:spPr>
          <a:xfrm>
            <a:off x="7132320" y="3511296"/>
            <a:ext cx="1463040" cy="256032"/>
          </a:xfrm>
          <a:prstGeom prst="rect">
            <a:avLst/>
          </a:prstGeom>
          <a:noFill/>
          <a:ln/>
        </p:spPr>
        <p:txBody>
          <a:bodyPr wrap="square" lIns="0" tIns="0" rIns="0" bIns="0" rtlCol="0" anchor="ctr"/>
          <a:lstStyle/>
          <a:p>
            <a:pPr algn="ctr" indent="0" marL="0">
              <a:buNone/>
            </a:pPr>
            <a:r>
              <a:rPr lang="en-US" sz="900" b="1" dirty="0">
                <a:solidFill>
                  <a:srgbClr val="22C55E"/>
                </a:solidFill>
                <a:latin typeface="Calibri" pitchFamily="34" charset="0"/>
                <a:ea typeface="Calibri" pitchFamily="34" charset="-122"/>
                <a:cs typeface="Calibri" pitchFamily="34" charset="-120"/>
              </a:rPr>
              <a:t>2.5 min</a:t>
            </a:r>
            <a:endParaRPr lang="en-US" sz="900" dirty="0"/>
          </a:p>
        </p:txBody>
      </p:sp>
      <p:sp>
        <p:nvSpPr>
          <p:cNvPr id="34" name="Shape 32"/>
          <p:cNvSpPr/>
          <p:nvPr/>
        </p:nvSpPr>
        <p:spPr>
          <a:xfrm>
            <a:off x="457200" y="4018788"/>
            <a:ext cx="384048" cy="384048"/>
          </a:xfrm>
          <a:prstGeom prst="ellipse">
            <a:avLst/>
          </a:prstGeom>
          <a:solidFill>
            <a:srgbClr val="EF4444"/>
          </a:solidFill>
          <a:ln w="12700">
            <a:solidFill>
              <a:srgbClr val="EF4444"/>
            </a:solidFill>
            <a:prstDash val="solid"/>
          </a:ln>
        </p:spPr>
      </p:sp>
      <p:sp>
        <p:nvSpPr>
          <p:cNvPr id="35" name="Text 33"/>
          <p:cNvSpPr/>
          <p:nvPr/>
        </p:nvSpPr>
        <p:spPr>
          <a:xfrm>
            <a:off x="457200" y="4018788"/>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06</a:t>
            </a:r>
            <a:endParaRPr lang="en-US" sz="950" dirty="0"/>
          </a:p>
        </p:txBody>
      </p:sp>
      <p:sp>
        <p:nvSpPr>
          <p:cNvPr id="36" name="Text 34"/>
          <p:cNvSpPr/>
          <p:nvPr/>
        </p:nvSpPr>
        <p:spPr>
          <a:xfrm>
            <a:off x="987552" y="3991356"/>
            <a:ext cx="5943600" cy="237744"/>
          </a:xfrm>
          <a:prstGeom prst="rect">
            <a:avLst/>
          </a:prstGeom>
          <a:noFill/>
          <a:ln/>
        </p:spPr>
        <p:txBody>
          <a:bodyPr wrap="square" lIns="0" tIns="0" rIns="0" bIns="0" rtlCol="0" anchor="ctr"/>
          <a:lstStyle/>
          <a:p>
            <a:pPr indent="0" marL="0">
              <a:buNone/>
            </a:pPr>
            <a:r>
              <a:rPr lang="en-US" sz="1300" b="1" dirty="0">
                <a:solidFill>
                  <a:srgbClr val="0B1D35"/>
                </a:solidFill>
                <a:latin typeface="Calibri" pitchFamily="34" charset="0"/>
                <a:ea typeface="Calibri" pitchFamily="34" charset="-122"/>
                <a:cs typeface="Calibri" pitchFamily="34" charset="-120"/>
              </a:rPr>
              <a:t>Evaluation &amp; Comparison</a:t>
            </a:r>
            <a:endParaRPr lang="en-US" sz="1300" dirty="0"/>
          </a:p>
        </p:txBody>
      </p:sp>
      <p:sp>
        <p:nvSpPr>
          <p:cNvPr id="37" name="Text 35"/>
          <p:cNvSpPr/>
          <p:nvPr/>
        </p:nvSpPr>
        <p:spPr>
          <a:xfrm>
            <a:off x="987552" y="4229100"/>
            <a:ext cx="5943600" cy="201168"/>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Sensitivity, PPV, F1, nCC — MEME vs Gibbs</a:t>
            </a:r>
            <a:endParaRPr lang="en-US" sz="1000" dirty="0"/>
          </a:p>
        </p:txBody>
      </p:sp>
      <p:sp>
        <p:nvSpPr>
          <p:cNvPr id="38" name="Shape 36"/>
          <p:cNvSpPr/>
          <p:nvPr/>
        </p:nvSpPr>
        <p:spPr>
          <a:xfrm>
            <a:off x="7132320" y="4046220"/>
            <a:ext cx="1463040" cy="256032"/>
          </a:xfrm>
          <a:prstGeom prst="roundRect">
            <a:avLst>
              <a:gd name="adj" fmla="val 21429"/>
            </a:avLst>
          </a:prstGeom>
          <a:solidFill>
            <a:srgbClr val="EF4444">
              <a:alpha val="12000"/>
            </a:srgbClr>
          </a:solidFill>
          <a:ln w="12700">
            <a:solidFill>
              <a:srgbClr val="EF4444"/>
            </a:solidFill>
            <a:prstDash val="solid"/>
          </a:ln>
        </p:spPr>
      </p:sp>
      <p:sp>
        <p:nvSpPr>
          <p:cNvPr id="39" name="Text 37"/>
          <p:cNvSpPr/>
          <p:nvPr/>
        </p:nvSpPr>
        <p:spPr>
          <a:xfrm>
            <a:off x="7132320" y="4046220"/>
            <a:ext cx="1463040" cy="256032"/>
          </a:xfrm>
          <a:prstGeom prst="rect">
            <a:avLst/>
          </a:prstGeom>
          <a:noFill/>
          <a:ln/>
        </p:spPr>
        <p:txBody>
          <a:bodyPr wrap="square" lIns="0" tIns="0" rIns="0" bIns="0" rtlCol="0" anchor="ctr"/>
          <a:lstStyle/>
          <a:p>
            <a:pPr algn="ctr" indent="0" marL="0">
              <a:buNone/>
            </a:pPr>
            <a:r>
              <a:rPr lang="en-US" sz="900" b="1" dirty="0">
                <a:solidFill>
                  <a:srgbClr val="EF4444"/>
                </a:solidFill>
                <a:latin typeface="Calibri" pitchFamily="34" charset="0"/>
                <a:ea typeface="Calibri" pitchFamily="34" charset="-122"/>
                <a:cs typeface="Calibri" pitchFamily="34" charset="-120"/>
              </a:rPr>
              <a:t>1 min</a:t>
            </a:r>
            <a:endParaRPr lang="en-US" sz="900" dirty="0"/>
          </a:p>
        </p:txBody>
      </p:sp>
      <p:sp>
        <p:nvSpPr>
          <p:cNvPr id="40" name="Shape 38"/>
          <p:cNvSpPr/>
          <p:nvPr/>
        </p:nvSpPr>
        <p:spPr>
          <a:xfrm>
            <a:off x="457200" y="4553712"/>
            <a:ext cx="384048" cy="384048"/>
          </a:xfrm>
          <a:prstGeom prst="ellipse">
            <a:avLst/>
          </a:prstGeom>
          <a:solidFill>
            <a:srgbClr val="0D9488"/>
          </a:solidFill>
          <a:ln w="12700">
            <a:solidFill>
              <a:srgbClr val="0D9488"/>
            </a:solidFill>
            <a:prstDash val="solid"/>
          </a:ln>
        </p:spPr>
      </p:sp>
      <p:sp>
        <p:nvSpPr>
          <p:cNvPr id="41" name="Text 39"/>
          <p:cNvSpPr/>
          <p:nvPr/>
        </p:nvSpPr>
        <p:spPr>
          <a:xfrm>
            <a:off x="457200" y="4553712"/>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07</a:t>
            </a:r>
            <a:endParaRPr lang="en-US" sz="950" dirty="0"/>
          </a:p>
        </p:txBody>
      </p:sp>
      <p:sp>
        <p:nvSpPr>
          <p:cNvPr id="42" name="Text 40"/>
          <p:cNvSpPr/>
          <p:nvPr/>
        </p:nvSpPr>
        <p:spPr>
          <a:xfrm>
            <a:off x="987552" y="4526280"/>
            <a:ext cx="5943600" cy="237744"/>
          </a:xfrm>
          <a:prstGeom prst="rect">
            <a:avLst/>
          </a:prstGeom>
          <a:noFill/>
          <a:ln/>
        </p:spPr>
        <p:txBody>
          <a:bodyPr wrap="square" lIns="0" tIns="0" rIns="0" bIns="0" rtlCol="0" anchor="ctr"/>
          <a:lstStyle/>
          <a:p>
            <a:pPr indent="0" marL="0">
              <a:buNone/>
            </a:pPr>
            <a:r>
              <a:rPr lang="en-US" sz="1300" b="1" dirty="0">
                <a:solidFill>
                  <a:srgbClr val="0B1D35"/>
                </a:solidFill>
                <a:latin typeface="Calibri" pitchFamily="34" charset="0"/>
                <a:ea typeface="Calibri" pitchFamily="34" charset="-122"/>
                <a:cs typeface="Calibri" pitchFamily="34" charset="-120"/>
              </a:rPr>
              <a:t>Conclusions &amp; Impact</a:t>
            </a:r>
            <a:endParaRPr lang="en-US" sz="1300" dirty="0"/>
          </a:p>
        </p:txBody>
      </p:sp>
      <p:sp>
        <p:nvSpPr>
          <p:cNvPr id="43" name="Text 41"/>
          <p:cNvSpPr/>
          <p:nvPr/>
        </p:nvSpPr>
        <p:spPr>
          <a:xfrm>
            <a:off x="987552" y="4764024"/>
            <a:ext cx="5943600" cy="201168"/>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Findings, future work, real-world applications</a:t>
            </a:r>
            <a:endParaRPr lang="en-US" sz="1000" dirty="0"/>
          </a:p>
        </p:txBody>
      </p:sp>
      <p:sp>
        <p:nvSpPr>
          <p:cNvPr id="44" name="Shape 42"/>
          <p:cNvSpPr/>
          <p:nvPr/>
        </p:nvSpPr>
        <p:spPr>
          <a:xfrm>
            <a:off x="7132320" y="4581144"/>
            <a:ext cx="1463040" cy="256032"/>
          </a:xfrm>
          <a:prstGeom prst="roundRect">
            <a:avLst>
              <a:gd name="adj" fmla="val 21429"/>
            </a:avLst>
          </a:prstGeom>
          <a:solidFill>
            <a:srgbClr val="0D9488">
              <a:alpha val="12000"/>
            </a:srgbClr>
          </a:solidFill>
          <a:ln w="12700">
            <a:solidFill>
              <a:srgbClr val="0D9488"/>
            </a:solidFill>
            <a:prstDash val="solid"/>
          </a:ln>
        </p:spPr>
      </p:sp>
      <p:sp>
        <p:nvSpPr>
          <p:cNvPr id="45" name="Text 43"/>
          <p:cNvSpPr/>
          <p:nvPr/>
        </p:nvSpPr>
        <p:spPr>
          <a:xfrm>
            <a:off x="7132320" y="4581144"/>
            <a:ext cx="1463040" cy="256032"/>
          </a:xfrm>
          <a:prstGeom prst="rect">
            <a:avLst/>
          </a:prstGeom>
          <a:noFill/>
          <a:ln/>
        </p:spPr>
        <p:txBody>
          <a:bodyPr wrap="square" lIns="0" tIns="0" rIns="0" bIns="0" rtlCol="0" anchor="ctr"/>
          <a:lstStyle/>
          <a:p>
            <a:pPr algn="ctr" indent="0" marL="0">
              <a:buNone/>
            </a:pPr>
            <a:r>
              <a:rPr lang="en-US" sz="900" b="1" dirty="0">
                <a:solidFill>
                  <a:srgbClr val="0D9488"/>
                </a:solidFill>
                <a:latin typeface="Calibri" pitchFamily="34" charset="0"/>
                <a:ea typeface="Calibri" pitchFamily="34" charset="-122"/>
                <a:cs typeface="Calibri" pitchFamily="34" charset="-120"/>
              </a:rPr>
              <a:t>0.5 min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D35"/>
        </a:solidFill>
      </p:bgPr>
    </p:bg>
    <p:spTree>
      <p:nvGrpSpPr>
        <p:cNvPr id="1" name=""/>
        <p:cNvGrpSpPr/>
        <p:nvPr/>
      </p:nvGrpSpPr>
      <p:grpSpPr>
        <a:xfrm>
          <a:off x="0" y="0"/>
          <a:ext cx="0" cy="0"/>
          <a:chOff x="0" y="0"/>
          <a:chExt cx="0" cy="0"/>
        </a:xfrm>
      </p:grpSpPr>
      <p:sp>
        <p:nvSpPr>
          <p:cNvPr id="2" name="Shape 0"/>
          <p:cNvSpPr/>
          <p:nvPr/>
        </p:nvSpPr>
        <p:spPr>
          <a:xfrm>
            <a:off x="0" y="2011680"/>
            <a:ext cx="9144000" cy="1280160"/>
          </a:xfrm>
          <a:prstGeom prst="rect">
            <a:avLst/>
          </a:prstGeom>
          <a:solidFill>
            <a:srgbClr val="122744"/>
          </a:solidFill>
          <a:ln w="12700">
            <a:solidFill>
              <a:srgbClr val="122744"/>
            </a:solidFill>
            <a:prstDash val="solid"/>
          </a:ln>
        </p:spPr>
      </p:sp>
      <p:sp>
        <p:nvSpPr>
          <p:cNvPr id="3" name="Text 1"/>
          <p:cNvSpPr/>
          <p:nvPr/>
        </p:nvSpPr>
        <p:spPr>
          <a:xfrm>
            <a:off x="457200" y="365760"/>
            <a:ext cx="8229600" cy="1463040"/>
          </a:xfrm>
          <a:prstGeom prst="rect">
            <a:avLst/>
          </a:prstGeom>
          <a:noFill/>
          <a:ln/>
        </p:spPr>
        <p:txBody>
          <a:bodyPr wrap="square" rtlCol="0" anchor="ctr"/>
          <a:lstStyle/>
          <a:p>
            <a:pPr algn="ctr" indent="0" marL="0">
              <a:buNone/>
            </a:pPr>
            <a:r>
              <a:rPr lang="en-US" sz="9600" b="1" dirty="0">
                <a:solidFill>
                  <a:srgbClr val="0D9488">
                    <a:alpha val="80000"/>
                  </a:srgbClr>
                </a:solidFill>
                <a:latin typeface="Calibri" pitchFamily="34" charset="0"/>
                <a:ea typeface="Calibri" pitchFamily="34" charset="-122"/>
                <a:cs typeface="Calibri" pitchFamily="34" charset="-120"/>
              </a:rPr>
              <a:t>01</a:t>
            </a:r>
            <a:endParaRPr lang="en-US" sz="9600" dirty="0"/>
          </a:p>
        </p:txBody>
      </p:sp>
      <p:sp>
        <p:nvSpPr>
          <p:cNvPr id="4" name="Text 2"/>
          <p:cNvSpPr/>
          <p:nvPr/>
        </p:nvSpPr>
        <p:spPr>
          <a:xfrm>
            <a:off x="457200" y="2103120"/>
            <a:ext cx="8229600" cy="64008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Introduction &amp; Motivation</a:t>
            </a:r>
            <a:endParaRPr lang="en-US" sz="2800" dirty="0"/>
          </a:p>
        </p:txBody>
      </p:sp>
      <p:sp>
        <p:nvSpPr>
          <p:cNvPr id="5" name="Text 3"/>
          <p:cNvSpPr/>
          <p:nvPr/>
        </p:nvSpPr>
        <p:spPr>
          <a:xfrm>
            <a:off x="457200" y="2788920"/>
            <a:ext cx="8229600" cy="365760"/>
          </a:xfrm>
          <a:prstGeom prst="rect">
            <a:avLst/>
          </a:prstGeom>
          <a:noFill/>
          <a:ln/>
        </p:spPr>
        <p:txBody>
          <a:bodyPr wrap="square" rtlCol="0" anchor="ctr"/>
          <a:lstStyle/>
          <a:p>
            <a:pPr algn="ctr" indent="0" marL="0">
              <a:buNone/>
            </a:pPr>
            <a:r>
              <a:rPr lang="en-US" sz="1300" i="1" dirty="0">
                <a:solidFill>
                  <a:srgbClr val="14B8A6"/>
                </a:solidFill>
                <a:latin typeface="Calibri" pitchFamily="34" charset="0"/>
                <a:ea typeface="Calibri" pitchFamily="34" charset="-122"/>
                <a:cs typeface="Calibri" pitchFamily="34" charset="-120"/>
              </a:rPr>
              <a:t>What are biological sequence motifs and why do they matter?</a:t>
            </a:r>
            <a:endParaRPr lang="en-US" sz="1300" dirty="0"/>
          </a:p>
        </p:txBody>
      </p:sp>
      <p:pic>
        <p:nvPicPr>
          <p:cNvPr id="6" name="Image 0" descr="preencoded.png">    </p:cNvPr>
          <p:cNvPicPr>
            <a:picLocks noChangeAspect="1"/>
          </p:cNvPicPr>
          <p:nvPr/>
        </p:nvPicPr>
        <p:blipFill>
          <a:blip r:embed="rId1"/>
          <a:stretch>
            <a:fillRect/>
          </a:stretch>
        </p:blipFill>
        <p:spPr>
          <a:xfrm>
            <a:off x="4206240" y="3383280"/>
            <a:ext cx="731520" cy="7315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9FF"/>
        </a:solidFill>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rtlCol="0" anchor="ctr"/>
          <a:lstStyle/>
          <a:p>
            <a:pPr indent="0" marL="0">
              <a:buNone/>
            </a:pPr>
            <a:r>
              <a:rPr lang="en-US" sz="3000" b="1" dirty="0">
                <a:solidFill>
                  <a:srgbClr val="0B1D35"/>
                </a:solidFill>
                <a:latin typeface="Calibri" pitchFamily="34" charset="0"/>
                <a:ea typeface="Calibri" pitchFamily="34" charset="-122"/>
                <a:cs typeface="Calibri" pitchFamily="34" charset="-120"/>
              </a:rPr>
              <a:t>What are Biological Motifs?</a:t>
            </a:r>
            <a:endParaRPr lang="en-US" sz="3000" dirty="0"/>
          </a:p>
        </p:txBody>
      </p:sp>
      <p:sp>
        <p:nvSpPr>
          <p:cNvPr id="3" name="Shape 1"/>
          <p:cNvSpPr/>
          <p:nvPr/>
        </p:nvSpPr>
        <p:spPr>
          <a:xfrm>
            <a:off x="457200" y="914400"/>
            <a:ext cx="4114800" cy="1005840"/>
          </a:xfrm>
          <a:prstGeom prst="rect">
            <a:avLst/>
          </a:prstGeom>
          <a:solidFill>
            <a:srgbClr val="0B1D35"/>
          </a:solidFill>
          <a:ln w="12700">
            <a:solidFill>
              <a:srgbClr val="0B1D35"/>
            </a:solidFill>
            <a:prstDash val="solid"/>
          </a:ln>
          <a:effectLst>
            <a:outerShdw sx="100000" sy="100000" kx="0" ky="0" algn="bl" rotWithShape="0" blurRad="101600" dist="38100" dir="8100000">
              <a:srgbClr val="000000">
                <a:alpha val="12000"/>
              </a:srgbClr>
            </a:outerShdw>
          </a:effectLst>
        </p:spPr>
      </p:sp>
      <p:sp>
        <p:nvSpPr>
          <p:cNvPr id="4" name="Text 2"/>
          <p:cNvSpPr/>
          <p:nvPr/>
        </p:nvSpPr>
        <p:spPr>
          <a:xfrm>
            <a:off x="594360" y="978408"/>
            <a:ext cx="3840480" cy="82296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Short, recurring sequence patterns in DNA, RNA, or protein that are statistically significant and biologically functional.</a:t>
            </a:r>
            <a:endParaRPr lang="en-US" sz="1150" dirty="0"/>
          </a:p>
        </p:txBody>
      </p:sp>
      <p:sp>
        <p:nvSpPr>
          <p:cNvPr id="5" name="Shape 3"/>
          <p:cNvSpPr/>
          <p:nvPr/>
        </p:nvSpPr>
        <p:spPr>
          <a:xfrm>
            <a:off x="457200" y="2057400"/>
            <a:ext cx="987552" cy="14630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457200" y="2057400"/>
            <a:ext cx="987552" cy="64008"/>
          </a:xfrm>
          <a:prstGeom prst="rect">
            <a:avLst/>
          </a:prstGeom>
          <a:solidFill>
            <a:srgbClr val="0D9488"/>
          </a:solidFill>
          <a:ln w="12700">
            <a:solidFill>
              <a:srgbClr val="0D9488"/>
            </a:solidFill>
            <a:prstDash val="solid"/>
          </a:ln>
        </p:spPr>
      </p:sp>
      <p:sp>
        <p:nvSpPr>
          <p:cNvPr id="7" name="Text 5"/>
          <p:cNvSpPr/>
          <p:nvPr/>
        </p:nvSpPr>
        <p:spPr>
          <a:xfrm>
            <a:off x="493776" y="2121408"/>
            <a:ext cx="914400" cy="4114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8" name="Text 6"/>
          <p:cNvSpPr/>
          <p:nvPr/>
        </p:nvSpPr>
        <p:spPr>
          <a:xfrm>
            <a:off x="493776" y="2542032"/>
            <a:ext cx="914400" cy="256032"/>
          </a:xfrm>
          <a:prstGeom prst="rect">
            <a:avLst/>
          </a:prstGeom>
          <a:noFill/>
          <a:ln/>
        </p:spPr>
        <p:txBody>
          <a:bodyPr wrap="square" rtlCol="0" anchor="ctr"/>
          <a:lstStyle/>
          <a:p>
            <a:pPr algn="ctr" indent="0" marL="0">
              <a:buNone/>
            </a:pPr>
            <a:r>
              <a:rPr lang="en-US" sz="1050" b="1" dirty="0">
                <a:solidFill>
                  <a:srgbClr val="0B1D35"/>
                </a:solidFill>
                <a:latin typeface="Calibri" pitchFamily="34" charset="0"/>
                <a:ea typeface="Calibri" pitchFamily="34" charset="-122"/>
                <a:cs typeface="Calibri" pitchFamily="34" charset="-120"/>
              </a:rPr>
              <a:t>6–20 bp</a:t>
            </a:r>
            <a:endParaRPr lang="en-US" sz="1050" dirty="0"/>
          </a:p>
        </p:txBody>
      </p:sp>
      <p:sp>
        <p:nvSpPr>
          <p:cNvPr id="9" name="Text 7"/>
          <p:cNvSpPr/>
          <p:nvPr/>
        </p:nvSpPr>
        <p:spPr>
          <a:xfrm>
            <a:off x="493776" y="2816352"/>
            <a:ext cx="914400" cy="640080"/>
          </a:xfrm>
          <a:prstGeom prst="rect">
            <a:avLst/>
          </a:prstGeom>
          <a:noFill/>
          <a:ln/>
        </p:spPr>
        <p:txBody>
          <a:bodyPr wrap="square" rtlCol="0" anchor="ctr"/>
          <a:lstStyle/>
          <a:p>
            <a:pPr algn="ctr" indent="0" marL="0">
              <a:buNone/>
            </a:pPr>
            <a:r>
              <a:rPr lang="en-US" sz="900" dirty="0">
                <a:solidFill>
                  <a:srgbClr val="475569"/>
                </a:solidFill>
                <a:latin typeface="Calibri" pitchFamily="34" charset="0"/>
                <a:ea typeface="Calibri" pitchFamily="34" charset="-122"/>
                <a:cs typeface="Calibri" pitchFamily="34" charset="-120"/>
              </a:rPr>
              <a:t>Short but functionally critical</a:t>
            </a:r>
            <a:endParaRPr lang="en-US" sz="900" dirty="0"/>
          </a:p>
        </p:txBody>
      </p:sp>
      <p:sp>
        <p:nvSpPr>
          <p:cNvPr id="10" name="Shape 8"/>
          <p:cNvSpPr/>
          <p:nvPr/>
        </p:nvSpPr>
        <p:spPr>
          <a:xfrm>
            <a:off x="1517904" y="2057400"/>
            <a:ext cx="987552" cy="14630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1517904" y="2057400"/>
            <a:ext cx="987552" cy="64008"/>
          </a:xfrm>
          <a:prstGeom prst="rect">
            <a:avLst/>
          </a:prstGeom>
          <a:solidFill>
            <a:srgbClr val="0D9488"/>
          </a:solidFill>
          <a:ln w="12700">
            <a:solidFill>
              <a:srgbClr val="0D9488"/>
            </a:solidFill>
            <a:prstDash val="solid"/>
          </a:ln>
        </p:spPr>
      </p:sp>
      <p:sp>
        <p:nvSpPr>
          <p:cNvPr id="12" name="Text 10"/>
          <p:cNvSpPr/>
          <p:nvPr/>
        </p:nvSpPr>
        <p:spPr>
          <a:xfrm>
            <a:off x="1554480" y="2121408"/>
            <a:ext cx="914400" cy="4114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3" name="Text 11"/>
          <p:cNvSpPr/>
          <p:nvPr/>
        </p:nvSpPr>
        <p:spPr>
          <a:xfrm>
            <a:off x="1554480" y="2542032"/>
            <a:ext cx="914400" cy="256032"/>
          </a:xfrm>
          <a:prstGeom prst="rect">
            <a:avLst/>
          </a:prstGeom>
          <a:noFill/>
          <a:ln/>
        </p:spPr>
        <p:txBody>
          <a:bodyPr wrap="square" rtlCol="0" anchor="ctr"/>
          <a:lstStyle/>
          <a:p>
            <a:pPr algn="ctr" indent="0" marL="0">
              <a:buNone/>
            </a:pPr>
            <a:r>
              <a:rPr lang="en-US" sz="1050" b="1" dirty="0">
                <a:solidFill>
                  <a:srgbClr val="0B1D35"/>
                </a:solidFill>
                <a:latin typeface="Calibri" pitchFamily="34" charset="0"/>
                <a:ea typeface="Calibri" pitchFamily="34" charset="-122"/>
                <a:cs typeface="Calibri" pitchFamily="34" charset="-120"/>
              </a:rPr>
              <a:t>Functional</a:t>
            </a:r>
            <a:endParaRPr lang="en-US" sz="1050" dirty="0"/>
          </a:p>
        </p:txBody>
      </p:sp>
      <p:sp>
        <p:nvSpPr>
          <p:cNvPr id="14" name="Text 12"/>
          <p:cNvSpPr/>
          <p:nvPr/>
        </p:nvSpPr>
        <p:spPr>
          <a:xfrm>
            <a:off x="1554480" y="2816352"/>
            <a:ext cx="914400" cy="640080"/>
          </a:xfrm>
          <a:prstGeom prst="rect">
            <a:avLst/>
          </a:prstGeom>
          <a:noFill/>
          <a:ln/>
        </p:spPr>
        <p:txBody>
          <a:bodyPr wrap="square" rtlCol="0" anchor="ctr"/>
          <a:lstStyle/>
          <a:p>
            <a:pPr algn="ctr" indent="0" marL="0">
              <a:buNone/>
            </a:pPr>
            <a:r>
              <a:rPr lang="en-US" sz="900" dirty="0">
                <a:solidFill>
                  <a:srgbClr val="475569"/>
                </a:solidFill>
                <a:latin typeface="Calibri" pitchFamily="34" charset="0"/>
                <a:ea typeface="Calibri" pitchFamily="34" charset="-122"/>
                <a:cs typeface="Calibri" pitchFamily="34" charset="-120"/>
              </a:rPr>
              <a:t>Binding sites &amp; regulatory elements</a:t>
            </a:r>
            <a:endParaRPr lang="en-US" sz="900" dirty="0"/>
          </a:p>
        </p:txBody>
      </p:sp>
      <p:sp>
        <p:nvSpPr>
          <p:cNvPr id="15" name="Shape 13"/>
          <p:cNvSpPr/>
          <p:nvPr/>
        </p:nvSpPr>
        <p:spPr>
          <a:xfrm>
            <a:off x="2578608" y="2057400"/>
            <a:ext cx="987552" cy="14630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2578608" y="2057400"/>
            <a:ext cx="987552" cy="64008"/>
          </a:xfrm>
          <a:prstGeom prst="rect">
            <a:avLst/>
          </a:prstGeom>
          <a:solidFill>
            <a:srgbClr val="0D9488"/>
          </a:solidFill>
          <a:ln w="12700">
            <a:solidFill>
              <a:srgbClr val="0D9488"/>
            </a:solidFill>
            <a:prstDash val="solid"/>
          </a:ln>
        </p:spPr>
      </p:sp>
      <p:sp>
        <p:nvSpPr>
          <p:cNvPr id="17" name="Text 15"/>
          <p:cNvSpPr/>
          <p:nvPr/>
        </p:nvSpPr>
        <p:spPr>
          <a:xfrm>
            <a:off x="2615184" y="2121408"/>
            <a:ext cx="914400" cy="4114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615184" y="2542032"/>
            <a:ext cx="914400" cy="256032"/>
          </a:xfrm>
          <a:prstGeom prst="rect">
            <a:avLst/>
          </a:prstGeom>
          <a:noFill/>
          <a:ln/>
        </p:spPr>
        <p:txBody>
          <a:bodyPr wrap="square" rtlCol="0" anchor="ctr"/>
          <a:lstStyle/>
          <a:p>
            <a:pPr algn="ctr" indent="0" marL="0">
              <a:buNone/>
            </a:pPr>
            <a:r>
              <a:rPr lang="en-US" sz="1050" b="1" dirty="0">
                <a:solidFill>
                  <a:srgbClr val="0B1D35"/>
                </a:solidFill>
                <a:latin typeface="Calibri" pitchFamily="34" charset="0"/>
                <a:ea typeface="Calibri" pitchFamily="34" charset="-122"/>
                <a:cs typeface="Calibri" pitchFamily="34" charset="-120"/>
              </a:rPr>
              <a:t>Conserved</a:t>
            </a:r>
            <a:endParaRPr lang="en-US" sz="1050" dirty="0"/>
          </a:p>
        </p:txBody>
      </p:sp>
      <p:sp>
        <p:nvSpPr>
          <p:cNvPr id="19" name="Text 17"/>
          <p:cNvSpPr/>
          <p:nvPr/>
        </p:nvSpPr>
        <p:spPr>
          <a:xfrm>
            <a:off x="2615184" y="2816352"/>
            <a:ext cx="914400" cy="640080"/>
          </a:xfrm>
          <a:prstGeom prst="rect">
            <a:avLst/>
          </a:prstGeom>
          <a:noFill/>
          <a:ln/>
        </p:spPr>
        <p:txBody>
          <a:bodyPr wrap="square" rtlCol="0" anchor="ctr"/>
          <a:lstStyle/>
          <a:p>
            <a:pPr algn="ctr" indent="0" marL="0">
              <a:buNone/>
            </a:pPr>
            <a:r>
              <a:rPr lang="en-US" sz="900" dirty="0">
                <a:solidFill>
                  <a:srgbClr val="475569"/>
                </a:solidFill>
                <a:latin typeface="Calibri" pitchFamily="34" charset="0"/>
                <a:ea typeface="Calibri" pitchFamily="34" charset="-122"/>
                <a:cs typeface="Calibri" pitchFamily="34" charset="-120"/>
              </a:rPr>
              <a:t>Preserved by evolution across species</a:t>
            </a:r>
            <a:endParaRPr lang="en-US" sz="900" dirty="0"/>
          </a:p>
        </p:txBody>
      </p:sp>
      <p:sp>
        <p:nvSpPr>
          <p:cNvPr id="20" name="Shape 18"/>
          <p:cNvSpPr/>
          <p:nvPr/>
        </p:nvSpPr>
        <p:spPr>
          <a:xfrm>
            <a:off x="3639312" y="2057400"/>
            <a:ext cx="987552" cy="14630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1" name="Shape 19"/>
          <p:cNvSpPr/>
          <p:nvPr/>
        </p:nvSpPr>
        <p:spPr>
          <a:xfrm>
            <a:off x="3639312" y="2057400"/>
            <a:ext cx="987552" cy="64008"/>
          </a:xfrm>
          <a:prstGeom prst="rect">
            <a:avLst/>
          </a:prstGeom>
          <a:solidFill>
            <a:srgbClr val="0D9488"/>
          </a:solidFill>
          <a:ln w="12700">
            <a:solidFill>
              <a:srgbClr val="0D9488"/>
            </a:solidFill>
            <a:prstDash val="solid"/>
          </a:ln>
        </p:spPr>
      </p:sp>
      <p:sp>
        <p:nvSpPr>
          <p:cNvPr id="22" name="Text 20"/>
          <p:cNvSpPr/>
          <p:nvPr/>
        </p:nvSpPr>
        <p:spPr>
          <a:xfrm>
            <a:off x="3675888" y="2121408"/>
            <a:ext cx="914400" cy="4114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3" name="Text 21"/>
          <p:cNvSpPr/>
          <p:nvPr/>
        </p:nvSpPr>
        <p:spPr>
          <a:xfrm>
            <a:off x="3675888" y="2542032"/>
            <a:ext cx="914400" cy="256032"/>
          </a:xfrm>
          <a:prstGeom prst="rect">
            <a:avLst/>
          </a:prstGeom>
          <a:noFill/>
          <a:ln/>
        </p:spPr>
        <p:txBody>
          <a:bodyPr wrap="square" rtlCol="0" anchor="ctr"/>
          <a:lstStyle/>
          <a:p>
            <a:pPr algn="ctr" indent="0" marL="0">
              <a:buNone/>
            </a:pPr>
            <a:r>
              <a:rPr lang="en-US" sz="1050" b="1" dirty="0">
                <a:solidFill>
                  <a:srgbClr val="0B1D35"/>
                </a:solidFill>
                <a:latin typeface="Calibri" pitchFamily="34" charset="0"/>
                <a:ea typeface="Calibri" pitchFamily="34" charset="-122"/>
                <a:cs typeface="Calibri" pitchFamily="34" charset="-120"/>
              </a:rPr>
              <a:t>Variable</a:t>
            </a:r>
            <a:endParaRPr lang="en-US" sz="1050" dirty="0"/>
          </a:p>
        </p:txBody>
      </p:sp>
      <p:sp>
        <p:nvSpPr>
          <p:cNvPr id="24" name="Text 22"/>
          <p:cNvSpPr/>
          <p:nvPr/>
        </p:nvSpPr>
        <p:spPr>
          <a:xfrm>
            <a:off x="3675888" y="2816352"/>
            <a:ext cx="914400" cy="640080"/>
          </a:xfrm>
          <a:prstGeom prst="rect">
            <a:avLst/>
          </a:prstGeom>
          <a:noFill/>
          <a:ln/>
        </p:spPr>
        <p:txBody>
          <a:bodyPr wrap="square" rtlCol="0" anchor="ctr"/>
          <a:lstStyle/>
          <a:p>
            <a:pPr algn="ctr" indent="0" marL="0">
              <a:buNone/>
            </a:pPr>
            <a:r>
              <a:rPr lang="en-US" sz="900" dirty="0">
                <a:solidFill>
                  <a:srgbClr val="475569"/>
                </a:solidFill>
                <a:latin typeface="Calibri" pitchFamily="34" charset="0"/>
                <a:ea typeface="Calibri" pitchFamily="34" charset="-122"/>
                <a:cs typeface="Calibri" pitchFamily="34" charset="-120"/>
              </a:rPr>
              <a:t>Mismatches allowed — fuzzy matching</a:t>
            </a:r>
            <a:endParaRPr lang="en-US" sz="900" dirty="0"/>
          </a:p>
        </p:txBody>
      </p:sp>
      <p:sp>
        <p:nvSpPr>
          <p:cNvPr id="25" name="Shape 23"/>
          <p:cNvSpPr/>
          <p:nvPr/>
        </p:nvSpPr>
        <p:spPr>
          <a:xfrm>
            <a:off x="4754880" y="914400"/>
            <a:ext cx="3931920" cy="33375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6" name="Text 24"/>
          <p:cNvSpPr/>
          <p:nvPr/>
        </p:nvSpPr>
        <p:spPr>
          <a:xfrm>
            <a:off x="4892040" y="987552"/>
            <a:ext cx="3657600" cy="274320"/>
          </a:xfrm>
          <a:prstGeom prst="rect">
            <a:avLst/>
          </a:prstGeom>
          <a:noFill/>
          <a:ln/>
        </p:spPr>
        <p:txBody>
          <a:bodyPr wrap="square" rtlCol="0" anchor="ctr"/>
          <a:lstStyle/>
          <a:p>
            <a:pPr indent="0" marL="0">
              <a:buNone/>
            </a:pPr>
            <a:r>
              <a:rPr lang="en-US" sz="1200" b="1" dirty="0">
                <a:solidFill>
                  <a:srgbClr val="0B1D35"/>
                </a:solidFill>
                <a:latin typeface="Calibri" pitchFamily="34" charset="0"/>
                <a:ea typeface="Calibri" pitchFamily="34" charset="-122"/>
                <a:cs typeface="Calibri" pitchFamily="34" charset="-120"/>
              </a:rPr>
              <a:t>Real Examples</a:t>
            </a:r>
            <a:endParaRPr lang="en-US" sz="1200" dirty="0"/>
          </a:p>
        </p:txBody>
      </p:sp>
      <p:sp>
        <p:nvSpPr>
          <p:cNvPr id="27" name="Shape 25"/>
          <p:cNvSpPr/>
          <p:nvPr/>
        </p:nvSpPr>
        <p:spPr>
          <a:xfrm>
            <a:off x="4828032" y="1353312"/>
            <a:ext cx="54864" cy="457200"/>
          </a:xfrm>
          <a:prstGeom prst="rect">
            <a:avLst/>
          </a:prstGeom>
          <a:solidFill>
            <a:srgbClr val="0D9488"/>
          </a:solidFill>
          <a:ln w="12700">
            <a:solidFill>
              <a:srgbClr val="0D9488"/>
            </a:solidFill>
            <a:prstDash val="solid"/>
          </a:ln>
        </p:spPr>
      </p:sp>
      <p:sp>
        <p:nvSpPr>
          <p:cNvPr id="28" name="Text 26"/>
          <p:cNvSpPr/>
          <p:nvPr/>
        </p:nvSpPr>
        <p:spPr>
          <a:xfrm>
            <a:off x="4956048" y="1353312"/>
            <a:ext cx="1554480" cy="228600"/>
          </a:xfrm>
          <a:prstGeom prst="rect">
            <a:avLst/>
          </a:prstGeom>
          <a:noFill/>
          <a:ln/>
        </p:spPr>
        <p:txBody>
          <a:bodyPr wrap="square" lIns="0" tIns="0" rIns="0" bIns="0" rtlCol="0" anchor="ctr"/>
          <a:lstStyle/>
          <a:p>
            <a:pPr indent="0" marL="0">
              <a:buNone/>
            </a:pPr>
            <a:r>
              <a:rPr lang="en-US" sz="1000" b="1" dirty="0">
                <a:solidFill>
                  <a:srgbClr val="0B1D35"/>
                </a:solidFill>
                <a:latin typeface="Calibri" pitchFamily="34" charset="0"/>
                <a:ea typeface="Calibri" pitchFamily="34" charset="-122"/>
                <a:cs typeface="Calibri" pitchFamily="34" charset="-120"/>
              </a:rPr>
              <a:t>TATA box</a:t>
            </a:r>
            <a:endParaRPr lang="en-US" sz="1000" dirty="0"/>
          </a:p>
        </p:txBody>
      </p:sp>
      <p:sp>
        <p:nvSpPr>
          <p:cNvPr id="29" name="Text 27"/>
          <p:cNvSpPr/>
          <p:nvPr/>
        </p:nvSpPr>
        <p:spPr>
          <a:xfrm>
            <a:off x="4956048" y="1572768"/>
            <a:ext cx="1554480" cy="219456"/>
          </a:xfrm>
          <a:prstGeom prst="rect">
            <a:avLst/>
          </a:prstGeom>
          <a:noFill/>
          <a:ln/>
        </p:spPr>
        <p:txBody>
          <a:bodyPr wrap="square" lIns="0" tIns="0" rIns="0" bIns="0" rtlCol="0" anchor="ctr"/>
          <a:lstStyle/>
          <a:p>
            <a:pPr indent="0" marL="0">
              <a:buNone/>
            </a:pPr>
            <a:r>
              <a:rPr lang="en-US" sz="950" dirty="0">
                <a:solidFill>
                  <a:srgbClr val="0D9488"/>
                </a:solidFill>
                <a:latin typeface="Consolas" pitchFamily="34" charset="0"/>
                <a:ea typeface="Consolas" pitchFamily="34" charset="-122"/>
                <a:cs typeface="Consolas" pitchFamily="34" charset="-120"/>
              </a:rPr>
              <a:t>TATA[AT]A[AT]</a:t>
            </a:r>
            <a:endParaRPr lang="en-US" sz="950" dirty="0"/>
          </a:p>
        </p:txBody>
      </p:sp>
      <p:sp>
        <p:nvSpPr>
          <p:cNvPr id="30" name="Text 28"/>
          <p:cNvSpPr/>
          <p:nvPr/>
        </p:nvSpPr>
        <p:spPr>
          <a:xfrm>
            <a:off x="6583680" y="1408176"/>
            <a:ext cx="1920240" cy="34747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Initiates transcription</a:t>
            </a:r>
            <a:endParaRPr lang="en-US" sz="900" dirty="0"/>
          </a:p>
        </p:txBody>
      </p:sp>
      <p:sp>
        <p:nvSpPr>
          <p:cNvPr id="31" name="Shape 29"/>
          <p:cNvSpPr/>
          <p:nvPr/>
        </p:nvSpPr>
        <p:spPr>
          <a:xfrm>
            <a:off x="4828032" y="1920240"/>
            <a:ext cx="54864" cy="457200"/>
          </a:xfrm>
          <a:prstGeom prst="rect">
            <a:avLst/>
          </a:prstGeom>
          <a:solidFill>
            <a:srgbClr val="7C3AED"/>
          </a:solidFill>
          <a:ln w="12700">
            <a:solidFill>
              <a:srgbClr val="7C3AED"/>
            </a:solidFill>
            <a:prstDash val="solid"/>
          </a:ln>
        </p:spPr>
      </p:sp>
      <p:sp>
        <p:nvSpPr>
          <p:cNvPr id="32" name="Text 30"/>
          <p:cNvSpPr/>
          <p:nvPr/>
        </p:nvSpPr>
        <p:spPr>
          <a:xfrm>
            <a:off x="4956048" y="1920240"/>
            <a:ext cx="1554480" cy="228600"/>
          </a:xfrm>
          <a:prstGeom prst="rect">
            <a:avLst/>
          </a:prstGeom>
          <a:noFill/>
          <a:ln/>
        </p:spPr>
        <p:txBody>
          <a:bodyPr wrap="square" lIns="0" tIns="0" rIns="0" bIns="0" rtlCol="0" anchor="ctr"/>
          <a:lstStyle/>
          <a:p>
            <a:pPr indent="0" marL="0">
              <a:buNone/>
            </a:pPr>
            <a:r>
              <a:rPr lang="en-US" sz="1000" b="1" dirty="0">
                <a:solidFill>
                  <a:srgbClr val="0B1D35"/>
                </a:solidFill>
                <a:latin typeface="Calibri" pitchFamily="34" charset="0"/>
                <a:ea typeface="Calibri" pitchFamily="34" charset="-122"/>
                <a:cs typeface="Calibri" pitchFamily="34" charset="-120"/>
              </a:rPr>
              <a:t>G-box (Plant)</a:t>
            </a:r>
            <a:endParaRPr lang="en-US" sz="1000" dirty="0"/>
          </a:p>
        </p:txBody>
      </p:sp>
      <p:sp>
        <p:nvSpPr>
          <p:cNvPr id="33" name="Text 31"/>
          <p:cNvSpPr/>
          <p:nvPr/>
        </p:nvSpPr>
        <p:spPr>
          <a:xfrm>
            <a:off x="4956048" y="2139696"/>
            <a:ext cx="1554480" cy="219456"/>
          </a:xfrm>
          <a:prstGeom prst="rect">
            <a:avLst/>
          </a:prstGeom>
          <a:noFill/>
          <a:ln/>
        </p:spPr>
        <p:txBody>
          <a:bodyPr wrap="square" lIns="0" tIns="0" rIns="0" bIns="0" rtlCol="0" anchor="ctr"/>
          <a:lstStyle/>
          <a:p>
            <a:pPr indent="0" marL="0">
              <a:buNone/>
            </a:pPr>
            <a:r>
              <a:rPr lang="en-US" sz="950" dirty="0">
                <a:solidFill>
                  <a:srgbClr val="7C3AED"/>
                </a:solidFill>
                <a:latin typeface="Consolas" pitchFamily="34" charset="0"/>
                <a:ea typeface="Consolas" pitchFamily="34" charset="-122"/>
                <a:cs typeface="Consolas" pitchFamily="34" charset="-120"/>
              </a:rPr>
              <a:t>CACGTG</a:t>
            </a:r>
            <a:endParaRPr lang="en-US" sz="950" dirty="0"/>
          </a:p>
        </p:txBody>
      </p:sp>
      <p:sp>
        <p:nvSpPr>
          <p:cNvPr id="34" name="Text 32"/>
          <p:cNvSpPr/>
          <p:nvPr/>
        </p:nvSpPr>
        <p:spPr>
          <a:xfrm>
            <a:off x="6583680" y="1975104"/>
            <a:ext cx="1920240" cy="34747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Light/ABA/stress response</a:t>
            </a:r>
            <a:endParaRPr lang="en-US" sz="900" dirty="0"/>
          </a:p>
        </p:txBody>
      </p:sp>
      <p:sp>
        <p:nvSpPr>
          <p:cNvPr id="35" name="Shape 33"/>
          <p:cNvSpPr/>
          <p:nvPr/>
        </p:nvSpPr>
        <p:spPr>
          <a:xfrm>
            <a:off x="4828032" y="2487168"/>
            <a:ext cx="54864" cy="457200"/>
          </a:xfrm>
          <a:prstGeom prst="rect">
            <a:avLst/>
          </a:prstGeom>
          <a:solidFill>
            <a:srgbClr val="1D4ED8"/>
          </a:solidFill>
          <a:ln w="12700">
            <a:solidFill>
              <a:srgbClr val="1D4ED8"/>
            </a:solidFill>
            <a:prstDash val="solid"/>
          </a:ln>
        </p:spPr>
      </p:sp>
      <p:sp>
        <p:nvSpPr>
          <p:cNvPr id="36" name="Text 34"/>
          <p:cNvSpPr/>
          <p:nvPr/>
        </p:nvSpPr>
        <p:spPr>
          <a:xfrm>
            <a:off x="4956048" y="2487168"/>
            <a:ext cx="1554480" cy="228600"/>
          </a:xfrm>
          <a:prstGeom prst="rect">
            <a:avLst/>
          </a:prstGeom>
          <a:noFill/>
          <a:ln/>
        </p:spPr>
        <p:txBody>
          <a:bodyPr wrap="square" lIns="0" tIns="0" rIns="0" bIns="0" rtlCol="0" anchor="ctr"/>
          <a:lstStyle/>
          <a:p>
            <a:pPr indent="0" marL="0">
              <a:buNone/>
            </a:pPr>
            <a:r>
              <a:rPr lang="en-US" sz="1000" b="1" dirty="0">
                <a:solidFill>
                  <a:srgbClr val="0B1D35"/>
                </a:solidFill>
                <a:latin typeface="Calibri" pitchFamily="34" charset="0"/>
                <a:ea typeface="Calibri" pitchFamily="34" charset="-122"/>
                <a:cs typeface="Calibri" pitchFamily="34" charset="-120"/>
              </a:rPr>
              <a:t>E-box (Human)</a:t>
            </a:r>
            <a:endParaRPr lang="en-US" sz="1000" dirty="0"/>
          </a:p>
        </p:txBody>
      </p:sp>
      <p:sp>
        <p:nvSpPr>
          <p:cNvPr id="37" name="Text 35"/>
          <p:cNvSpPr/>
          <p:nvPr/>
        </p:nvSpPr>
        <p:spPr>
          <a:xfrm>
            <a:off x="4956048" y="2706624"/>
            <a:ext cx="1554480" cy="219456"/>
          </a:xfrm>
          <a:prstGeom prst="rect">
            <a:avLst/>
          </a:prstGeom>
          <a:noFill/>
          <a:ln/>
        </p:spPr>
        <p:txBody>
          <a:bodyPr wrap="square" lIns="0" tIns="0" rIns="0" bIns="0" rtlCol="0" anchor="ctr"/>
          <a:lstStyle/>
          <a:p>
            <a:pPr indent="0" marL="0">
              <a:buNone/>
            </a:pPr>
            <a:r>
              <a:rPr lang="en-US" sz="950" dirty="0">
                <a:solidFill>
                  <a:srgbClr val="1D4ED8"/>
                </a:solidFill>
                <a:latin typeface="Consolas" pitchFamily="34" charset="0"/>
                <a:ea typeface="Consolas" pitchFamily="34" charset="-122"/>
                <a:cs typeface="Consolas" pitchFamily="34" charset="-120"/>
              </a:rPr>
              <a:t>CANNTG</a:t>
            </a:r>
            <a:endParaRPr lang="en-US" sz="950" dirty="0"/>
          </a:p>
        </p:txBody>
      </p:sp>
      <p:sp>
        <p:nvSpPr>
          <p:cNvPr id="38" name="Text 36"/>
          <p:cNvSpPr/>
          <p:nvPr/>
        </p:nvSpPr>
        <p:spPr>
          <a:xfrm>
            <a:off x="6583680" y="2542032"/>
            <a:ext cx="1920240" cy="34747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MYC/MAX binding, cell growth</a:t>
            </a:r>
            <a:endParaRPr lang="en-US" sz="900" dirty="0"/>
          </a:p>
        </p:txBody>
      </p:sp>
      <p:sp>
        <p:nvSpPr>
          <p:cNvPr id="39" name="Shape 37"/>
          <p:cNvSpPr/>
          <p:nvPr/>
        </p:nvSpPr>
        <p:spPr>
          <a:xfrm>
            <a:off x="4828032" y="3054096"/>
            <a:ext cx="54864" cy="457200"/>
          </a:xfrm>
          <a:prstGeom prst="rect">
            <a:avLst/>
          </a:prstGeom>
          <a:solidFill>
            <a:srgbClr val="F59E0B"/>
          </a:solidFill>
          <a:ln w="12700">
            <a:solidFill>
              <a:srgbClr val="F59E0B"/>
            </a:solidFill>
            <a:prstDash val="solid"/>
          </a:ln>
        </p:spPr>
      </p:sp>
      <p:sp>
        <p:nvSpPr>
          <p:cNvPr id="40" name="Text 38"/>
          <p:cNvSpPr/>
          <p:nvPr/>
        </p:nvSpPr>
        <p:spPr>
          <a:xfrm>
            <a:off x="4956048" y="3054096"/>
            <a:ext cx="1554480" cy="228600"/>
          </a:xfrm>
          <a:prstGeom prst="rect">
            <a:avLst/>
          </a:prstGeom>
          <a:noFill/>
          <a:ln/>
        </p:spPr>
        <p:txBody>
          <a:bodyPr wrap="square" lIns="0" tIns="0" rIns="0" bIns="0" rtlCol="0" anchor="ctr"/>
          <a:lstStyle/>
          <a:p>
            <a:pPr indent="0" marL="0">
              <a:buNone/>
            </a:pPr>
            <a:r>
              <a:rPr lang="en-US" sz="1000" b="1" dirty="0">
                <a:solidFill>
                  <a:srgbClr val="0B1D35"/>
                </a:solidFill>
                <a:latin typeface="Calibri" pitchFamily="34" charset="0"/>
                <a:ea typeface="Calibri" pitchFamily="34" charset="-122"/>
                <a:cs typeface="Calibri" pitchFamily="34" charset="-120"/>
              </a:rPr>
              <a:t>NF-κB site</a:t>
            </a:r>
            <a:endParaRPr lang="en-US" sz="1000" dirty="0"/>
          </a:p>
        </p:txBody>
      </p:sp>
      <p:sp>
        <p:nvSpPr>
          <p:cNvPr id="41" name="Text 39"/>
          <p:cNvSpPr/>
          <p:nvPr/>
        </p:nvSpPr>
        <p:spPr>
          <a:xfrm>
            <a:off x="4956048" y="3273552"/>
            <a:ext cx="1554480" cy="219456"/>
          </a:xfrm>
          <a:prstGeom prst="rect">
            <a:avLst/>
          </a:prstGeom>
          <a:noFill/>
          <a:ln/>
        </p:spPr>
        <p:txBody>
          <a:bodyPr wrap="square" lIns="0" tIns="0" rIns="0" bIns="0" rtlCol="0" anchor="ctr"/>
          <a:lstStyle/>
          <a:p>
            <a:pPr indent="0" marL="0">
              <a:buNone/>
            </a:pPr>
            <a:r>
              <a:rPr lang="en-US" sz="950" dirty="0">
                <a:solidFill>
                  <a:srgbClr val="F59E0B"/>
                </a:solidFill>
                <a:latin typeface="Consolas" pitchFamily="34" charset="0"/>
                <a:ea typeface="Consolas" pitchFamily="34" charset="-122"/>
                <a:cs typeface="Consolas" pitchFamily="34" charset="-120"/>
              </a:rPr>
              <a:t>GGGACTTTCC</a:t>
            </a:r>
            <a:endParaRPr lang="en-US" sz="950" dirty="0"/>
          </a:p>
        </p:txBody>
      </p:sp>
      <p:sp>
        <p:nvSpPr>
          <p:cNvPr id="42" name="Text 40"/>
          <p:cNvSpPr/>
          <p:nvPr/>
        </p:nvSpPr>
        <p:spPr>
          <a:xfrm>
            <a:off x="6583680" y="3108960"/>
            <a:ext cx="1920240" cy="34747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Inflammation, immunity</a:t>
            </a:r>
            <a:endParaRPr lang="en-US" sz="900" dirty="0"/>
          </a:p>
        </p:txBody>
      </p:sp>
      <p:sp>
        <p:nvSpPr>
          <p:cNvPr id="43" name="Shape 41"/>
          <p:cNvSpPr/>
          <p:nvPr/>
        </p:nvSpPr>
        <p:spPr>
          <a:xfrm>
            <a:off x="4828032" y="3621024"/>
            <a:ext cx="54864" cy="457200"/>
          </a:xfrm>
          <a:prstGeom prst="rect">
            <a:avLst/>
          </a:prstGeom>
          <a:solidFill>
            <a:srgbClr val="EF4444"/>
          </a:solidFill>
          <a:ln w="12700">
            <a:solidFill>
              <a:srgbClr val="EF4444"/>
            </a:solidFill>
            <a:prstDash val="solid"/>
          </a:ln>
        </p:spPr>
      </p:sp>
      <p:sp>
        <p:nvSpPr>
          <p:cNvPr id="44" name="Text 42"/>
          <p:cNvSpPr/>
          <p:nvPr/>
        </p:nvSpPr>
        <p:spPr>
          <a:xfrm>
            <a:off x="4956048" y="3621024"/>
            <a:ext cx="1554480" cy="228600"/>
          </a:xfrm>
          <a:prstGeom prst="rect">
            <a:avLst/>
          </a:prstGeom>
          <a:noFill/>
          <a:ln/>
        </p:spPr>
        <p:txBody>
          <a:bodyPr wrap="square" lIns="0" tIns="0" rIns="0" bIns="0" rtlCol="0" anchor="ctr"/>
          <a:lstStyle/>
          <a:p>
            <a:pPr indent="0" marL="0">
              <a:buNone/>
            </a:pPr>
            <a:r>
              <a:rPr lang="en-US" sz="1000" b="1" dirty="0">
                <a:solidFill>
                  <a:srgbClr val="0B1D35"/>
                </a:solidFill>
                <a:latin typeface="Calibri" pitchFamily="34" charset="0"/>
                <a:ea typeface="Calibri" pitchFamily="34" charset="-122"/>
                <a:cs typeface="Calibri" pitchFamily="34" charset="-120"/>
              </a:rPr>
              <a:t>−10 element</a:t>
            </a:r>
            <a:endParaRPr lang="en-US" sz="1000" dirty="0"/>
          </a:p>
        </p:txBody>
      </p:sp>
      <p:sp>
        <p:nvSpPr>
          <p:cNvPr id="45" name="Text 43"/>
          <p:cNvSpPr/>
          <p:nvPr/>
        </p:nvSpPr>
        <p:spPr>
          <a:xfrm>
            <a:off x="4956048" y="3840480"/>
            <a:ext cx="1554480" cy="219456"/>
          </a:xfrm>
          <a:prstGeom prst="rect">
            <a:avLst/>
          </a:prstGeom>
          <a:noFill/>
          <a:ln/>
        </p:spPr>
        <p:txBody>
          <a:bodyPr wrap="square" lIns="0" tIns="0" rIns="0" bIns="0" rtlCol="0" anchor="ctr"/>
          <a:lstStyle/>
          <a:p>
            <a:pPr indent="0" marL="0">
              <a:buNone/>
            </a:pPr>
            <a:r>
              <a:rPr lang="en-US" sz="950" dirty="0">
                <a:solidFill>
                  <a:srgbClr val="EF4444"/>
                </a:solidFill>
                <a:latin typeface="Consolas" pitchFamily="34" charset="0"/>
                <a:ea typeface="Consolas" pitchFamily="34" charset="-122"/>
                <a:cs typeface="Consolas" pitchFamily="34" charset="-120"/>
              </a:rPr>
              <a:t>TATAAT</a:t>
            </a:r>
            <a:endParaRPr lang="en-US" sz="950" dirty="0"/>
          </a:p>
        </p:txBody>
      </p:sp>
      <p:sp>
        <p:nvSpPr>
          <p:cNvPr id="46" name="Text 44"/>
          <p:cNvSpPr/>
          <p:nvPr/>
        </p:nvSpPr>
        <p:spPr>
          <a:xfrm>
            <a:off x="6583680" y="3675888"/>
            <a:ext cx="1920240" cy="34747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 coli sigma factor binding</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D35"/>
        </a:solidFill>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Why is Motif Discovery Hard?</a:t>
            </a:r>
            <a:endParaRPr lang="en-US" sz="3000" dirty="0"/>
          </a:p>
        </p:txBody>
      </p:sp>
      <p:sp>
        <p:nvSpPr>
          <p:cNvPr id="3" name="Text 1"/>
          <p:cNvSpPr/>
          <p:nvPr/>
        </p:nvSpPr>
        <p:spPr>
          <a:xfrm>
            <a:off x="457200" y="777240"/>
            <a:ext cx="8229600" cy="274320"/>
          </a:xfrm>
          <a:prstGeom prst="rect">
            <a:avLst/>
          </a:prstGeom>
          <a:noFill/>
          <a:ln/>
        </p:spPr>
        <p:txBody>
          <a:bodyPr wrap="square" rtlCol="0" anchor="ctr"/>
          <a:lstStyle/>
          <a:p>
            <a:pPr indent="0" marL="0">
              <a:buNone/>
            </a:pPr>
            <a:r>
              <a:rPr lang="en-US" sz="1300" i="1" dirty="0">
                <a:solidFill>
                  <a:srgbClr val="14B8A6"/>
                </a:solidFill>
                <a:latin typeface="Calibri" pitchFamily="34" charset="0"/>
                <a:ea typeface="Calibri" pitchFamily="34" charset="-122"/>
                <a:cs typeface="Calibri" pitchFamily="34" charset="-120"/>
              </a:rPr>
              <a:t>NP-Hard combinatorial search with biological noise</a:t>
            </a:r>
            <a:endParaRPr lang="en-US" sz="1300" dirty="0"/>
          </a:p>
        </p:txBody>
      </p:sp>
      <p:sp>
        <p:nvSpPr>
          <p:cNvPr id="4" name="Shape 2"/>
          <p:cNvSpPr/>
          <p:nvPr/>
        </p:nvSpPr>
        <p:spPr>
          <a:xfrm>
            <a:off x="457200" y="1188720"/>
            <a:ext cx="4023360" cy="3383280"/>
          </a:xfrm>
          <a:prstGeom prst="rect">
            <a:avLst/>
          </a:prstGeom>
          <a:solidFill>
            <a:srgbClr val="122744"/>
          </a:solidFill>
          <a:ln w="19050">
            <a:solidFill>
              <a:srgbClr val="F59E0B"/>
            </a:solidFill>
            <a:prstDash val="solid"/>
          </a:ln>
          <a:effectLst>
            <a:outerShdw sx="100000" sy="100000" kx="0" ky="0" algn="bl" rotWithShape="0" blurRad="101600" dist="38100" dir="8100000">
              <a:srgbClr val="000000">
                <a:alpha val="12000"/>
              </a:srgbClr>
            </a:outerShdw>
          </a:effectLst>
        </p:spPr>
      </p:sp>
      <p:sp>
        <p:nvSpPr>
          <p:cNvPr id="5" name="Text 3"/>
          <p:cNvSpPr/>
          <p:nvPr/>
        </p:nvSpPr>
        <p:spPr>
          <a:xfrm>
            <a:off x="594360" y="1298448"/>
            <a:ext cx="3749040" cy="347472"/>
          </a:xfrm>
          <a:prstGeom prst="rect">
            <a:avLst/>
          </a:prstGeom>
          <a:noFill/>
          <a:ln/>
        </p:spPr>
        <p:txBody>
          <a:bodyPr wrap="square"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Biological Challenges</a:t>
            </a:r>
            <a:endParaRPr lang="en-US" sz="1300" dirty="0"/>
          </a:p>
        </p:txBody>
      </p:sp>
      <p:sp>
        <p:nvSpPr>
          <p:cNvPr id="6" name="Text 4"/>
          <p:cNvSpPr/>
          <p:nvPr/>
        </p:nvSpPr>
        <p:spPr>
          <a:xfrm>
            <a:off x="594360" y="1719072"/>
            <a:ext cx="3749040" cy="2743200"/>
          </a:xfrm>
          <a:prstGeom prst="rect">
            <a:avLst/>
          </a:prstGeom>
          <a:noFill/>
          <a:ln/>
        </p:spPr>
        <p:txBody>
          <a:bodyPr wrap="square" rtlCol="0" anchor="ctr"/>
          <a:lstStyle/>
          <a:p>
            <a:pPr marL="342900" indent="-342900">
              <a:spcAft>
                <a:spcPts val="800"/>
              </a:spcAft>
              <a:buSzPct val="100000"/>
              <a:buChar char="•"/>
            </a:pPr>
            <a:r>
              <a:rPr lang="en-US" sz="1150" dirty="0">
                <a:solidFill>
                  <a:srgbClr val="94A3B8"/>
                </a:solidFill>
                <a:latin typeface="Calibri" pitchFamily="34" charset="0"/>
                <a:ea typeface="Calibri" pitchFamily="34" charset="-122"/>
                <a:cs typeface="Calibri" pitchFamily="34" charset="-120"/>
              </a:rPr>
              <a:t>Unknown motif length — must search W = 6 to 20+</a:t>
            </a:r>
            <a:endParaRPr lang="en-US" sz="1150" dirty="0"/>
          </a:p>
          <a:p>
            <a:pPr marL="342900" indent="-342900">
              <a:spcAft>
                <a:spcPts val="800"/>
              </a:spcAft>
              <a:buSzPct val="100000"/>
              <a:buChar char="•"/>
            </a:pPr>
            <a:r>
              <a:rPr lang="en-US" sz="1150" dirty="0">
                <a:solidFill>
                  <a:srgbClr val="94A3B8"/>
                </a:solidFill>
                <a:latin typeface="Calibri" pitchFamily="34" charset="0"/>
                <a:ea typeface="Calibri" pitchFamily="34" charset="-122"/>
                <a:cs typeface="Calibri" pitchFamily="34" charset="-120"/>
              </a:rPr>
              <a:t>Variable positions — same motif appears with mismatches</a:t>
            </a:r>
            <a:endParaRPr lang="en-US" sz="1150" dirty="0"/>
          </a:p>
          <a:p>
            <a:pPr marL="342900" indent="-342900">
              <a:spcAft>
                <a:spcPts val="800"/>
              </a:spcAft>
              <a:buSzPct val="100000"/>
              <a:buChar char="•"/>
            </a:pPr>
            <a:r>
              <a:rPr lang="en-US" sz="1150" dirty="0">
                <a:solidFill>
                  <a:srgbClr val="94A3B8"/>
                </a:solidFill>
                <a:latin typeface="Calibri" pitchFamily="34" charset="0"/>
                <a:ea typeface="Calibri" pitchFamily="34" charset="-122"/>
                <a:cs typeface="Calibri" pitchFamily="34" charset="-120"/>
              </a:rPr>
              <a:t>Multiple motifs in one sequence — hard to separate</a:t>
            </a:r>
            <a:endParaRPr lang="en-US" sz="1150" dirty="0"/>
          </a:p>
          <a:p>
            <a:pPr marL="342900" indent="-342900">
              <a:spcAft>
                <a:spcPts val="800"/>
              </a:spcAft>
              <a:buSzPct val="100000"/>
              <a:buChar char="•"/>
            </a:pPr>
            <a:r>
              <a:rPr lang="en-US" sz="1150" dirty="0">
                <a:solidFill>
                  <a:srgbClr val="94A3B8"/>
                </a:solidFill>
                <a:latin typeface="Calibri" pitchFamily="34" charset="0"/>
                <a:ea typeface="Calibri" pitchFamily="34" charset="-122"/>
                <a:cs typeface="Calibri" pitchFamily="34" charset="-120"/>
              </a:rPr>
              <a:t>Weak signals — motif is 10 bp in a 10,000 bp region</a:t>
            </a:r>
            <a:endParaRPr lang="en-US" sz="1150" dirty="0"/>
          </a:p>
        </p:txBody>
      </p:sp>
      <p:sp>
        <p:nvSpPr>
          <p:cNvPr id="7" name="Shape 5"/>
          <p:cNvSpPr/>
          <p:nvPr/>
        </p:nvSpPr>
        <p:spPr>
          <a:xfrm>
            <a:off x="4800600" y="1188720"/>
            <a:ext cx="4023360" cy="3383280"/>
          </a:xfrm>
          <a:prstGeom prst="rect">
            <a:avLst/>
          </a:prstGeom>
          <a:solidFill>
            <a:srgbClr val="122744"/>
          </a:solidFill>
          <a:ln w="19050">
            <a:solidFill>
              <a:srgbClr val="EF4444"/>
            </a:solidFill>
            <a:prstDash val="solid"/>
          </a:ln>
          <a:effectLst>
            <a:outerShdw sx="100000" sy="100000" kx="0" ky="0" algn="bl" rotWithShape="0" blurRad="101600" dist="38100" dir="8100000">
              <a:srgbClr val="000000">
                <a:alpha val="12000"/>
              </a:srgbClr>
            </a:outerShdw>
          </a:effectLst>
        </p:spPr>
      </p:sp>
      <p:sp>
        <p:nvSpPr>
          <p:cNvPr id="8" name="Text 6"/>
          <p:cNvSpPr/>
          <p:nvPr/>
        </p:nvSpPr>
        <p:spPr>
          <a:xfrm>
            <a:off x="4937760" y="1298448"/>
            <a:ext cx="3749040" cy="347472"/>
          </a:xfrm>
          <a:prstGeom prst="rect">
            <a:avLst/>
          </a:prstGeom>
          <a:noFill/>
          <a:ln/>
        </p:spPr>
        <p:txBody>
          <a:bodyPr wrap="square"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Computational Challenges</a:t>
            </a:r>
            <a:endParaRPr lang="en-US" sz="1300" dirty="0"/>
          </a:p>
        </p:txBody>
      </p:sp>
      <p:sp>
        <p:nvSpPr>
          <p:cNvPr id="9" name="Text 7"/>
          <p:cNvSpPr/>
          <p:nvPr/>
        </p:nvSpPr>
        <p:spPr>
          <a:xfrm>
            <a:off x="4937760" y="1719072"/>
            <a:ext cx="3749040" cy="2743200"/>
          </a:xfrm>
          <a:prstGeom prst="rect">
            <a:avLst/>
          </a:prstGeom>
          <a:noFill/>
          <a:ln/>
        </p:spPr>
        <p:txBody>
          <a:bodyPr wrap="square" rtlCol="0" anchor="ctr"/>
          <a:lstStyle/>
          <a:p>
            <a:pPr marL="342900" indent="-342900">
              <a:spcAft>
                <a:spcPts val="800"/>
              </a:spcAft>
              <a:buSzPct val="100000"/>
              <a:buChar char="•"/>
            </a:pPr>
            <a:r>
              <a:rPr lang="en-US" sz="1150" dirty="0">
                <a:solidFill>
                  <a:srgbClr val="94A3B8"/>
                </a:solidFill>
                <a:latin typeface="Calibri" pitchFamily="34" charset="0"/>
                <a:ea typeface="Calibri" pitchFamily="34" charset="-122"/>
                <a:cs typeface="Calibri" pitchFamily="34" charset="-120"/>
              </a:rPr>
              <a:t>Search space is 4^W per position per sequence</a:t>
            </a:r>
            <a:endParaRPr lang="en-US" sz="1150" dirty="0"/>
          </a:p>
          <a:p>
            <a:pPr marL="342900" indent="-342900">
              <a:spcAft>
                <a:spcPts val="800"/>
              </a:spcAft>
              <a:buSzPct val="100000"/>
              <a:buChar char="•"/>
            </a:pPr>
            <a:r>
              <a:rPr lang="en-US" sz="1150" dirty="0">
                <a:solidFill>
                  <a:srgbClr val="94A3B8"/>
                </a:solidFill>
                <a:latin typeface="Calibri" pitchFamily="34" charset="0"/>
                <a:ea typeface="Calibri" pitchFamily="34" charset="-122"/>
                <a:cs typeface="Calibri" pitchFamily="34" charset="-120"/>
              </a:rPr>
              <a:t>Formally NP-hard — no polynomial-time exact solution</a:t>
            </a:r>
            <a:endParaRPr lang="en-US" sz="1150" dirty="0"/>
          </a:p>
          <a:p>
            <a:pPr marL="342900" indent="-342900">
              <a:spcAft>
                <a:spcPts val="800"/>
              </a:spcAft>
              <a:buSzPct val="100000"/>
              <a:buChar char="•"/>
            </a:pPr>
            <a:r>
              <a:rPr lang="en-US" sz="1150" dirty="0">
                <a:solidFill>
                  <a:srgbClr val="94A3B8"/>
                </a:solidFill>
                <a:latin typeface="Calibri" pitchFamily="34" charset="0"/>
                <a:ea typeface="Calibri" pitchFamily="34" charset="-122"/>
                <a:cs typeface="Calibri" pitchFamily="34" charset="-120"/>
              </a:rPr>
              <a:t>High false-positive rates from chance occurrences</a:t>
            </a:r>
            <a:endParaRPr lang="en-US" sz="1150" dirty="0"/>
          </a:p>
          <a:p>
            <a:pPr marL="342900" indent="-342900">
              <a:spcAft>
                <a:spcPts val="800"/>
              </a:spcAft>
              <a:buSzPct val="100000"/>
              <a:buChar char="•"/>
            </a:pPr>
            <a:r>
              <a:rPr lang="en-US" sz="1150" dirty="0">
                <a:solidFill>
                  <a:srgbClr val="94A3B8"/>
                </a:solidFill>
                <a:latin typeface="Calibri" pitchFamily="34" charset="0"/>
                <a:ea typeface="Calibri" pitchFamily="34" charset="-122"/>
                <a:cs typeface="Calibri" pitchFamily="34" charset="-120"/>
              </a:rPr>
              <a:t>Must scale to millions of sequences (ChIP-seq era)</a:t>
            </a:r>
            <a:endParaRPr lang="en-US" sz="1150" dirty="0"/>
          </a:p>
        </p:txBody>
      </p:sp>
      <p:sp>
        <p:nvSpPr>
          <p:cNvPr id="10" name="Shape 8"/>
          <p:cNvSpPr/>
          <p:nvPr/>
        </p:nvSpPr>
        <p:spPr>
          <a:xfrm>
            <a:off x="457200" y="4681728"/>
            <a:ext cx="2651760" cy="0"/>
          </a:xfrm>
          <a:prstGeom prst="rect">
            <a:avLst/>
          </a:prstGeom>
          <a:solidFill>
            <a:srgbClr val="F0F9FF">
              <a:alpha val="0"/>
            </a:srgbClr>
          </a:solidFill>
          <a:ln w="12700">
            <a:solidFill>
              <a:srgbClr val="000000"/>
            </a:solidFill>
            <a:prstDash val="solid"/>
          </a:ln>
        </p:spPr>
      </p:sp>
      <p:sp>
        <p:nvSpPr>
          <p:cNvPr id="11" name="Shape 9"/>
          <p:cNvSpPr/>
          <p:nvPr/>
        </p:nvSpPr>
        <p:spPr>
          <a:xfrm>
            <a:off x="3337560" y="4681728"/>
            <a:ext cx="2651760" cy="0"/>
          </a:xfrm>
          <a:prstGeom prst="rect">
            <a:avLst/>
          </a:prstGeom>
          <a:solidFill>
            <a:srgbClr val="F0F9FF">
              <a:alpha val="0"/>
            </a:srgbClr>
          </a:solidFill>
          <a:ln w="12700">
            <a:solidFill>
              <a:srgbClr val="000000"/>
            </a:solidFill>
            <a:prstDash val="solid"/>
          </a:ln>
        </p:spPr>
      </p:sp>
      <p:sp>
        <p:nvSpPr>
          <p:cNvPr id="12" name="Shape 10"/>
          <p:cNvSpPr/>
          <p:nvPr/>
        </p:nvSpPr>
        <p:spPr>
          <a:xfrm>
            <a:off x="6217920" y="4681728"/>
            <a:ext cx="2651760" cy="0"/>
          </a:xfrm>
          <a:prstGeom prst="rect">
            <a:avLst/>
          </a:prstGeom>
          <a:solidFill>
            <a:srgbClr val="F0F9FF">
              <a:alpha val="0"/>
            </a:srgbClr>
          </a:solidFill>
          <a:ln w="12700">
            <a:solidFill>
              <a:srgbClr val="000000"/>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D35"/>
        </a:solidFill>
      </p:bgPr>
    </p:bg>
    <p:spTree>
      <p:nvGrpSpPr>
        <p:cNvPr id="1" name=""/>
        <p:cNvGrpSpPr/>
        <p:nvPr/>
      </p:nvGrpSpPr>
      <p:grpSpPr>
        <a:xfrm>
          <a:off x="0" y="0"/>
          <a:ext cx="0" cy="0"/>
          <a:chOff x="0" y="0"/>
          <a:chExt cx="0" cy="0"/>
        </a:xfrm>
      </p:grpSpPr>
      <p:sp>
        <p:nvSpPr>
          <p:cNvPr id="2" name="Shape 0"/>
          <p:cNvSpPr/>
          <p:nvPr/>
        </p:nvSpPr>
        <p:spPr>
          <a:xfrm>
            <a:off x="0" y="1920240"/>
            <a:ext cx="9144000" cy="1371600"/>
          </a:xfrm>
          <a:prstGeom prst="rect">
            <a:avLst/>
          </a:prstGeom>
          <a:solidFill>
            <a:srgbClr val="122744"/>
          </a:solidFill>
          <a:ln w="12700">
            <a:solidFill>
              <a:srgbClr val="122744"/>
            </a:solidFill>
            <a:prstDash val="solid"/>
          </a:ln>
        </p:spPr>
      </p:sp>
      <p:sp>
        <p:nvSpPr>
          <p:cNvPr id="3" name="Text 1"/>
          <p:cNvSpPr/>
          <p:nvPr/>
        </p:nvSpPr>
        <p:spPr>
          <a:xfrm>
            <a:off x="457200" y="274320"/>
            <a:ext cx="8229600" cy="1554480"/>
          </a:xfrm>
          <a:prstGeom prst="rect">
            <a:avLst/>
          </a:prstGeom>
          <a:noFill/>
          <a:ln/>
        </p:spPr>
        <p:txBody>
          <a:bodyPr wrap="square" rtlCol="0" anchor="ctr"/>
          <a:lstStyle/>
          <a:p>
            <a:pPr algn="ctr" indent="0" marL="0">
              <a:buNone/>
            </a:pPr>
            <a:r>
              <a:rPr lang="en-US" sz="9600" b="1" dirty="0">
                <a:solidFill>
                  <a:srgbClr val="1D4ED8">
                    <a:alpha val="80000"/>
                  </a:srgbClr>
                </a:solidFill>
                <a:latin typeface="Calibri" pitchFamily="34" charset="0"/>
                <a:ea typeface="Calibri" pitchFamily="34" charset="-122"/>
                <a:cs typeface="Calibri" pitchFamily="34" charset="-120"/>
              </a:rPr>
              <a:t>02</a:t>
            </a:r>
            <a:endParaRPr lang="en-US" sz="9600" dirty="0"/>
          </a:p>
        </p:txBody>
      </p:sp>
      <p:sp>
        <p:nvSpPr>
          <p:cNvPr id="4" name="Text 2"/>
          <p:cNvSpPr/>
          <p:nvPr/>
        </p:nvSpPr>
        <p:spPr>
          <a:xfrm>
            <a:off x="457200" y="2029968"/>
            <a:ext cx="8229600" cy="59436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Algorithms &amp; Theory</a:t>
            </a:r>
            <a:endParaRPr lang="en-US" sz="2800" dirty="0"/>
          </a:p>
        </p:txBody>
      </p:sp>
      <p:sp>
        <p:nvSpPr>
          <p:cNvPr id="5" name="Text 3"/>
          <p:cNvSpPr/>
          <p:nvPr/>
        </p:nvSpPr>
        <p:spPr>
          <a:xfrm>
            <a:off x="457200" y="2697480"/>
            <a:ext cx="8229600" cy="347472"/>
          </a:xfrm>
          <a:prstGeom prst="rect">
            <a:avLst/>
          </a:prstGeom>
          <a:noFill/>
          <a:ln/>
        </p:spPr>
        <p:txBody>
          <a:bodyPr wrap="square" rtlCol="0" anchor="ctr"/>
          <a:lstStyle/>
          <a:p>
            <a:pPr algn="ctr" indent="0" marL="0">
              <a:buNone/>
            </a:pPr>
            <a:r>
              <a:rPr lang="en-US" sz="1300" i="1" dirty="0">
                <a:solidFill>
                  <a:srgbClr val="14B8A6"/>
                </a:solidFill>
                <a:latin typeface="Calibri" pitchFamily="34" charset="0"/>
                <a:ea typeface="Calibri" pitchFamily="34" charset="-122"/>
                <a:cs typeface="Calibri" pitchFamily="34" charset="-120"/>
              </a:rPr>
              <a:t>MEME — Expectation Maximisation  ·  Gibbs — Bayesian Sampling</a:t>
            </a:r>
            <a:endParaRPr lang="en-US" sz="1300" dirty="0"/>
          </a:p>
        </p:txBody>
      </p:sp>
      <p:pic>
        <p:nvPicPr>
          <p:cNvPr id="6" name="Image 0" descr="preencoded.png">    </p:cNvPr>
          <p:cNvPicPr>
            <a:picLocks noChangeAspect="1"/>
          </p:cNvPicPr>
          <p:nvPr/>
        </p:nvPicPr>
        <p:blipFill>
          <a:blip r:embed="rId1"/>
          <a:stretch>
            <a:fillRect/>
          </a:stretch>
        </p:blipFill>
        <p:spPr>
          <a:xfrm>
            <a:off x="4160520" y="3383280"/>
            <a:ext cx="731520" cy="7315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9FF"/>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2800" b="1" dirty="0">
                <a:solidFill>
                  <a:srgbClr val="0B1D35"/>
                </a:solidFill>
                <a:latin typeface="Calibri" pitchFamily="34" charset="0"/>
                <a:ea typeface="Calibri" pitchFamily="34" charset="-122"/>
                <a:cs typeface="Calibri" pitchFamily="34" charset="-120"/>
              </a:rPr>
              <a:t>MEME — Multiple EM for Motif Elicitation</a:t>
            </a:r>
            <a:endParaRPr lang="en-US" sz="2800" dirty="0"/>
          </a:p>
        </p:txBody>
      </p:sp>
      <p:sp>
        <p:nvSpPr>
          <p:cNvPr id="3" name="Text 1"/>
          <p:cNvSpPr/>
          <p:nvPr/>
        </p:nvSpPr>
        <p:spPr>
          <a:xfrm>
            <a:off x="457200" y="704088"/>
            <a:ext cx="8229600" cy="256032"/>
          </a:xfrm>
          <a:prstGeom prst="rect">
            <a:avLst/>
          </a:prstGeom>
          <a:noFill/>
          <a:ln/>
        </p:spPr>
        <p:txBody>
          <a:bodyPr wrap="square"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Bailey &amp; Elkan (1994)  ·  Most widely used motif discovery algorithm</a:t>
            </a:r>
            <a:endParaRPr lang="en-US" sz="1100" dirty="0"/>
          </a:p>
        </p:txBody>
      </p:sp>
      <p:sp>
        <p:nvSpPr>
          <p:cNvPr id="4" name="Shape 2"/>
          <p:cNvSpPr/>
          <p:nvPr/>
        </p:nvSpPr>
        <p:spPr>
          <a:xfrm>
            <a:off x="886968" y="1115568"/>
            <a:ext cx="658368" cy="658368"/>
          </a:xfrm>
          <a:prstGeom prst="ellipse">
            <a:avLst/>
          </a:prstGeom>
          <a:solidFill>
            <a:srgbClr val="0D9488"/>
          </a:solidFill>
          <a:ln w="12700">
            <a:solidFill>
              <a:srgbClr val="0D9488"/>
            </a:solidFill>
            <a:prstDash val="solid"/>
          </a:ln>
        </p:spPr>
      </p:sp>
      <p:sp>
        <p:nvSpPr>
          <p:cNvPr id="5" name="Text 3"/>
          <p:cNvSpPr/>
          <p:nvPr/>
        </p:nvSpPr>
        <p:spPr>
          <a:xfrm>
            <a:off x="886968" y="1115568"/>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Shape 4"/>
          <p:cNvSpPr/>
          <p:nvPr/>
        </p:nvSpPr>
        <p:spPr>
          <a:xfrm>
            <a:off x="1563624" y="1408176"/>
            <a:ext cx="530352" cy="64008"/>
          </a:xfrm>
          <a:prstGeom prst="rect">
            <a:avLst/>
          </a:prstGeom>
          <a:solidFill>
            <a:srgbClr val="0D9488"/>
          </a:solidFill>
          <a:ln w="12700">
            <a:solidFill>
              <a:srgbClr val="0D9488"/>
            </a:solidFill>
            <a:prstDash val="solid"/>
          </a:ln>
        </p:spPr>
      </p:sp>
      <p:sp>
        <p:nvSpPr>
          <p:cNvPr id="7" name="Text 5"/>
          <p:cNvSpPr/>
          <p:nvPr/>
        </p:nvSpPr>
        <p:spPr>
          <a:xfrm>
            <a:off x="411480" y="1901952"/>
            <a:ext cx="1627632" cy="274320"/>
          </a:xfrm>
          <a:prstGeom prst="rect">
            <a:avLst/>
          </a:prstGeom>
          <a:noFill/>
          <a:ln/>
        </p:spPr>
        <p:txBody>
          <a:bodyPr wrap="square" rtlCol="0" anchor="ctr"/>
          <a:lstStyle/>
          <a:p>
            <a:pPr algn="ctr" indent="0" marL="0">
              <a:buNone/>
            </a:pPr>
            <a:r>
              <a:rPr lang="en-US" sz="1150" b="1" dirty="0">
                <a:solidFill>
                  <a:srgbClr val="0B1D35"/>
                </a:solidFill>
                <a:latin typeface="Calibri" pitchFamily="34" charset="0"/>
                <a:ea typeface="Calibri" pitchFamily="34" charset="-122"/>
                <a:cs typeface="Calibri" pitchFamily="34" charset="-120"/>
              </a:rPr>
              <a:t>Initialise</a:t>
            </a:r>
            <a:endParaRPr lang="en-US" sz="1150" dirty="0"/>
          </a:p>
        </p:txBody>
      </p:sp>
      <p:sp>
        <p:nvSpPr>
          <p:cNvPr id="8" name="Text 6"/>
          <p:cNvSpPr/>
          <p:nvPr/>
        </p:nvSpPr>
        <p:spPr>
          <a:xfrm>
            <a:off x="411480" y="2194560"/>
            <a:ext cx="1627632" cy="640080"/>
          </a:xfrm>
          <a:prstGeom prst="rect">
            <a:avLst/>
          </a:prstGeom>
          <a:noFill/>
          <a:ln/>
        </p:spPr>
        <p:txBody>
          <a:bodyPr wrap="square" rtlCol="0" anchor="ctr"/>
          <a:lstStyle/>
          <a:p>
            <a:pPr algn="ctr" indent="0" marL="0">
              <a:buNone/>
            </a:pPr>
            <a:r>
              <a:rPr lang="en-US" sz="950" dirty="0">
                <a:solidFill>
                  <a:srgbClr val="475569"/>
                </a:solidFill>
                <a:latin typeface="Calibri" pitchFamily="34" charset="0"/>
                <a:ea typeface="Calibri" pitchFamily="34" charset="-122"/>
                <a:cs typeface="Calibri" pitchFamily="34" charset="-120"/>
              </a:rPr>
              <a:t>Sample seed k-mer from input sequences</a:t>
            </a:r>
            <a:endParaRPr lang="en-US" sz="950" dirty="0"/>
          </a:p>
        </p:txBody>
      </p:sp>
      <p:sp>
        <p:nvSpPr>
          <p:cNvPr id="9" name="Shape 7"/>
          <p:cNvSpPr/>
          <p:nvPr/>
        </p:nvSpPr>
        <p:spPr>
          <a:xfrm>
            <a:off x="2578608" y="1115568"/>
            <a:ext cx="658368" cy="658368"/>
          </a:xfrm>
          <a:prstGeom prst="ellipse">
            <a:avLst/>
          </a:prstGeom>
          <a:solidFill>
            <a:srgbClr val="0D9488"/>
          </a:solidFill>
          <a:ln w="12700">
            <a:solidFill>
              <a:srgbClr val="0D9488"/>
            </a:solidFill>
            <a:prstDash val="solid"/>
          </a:ln>
        </p:spPr>
      </p:sp>
      <p:sp>
        <p:nvSpPr>
          <p:cNvPr id="10" name="Text 8"/>
          <p:cNvSpPr/>
          <p:nvPr/>
        </p:nvSpPr>
        <p:spPr>
          <a:xfrm>
            <a:off x="2578608" y="1115568"/>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Shape 9"/>
          <p:cNvSpPr/>
          <p:nvPr/>
        </p:nvSpPr>
        <p:spPr>
          <a:xfrm>
            <a:off x="3255264" y="1408176"/>
            <a:ext cx="530352" cy="64008"/>
          </a:xfrm>
          <a:prstGeom prst="rect">
            <a:avLst/>
          </a:prstGeom>
          <a:solidFill>
            <a:srgbClr val="0D9488"/>
          </a:solidFill>
          <a:ln w="12700">
            <a:solidFill>
              <a:srgbClr val="0D9488"/>
            </a:solidFill>
            <a:prstDash val="solid"/>
          </a:ln>
        </p:spPr>
      </p:sp>
      <p:sp>
        <p:nvSpPr>
          <p:cNvPr id="12" name="Text 10"/>
          <p:cNvSpPr/>
          <p:nvPr/>
        </p:nvSpPr>
        <p:spPr>
          <a:xfrm>
            <a:off x="2103120" y="1901952"/>
            <a:ext cx="1627632" cy="274320"/>
          </a:xfrm>
          <a:prstGeom prst="rect">
            <a:avLst/>
          </a:prstGeom>
          <a:noFill/>
          <a:ln/>
        </p:spPr>
        <p:txBody>
          <a:bodyPr wrap="square" rtlCol="0" anchor="ctr"/>
          <a:lstStyle/>
          <a:p>
            <a:pPr algn="ctr" indent="0" marL="0">
              <a:buNone/>
            </a:pPr>
            <a:r>
              <a:rPr lang="en-US" sz="1150" b="1" dirty="0">
                <a:solidFill>
                  <a:srgbClr val="0B1D35"/>
                </a:solidFill>
                <a:latin typeface="Calibri" pitchFamily="34" charset="0"/>
                <a:ea typeface="Calibri" pitchFamily="34" charset="-122"/>
                <a:cs typeface="Calibri" pitchFamily="34" charset="-120"/>
              </a:rPr>
              <a:t>E-Step</a:t>
            </a:r>
            <a:endParaRPr lang="en-US" sz="1150" dirty="0"/>
          </a:p>
        </p:txBody>
      </p:sp>
      <p:sp>
        <p:nvSpPr>
          <p:cNvPr id="13" name="Text 11"/>
          <p:cNvSpPr/>
          <p:nvPr/>
        </p:nvSpPr>
        <p:spPr>
          <a:xfrm>
            <a:off x="2103120" y="2194560"/>
            <a:ext cx="1627632" cy="640080"/>
          </a:xfrm>
          <a:prstGeom prst="rect">
            <a:avLst/>
          </a:prstGeom>
          <a:noFill/>
          <a:ln/>
        </p:spPr>
        <p:txBody>
          <a:bodyPr wrap="square" rtlCol="0" anchor="ctr"/>
          <a:lstStyle/>
          <a:p>
            <a:pPr algn="ctr" indent="0" marL="0">
              <a:buNone/>
            </a:pPr>
            <a:r>
              <a:rPr lang="en-US" sz="950" dirty="0">
                <a:solidFill>
                  <a:srgbClr val="475569"/>
                </a:solidFill>
                <a:latin typeface="Calibri" pitchFamily="34" charset="0"/>
                <a:ea typeface="Calibri" pitchFamily="34" charset="-122"/>
                <a:cs typeface="Calibri" pitchFamily="34" charset="-120"/>
              </a:rPr>
              <a:t>Compute P(motif at pos j | sequence i, PWM)</a:t>
            </a:r>
            <a:endParaRPr lang="en-US" sz="950" dirty="0"/>
          </a:p>
        </p:txBody>
      </p:sp>
      <p:sp>
        <p:nvSpPr>
          <p:cNvPr id="14" name="Shape 12"/>
          <p:cNvSpPr/>
          <p:nvPr/>
        </p:nvSpPr>
        <p:spPr>
          <a:xfrm>
            <a:off x="4270248" y="1115568"/>
            <a:ext cx="658368" cy="658368"/>
          </a:xfrm>
          <a:prstGeom prst="ellipse">
            <a:avLst/>
          </a:prstGeom>
          <a:solidFill>
            <a:srgbClr val="0D9488"/>
          </a:solidFill>
          <a:ln w="12700">
            <a:solidFill>
              <a:srgbClr val="0D9488"/>
            </a:solidFill>
            <a:prstDash val="solid"/>
          </a:ln>
        </p:spPr>
      </p:sp>
      <p:sp>
        <p:nvSpPr>
          <p:cNvPr id="15" name="Text 13"/>
          <p:cNvSpPr/>
          <p:nvPr/>
        </p:nvSpPr>
        <p:spPr>
          <a:xfrm>
            <a:off x="4270248" y="1115568"/>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Shape 14"/>
          <p:cNvSpPr/>
          <p:nvPr/>
        </p:nvSpPr>
        <p:spPr>
          <a:xfrm>
            <a:off x="4946904" y="1408176"/>
            <a:ext cx="530352" cy="64008"/>
          </a:xfrm>
          <a:prstGeom prst="rect">
            <a:avLst/>
          </a:prstGeom>
          <a:solidFill>
            <a:srgbClr val="0D9488"/>
          </a:solidFill>
          <a:ln w="12700">
            <a:solidFill>
              <a:srgbClr val="0D9488"/>
            </a:solidFill>
            <a:prstDash val="solid"/>
          </a:ln>
        </p:spPr>
      </p:sp>
      <p:sp>
        <p:nvSpPr>
          <p:cNvPr id="17" name="Text 15"/>
          <p:cNvSpPr/>
          <p:nvPr/>
        </p:nvSpPr>
        <p:spPr>
          <a:xfrm>
            <a:off x="3794760" y="1901952"/>
            <a:ext cx="1627632" cy="274320"/>
          </a:xfrm>
          <a:prstGeom prst="rect">
            <a:avLst/>
          </a:prstGeom>
          <a:noFill/>
          <a:ln/>
        </p:spPr>
        <p:txBody>
          <a:bodyPr wrap="square" rtlCol="0" anchor="ctr"/>
          <a:lstStyle/>
          <a:p>
            <a:pPr algn="ctr" indent="0" marL="0">
              <a:buNone/>
            </a:pPr>
            <a:r>
              <a:rPr lang="en-US" sz="1150" b="1" dirty="0">
                <a:solidFill>
                  <a:srgbClr val="0B1D35"/>
                </a:solidFill>
                <a:latin typeface="Calibri" pitchFamily="34" charset="0"/>
                <a:ea typeface="Calibri" pitchFamily="34" charset="-122"/>
                <a:cs typeface="Calibri" pitchFamily="34" charset="-120"/>
              </a:rPr>
              <a:t>M-Step</a:t>
            </a:r>
            <a:endParaRPr lang="en-US" sz="1150" dirty="0"/>
          </a:p>
        </p:txBody>
      </p:sp>
      <p:sp>
        <p:nvSpPr>
          <p:cNvPr id="18" name="Text 16"/>
          <p:cNvSpPr/>
          <p:nvPr/>
        </p:nvSpPr>
        <p:spPr>
          <a:xfrm>
            <a:off x="3794760" y="2194560"/>
            <a:ext cx="1627632" cy="640080"/>
          </a:xfrm>
          <a:prstGeom prst="rect">
            <a:avLst/>
          </a:prstGeom>
          <a:noFill/>
          <a:ln/>
        </p:spPr>
        <p:txBody>
          <a:bodyPr wrap="square" rtlCol="0" anchor="ctr"/>
          <a:lstStyle/>
          <a:p>
            <a:pPr algn="ctr" indent="0" marL="0">
              <a:buNone/>
            </a:pPr>
            <a:r>
              <a:rPr lang="en-US" sz="950" dirty="0">
                <a:solidFill>
                  <a:srgbClr val="475569"/>
                </a:solidFill>
                <a:latin typeface="Calibri" pitchFamily="34" charset="0"/>
                <a:ea typeface="Calibri" pitchFamily="34" charset="-122"/>
                <a:cs typeface="Calibri" pitchFamily="34" charset="-120"/>
              </a:rPr>
              <a:t>Update PWM via weighted fractional counts</a:t>
            </a:r>
            <a:endParaRPr lang="en-US" sz="950" dirty="0"/>
          </a:p>
        </p:txBody>
      </p:sp>
      <p:sp>
        <p:nvSpPr>
          <p:cNvPr id="19" name="Shape 17"/>
          <p:cNvSpPr/>
          <p:nvPr/>
        </p:nvSpPr>
        <p:spPr>
          <a:xfrm>
            <a:off x="5961888" y="1115568"/>
            <a:ext cx="658368" cy="658368"/>
          </a:xfrm>
          <a:prstGeom prst="ellipse">
            <a:avLst/>
          </a:prstGeom>
          <a:solidFill>
            <a:srgbClr val="0D9488"/>
          </a:solidFill>
          <a:ln w="12700">
            <a:solidFill>
              <a:srgbClr val="0D9488"/>
            </a:solidFill>
            <a:prstDash val="solid"/>
          </a:ln>
        </p:spPr>
      </p:sp>
      <p:sp>
        <p:nvSpPr>
          <p:cNvPr id="20" name="Text 18"/>
          <p:cNvSpPr/>
          <p:nvPr/>
        </p:nvSpPr>
        <p:spPr>
          <a:xfrm>
            <a:off x="5961888" y="1115568"/>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1" name="Shape 19"/>
          <p:cNvSpPr/>
          <p:nvPr/>
        </p:nvSpPr>
        <p:spPr>
          <a:xfrm>
            <a:off x="6638544" y="1408176"/>
            <a:ext cx="530352" cy="64008"/>
          </a:xfrm>
          <a:prstGeom prst="rect">
            <a:avLst/>
          </a:prstGeom>
          <a:solidFill>
            <a:srgbClr val="0D9488"/>
          </a:solidFill>
          <a:ln w="12700">
            <a:solidFill>
              <a:srgbClr val="0D9488"/>
            </a:solidFill>
            <a:prstDash val="solid"/>
          </a:ln>
        </p:spPr>
      </p:sp>
      <p:sp>
        <p:nvSpPr>
          <p:cNvPr id="22" name="Text 20"/>
          <p:cNvSpPr/>
          <p:nvPr/>
        </p:nvSpPr>
        <p:spPr>
          <a:xfrm>
            <a:off x="5486400" y="1901952"/>
            <a:ext cx="1627632" cy="274320"/>
          </a:xfrm>
          <a:prstGeom prst="rect">
            <a:avLst/>
          </a:prstGeom>
          <a:noFill/>
          <a:ln/>
        </p:spPr>
        <p:txBody>
          <a:bodyPr wrap="square" rtlCol="0" anchor="ctr"/>
          <a:lstStyle/>
          <a:p>
            <a:pPr algn="ctr" indent="0" marL="0">
              <a:buNone/>
            </a:pPr>
            <a:r>
              <a:rPr lang="en-US" sz="1150" b="1" dirty="0">
                <a:solidFill>
                  <a:srgbClr val="0B1D35"/>
                </a:solidFill>
                <a:latin typeface="Calibri" pitchFamily="34" charset="0"/>
                <a:ea typeface="Calibri" pitchFamily="34" charset="-122"/>
                <a:cs typeface="Calibri" pitchFamily="34" charset="-120"/>
              </a:rPr>
              <a:t>Iterate</a:t>
            </a:r>
            <a:endParaRPr lang="en-US" sz="1150" dirty="0"/>
          </a:p>
        </p:txBody>
      </p:sp>
      <p:sp>
        <p:nvSpPr>
          <p:cNvPr id="23" name="Text 21"/>
          <p:cNvSpPr/>
          <p:nvPr/>
        </p:nvSpPr>
        <p:spPr>
          <a:xfrm>
            <a:off x="5486400" y="2194560"/>
            <a:ext cx="1627632" cy="640080"/>
          </a:xfrm>
          <a:prstGeom prst="rect">
            <a:avLst/>
          </a:prstGeom>
          <a:noFill/>
          <a:ln/>
        </p:spPr>
        <p:txBody>
          <a:bodyPr wrap="square" rtlCol="0" anchor="ctr"/>
          <a:lstStyle/>
          <a:p>
            <a:pPr algn="ctr" indent="0" marL="0">
              <a:buNone/>
            </a:pPr>
            <a:r>
              <a:rPr lang="en-US" sz="950" dirty="0">
                <a:solidFill>
                  <a:srgbClr val="475569"/>
                </a:solidFill>
                <a:latin typeface="Calibri" pitchFamily="34" charset="0"/>
                <a:ea typeface="Calibri" pitchFamily="34" charset="-122"/>
                <a:cs typeface="Calibri" pitchFamily="34" charset="-120"/>
              </a:rPr>
              <a:t>Repeat E↔M until ΔLL &lt; 10⁻⁶</a:t>
            </a:r>
            <a:endParaRPr lang="en-US" sz="950" dirty="0"/>
          </a:p>
        </p:txBody>
      </p:sp>
      <p:sp>
        <p:nvSpPr>
          <p:cNvPr id="24" name="Shape 22"/>
          <p:cNvSpPr/>
          <p:nvPr/>
        </p:nvSpPr>
        <p:spPr>
          <a:xfrm>
            <a:off x="7653528" y="1115568"/>
            <a:ext cx="658368" cy="658368"/>
          </a:xfrm>
          <a:prstGeom prst="ellipse">
            <a:avLst/>
          </a:prstGeom>
          <a:solidFill>
            <a:srgbClr val="0D9488"/>
          </a:solidFill>
          <a:ln w="12700">
            <a:solidFill>
              <a:srgbClr val="0D9488"/>
            </a:solidFill>
            <a:prstDash val="solid"/>
          </a:ln>
        </p:spPr>
      </p:sp>
      <p:sp>
        <p:nvSpPr>
          <p:cNvPr id="25" name="Text 23"/>
          <p:cNvSpPr/>
          <p:nvPr/>
        </p:nvSpPr>
        <p:spPr>
          <a:xfrm>
            <a:off x="7653528" y="1115568"/>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6" name="Text 24"/>
          <p:cNvSpPr/>
          <p:nvPr/>
        </p:nvSpPr>
        <p:spPr>
          <a:xfrm>
            <a:off x="7178040" y="1901952"/>
            <a:ext cx="1627632" cy="274320"/>
          </a:xfrm>
          <a:prstGeom prst="rect">
            <a:avLst/>
          </a:prstGeom>
          <a:noFill/>
          <a:ln/>
        </p:spPr>
        <p:txBody>
          <a:bodyPr wrap="square" rtlCol="0" anchor="ctr"/>
          <a:lstStyle/>
          <a:p>
            <a:pPr algn="ctr" indent="0" marL="0">
              <a:buNone/>
            </a:pPr>
            <a:r>
              <a:rPr lang="en-US" sz="1150" b="1" dirty="0">
                <a:solidFill>
                  <a:srgbClr val="0B1D35"/>
                </a:solidFill>
                <a:latin typeface="Calibri" pitchFamily="34" charset="0"/>
                <a:ea typeface="Calibri" pitchFamily="34" charset="-122"/>
                <a:cs typeface="Calibri" pitchFamily="34" charset="-120"/>
              </a:rPr>
              <a:t>Erase &amp; repeat</a:t>
            </a:r>
            <a:endParaRPr lang="en-US" sz="1150" dirty="0"/>
          </a:p>
        </p:txBody>
      </p:sp>
      <p:sp>
        <p:nvSpPr>
          <p:cNvPr id="27" name="Text 25"/>
          <p:cNvSpPr/>
          <p:nvPr/>
        </p:nvSpPr>
        <p:spPr>
          <a:xfrm>
            <a:off x="7178040" y="2194560"/>
            <a:ext cx="1627632" cy="640080"/>
          </a:xfrm>
          <a:prstGeom prst="rect">
            <a:avLst/>
          </a:prstGeom>
          <a:noFill/>
          <a:ln/>
        </p:spPr>
        <p:txBody>
          <a:bodyPr wrap="square" rtlCol="0" anchor="ctr"/>
          <a:lstStyle/>
          <a:p>
            <a:pPr algn="ctr" indent="0" marL="0">
              <a:buNone/>
            </a:pPr>
            <a:r>
              <a:rPr lang="en-US" sz="950" dirty="0">
                <a:solidFill>
                  <a:srgbClr val="475569"/>
                </a:solidFill>
                <a:latin typeface="Calibri" pitchFamily="34" charset="0"/>
                <a:ea typeface="Calibri" pitchFamily="34" charset="-122"/>
                <a:cs typeface="Calibri" pitchFamily="34" charset="-120"/>
              </a:rPr>
              <a:t>Mask found sites; discover next motif</a:t>
            </a:r>
            <a:endParaRPr lang="en-US" sz="950" dirty="0"/>
          </a:p>
        </p:txBody>
      </p:sp>
      <p:sp>
        <p:nvSpPr>
          <p:cNvPr id="28" name="Shape 26"/>
          <p:cNvSpPr/>
          <p:nvPr/>
        </p:nvSpPr>
        <p:spPr>
          <a:xfrm>
            <a:off x="457200" y="2944368"/>
            <a:ext cx="4114800" cy="1755648"/>
          </a:xfrm>
          <a:prstGeom prst="rect">
            <a:avLst/>
          </a:prstGeom>
          <a:solidFill>
            <a:srgbClr val="0B1D35"/>
          </a:solidFill>
          <a:ln w="12700">
            <a:solidFill>
              <a:srgbClr val="0B1D35"/>
            </a:solidFill>
            <a:prstDash val="solid"/>
          </a:ln>
          <a:effectLst>
            <a:outerShdw sx="100000" sy="100000" kx="0" ky="0" algn="bl" rotWithShape="0" blurRad="101600" dist="38100" dir="8100000">
              <a:srgbClr val="000000">
                <a:alpha val="12000"/>
              </a:srgbClr>
            </a:outerShdw>
          </a:effectLst>
        </p:spPr>
      </p:sp>
      <p:sp>
        <p:nvSpPr>
          <p:cNvPr id="29" name="Text 27"/>
          <p:cNvSpPr/>
          <p:nvPr/>
        </p:nvSpPr>
        <p:spPr>
          <a:xfrm>
            <a:off x="594360" y="3035808"/>
            <a:ext cx="3840480" cy="292608"/>
          </a:xfrm>
          <a:prstGeom prst="rect">
            <a:avLst/>
          </a:prstGeom>
          <a:noFill/>
          <a:ln/>
        </p:spPr>
        <p:txBody>
          <a:bodyPr wrap="square" rtlCol="0" anchor="ctr"/>
          <a:lstStyle/>
          <a:p>
            <a:pPr indent="0" marL="0">
              <a:buNone/>
            </a:pPr>
            <a:r>
              <a:rPr lang="en-US" sz="1100" b="1" dirty="0">
                <a:solidFill>
                  <a:srgbClr val="14B8A6"/>
                </a:solidFill>
                <a:latin typeface="Calibri" pitchFamily="34" charset="0"/>
                <a:ea typeface="Calibri" pitchFamily="34" charset="-122"/>
                <a:cs typeface="Calibri" pitchFamily="34" charset="-120"/>
              </a:rPr>
              <a:t>PWM Log-Odds Score</a:t>
            </a:r>
            <a:endParaRPr lang="en-US" sz="1100" dirty="0"/>
          </a:p>
        </p:txBody>
      </p:sp>
      <p:sp>
        <p:nvSpPr>
          <p:cNvPr id="30" name="Text 28"/>
          <p:cNvSpPr/>
          <p:nvPr/>
        </p:nvSpPr>
        <p:spPr>
          <a:xfrm>
            <a:off x="594360" y="3364992"/>
            <a:ext cx="3840480" cy="347472"/>
          </a:xfrm>
          <a:prstGeom prst="rect">
            <a:avLst/>
          </a:prstGeom>
          <a:noFill/>
          <a:ln/>
        </p:spPr>
        <p:txBody>
          <a:bodyPr wrap="square" rtlCol="0" anchor="ctr"/>
          <a:lstStyle/>
          <a:p>
            <a:pPr indent="0" marL="0">
              <a:buNone/>
            </a:pPr>
            <a:r>
              <a:rPr lang="en-US" sz="1200" dirty="0">
                <a:solidFill>
                  <a:srgbClr val="FFFFFF"/>
                </a:solidFill>
                <a:latin typeface="Consolas" pitchFamily="34" charset="0"/>
                <a:ea typeface="Consolas" pitchFamily="34" charset="-122"/>
                <a:cs typeface="Consolas" pitchFamily="34" charset="-120"/>
              </a:rPr>
              <a:t>PWM[i][j] = log₂( (f[i][j] + p) / b[j] )</a:t>
            </a:r>
            <a:endParaRPr lang="en-US" sz="1200" dirty="0"/>
          </a:p>
        </p:txBody>
      </p:sp>
      <p:sp>
        <p:nvSpPr>
          <p:cNvPr id="31" name="Text 29"/>
          <p:cNvSpPr/>
          <p:nvPr/>
        </p:nvSpPr>
        <p:spPr>
          <a:xfrm>
            <a:off x="594360" y="3730752"/>
            <a:ext cx="3840480" cy="841248"/>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f[i][j] = frequency of nucleotide j at position i</a:t>
            </a: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p = pseudocount (0.1) for smoothing</a:t>
            </a: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b[j] = background frequency of nucleotide j</a:t>
            </a:r>
            <a:endParaRPr lang="en-US" sz="950" dirty="0"/>
          </a:p>
        </p:txBody>
      </p:sp>
      <p:sp>
        <p:nvSpPr>
          <p:cNvPr id="32" name="Shape 30"/>
          <p:cNvSpPr/>
          <p:nvPr/>
        </p:nvSpPr>
        <p:spPr>
          <a:xfrm>
            <a:off x="4754880" y="2944368"/>
            <a:ext cx="1389888" cy="175564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3" name="Shape 31"/>
          <p:cNvSpPr/>
          <p:nvPr/>
        </p:nvSpPr>
        <p:spPr>
          <a:xfrm>
            <a:off x="4754880" y="2944368"/>
            <a:ext cx="1389888" cy="64008"/>
          </a:xfrm>
          <a:prstGeom prst="rect">
            <a:avLst/>
          </a:prstGeom>
          <a:solidFill>
            <a:srgbClr val="0D9488"/>
          </a:solidFill>
          <a:ln w="12700">
            <a:solidFill>
              <a:srgbClr val="0D9488"/>
            </a:solidFill>
            <a:prstDash val="solid"/>
          </a:ln>
        </p:spPr>
      </p:sp>
      <p:sp>
        <p:nvSpPr>
          <p:cNvPr id="34" name="Text 32"/>
          <p:cNvSpPr/>
          <p:nvPr/>
        </p:nvSpPr>
        <p:spPr>
          <a:xfrm>
            <a:off x="4828032" y="3035808"/>
            <a:ext cx="1243584" cy="292608"/>
          </a:xfrm>
          <a:prstGeom prst="rect">
            <a:avLst/>
          </a:prstGeom>
          <a:noFill/>
          <a:ln/>
        </p:spPr>
        <p:txBody>
          <a:bodyPr wrap="square" rtlCol="0" anchor="ctr"/>
          <a:lstStyle/>
          <a:p>
            <a:pPr indent="0" marL="0">
              <a:buNone/>
            </a:pPr>
            <a:r>
              <a:rPr lang="en-US" sz="1200" b="1" dirty="0">
                <a:solidFill>
                  <a:srgbClr val="0B1D35"/>
                </a:solidFill>
                <a:latin typeface="Calibri" pitchFamily="34" charset="0"/>
                <a:ea typeface="Calibri" pitchFamily="34" charset="-122"/>
                <a:cs typeface="Calibri" pitchFamily="34" charset="-120"/>
              </a:rPr>
              <a:t>OOPS</a:t>
            </a:r>
            <a:endParaRPr lang="en-US" sz="1200" dirty="0"/>
          </a:p>
        </p:txBody>
      </p:sp>
      <p:sp>
        <p:nvSpPr>
          <p:cNvPr id="35" name="Text 33"/>
          <p:cNvSpPr/>
          <p:nvPr/>
        </p:nvSpPr>
        <p:spPr>
          <a:xfrm>
            <a:off x="4828032" y="3364992"/>
            <a:ext cx="1243584" cy="1188720"/>
          </a:xfrm>
          <a:prstGeom prst="rect">
            <a:avLst/>
          </a:prstGeom>
          <a:noFill/>
          <a:ln/>
        </p:spPr>
        <p:txBody>
          <a:bodyPr wrap="square" rtlCol="0" anchor="ctr"/>
          <a:lstStyle/>
          <a:p>
            <a:pPr indent="0" marL="0">
              <a:buNone/>
            </a:pPr>
            <a:r>
              <a:rPr lang="en-US" sz="950" dirty="0">
                <a:solidFill>
                  <a:srgbClr val="475569"/>
                </a:solidFill>
                <a:latin typeface="Calibri" pitchFamily="34" charset="0"/>
                <a:ea typeface="Calibri" pitchFamily="34" charset="-122"/>
                <a:cs typeface="Calibri" pitchFamily="34" charset="-120"/>
              </a:rPr>
              <a:t>Exactly one occurrence</a:t>
            </a:r>
            <a:endParaRPr lang="en-US" sz="950" dirty="0"/>
          </a:p>
          <a:p>
            <a:pPr indent="0" marL="0">
              <a:buNone/>
            </a:pPr>
            <a:r>
              <a:rPr lang="en-US" sz="950" dirty="0">
                <a:solidFill>
                  <a:srgbClr val="475569"/>
                </a:solidFill>
                <a:latin typeface="Calibri" pitchFamily="34" charset="0"/>
                <a:ea typeface="Calibri" pitchFamily="34" charset="-122"/>
                <a:cs typeface="Calibri" pitchFamily="34" charset="-120"/>
              </a:rPr>
              <a:t>per sequence</a:t>
            </a:r>
            <a:endParaRPr lang="en-US" sz="950" dirty="0"/>
          </a:p>
        </p:txBody>
      </p:sp>
      <p:sp>
        <p:nvSpPr>
          <p:cNvPr id="36" name="Shape 34"/>
          <p:cNvSpPr/>
          <p:nvPr/>
        </p:nvSpPr>
        <p:spPr>
          <a:xfrm>
            <a:off x="6236208" y="2944368"/>
            <a:ext cx="1389888" cy="175564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7" name="Shape 35"/>
          <p:cNvSpPr/>
          <p:nvPr/>
        </p:nvSpPr>
        <p:spPr>
          <a:xfrm>
            <a:off x="6236208" y="2944368"/>
            <a:ext cx="1389888" cy="64008"/>
          </a:xfrm>
          <a:prstGeom prst="rect">
            <a:avLst/>
          </a:prstGeom>
          <a:solidFill>
            <a:srgbClr val="F59E0B"/>
          </a:solidFill>
          <a:ln w="12700">
            <a:solidFill>
              <a:srgbClr val="F59E0B"/>
            </a:solidFill>
            <a:prstDash val="solid"/>
          </a:ln>
        </p:spPr>
      </p:sp>
      <p:sp>
        <p:nvSpPr>
          <p:cNvPr id="38" name="Text 36"/>
          <p:cNvSpPr/>
          <p:nvPr/>
        </p:nvSpPr>
        <p:spPr>
          <a:xfrm>
            <a:off x="6309360" y="3035808"/>
            <a:ext cx="1243584" cy="292608"/>
          </a:xfrm>
          <a:prstGeom prst="rect">
            <a:avLst/>
          </a:prstGeom>
          <a:noFill/>
          <a:ln/>
        </p:spPr>
        <p:txBody>
          <a:bodyPr wrap="square"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ZOOPS</a:t>
            </a:r>
            <a:endParaRPr lang="en-US" sz="1200" dirty="0"/>
          </a:p>
        </p:txBody>
      </p:sp>
      <p:sp>
        <p:nvSpPr>
          <p:cNvPr id="39" name="Text 37"/>
          <p:cNvSpPr/>
          <p:nvPr/>
        </p:nvSpPr>
        <p:spPr>
          <a:xfrm>
            <a:off x="6309360" y="3364992"/>
            <a:ext cx="1243584" cy="1188720"/>
          </a:xfrm>
          <a:prstGeom prst="rect">
            <a:avLst/>
          </a:prstGeom>
          <a:noFill/>
          <a:ln/>
        </p:spPr>
        <p:txBody>
          <a:bodyPr wrap="square" rtlCol="0" anchor="ctr"/>
          <a:lstStyle/>
          <a:p>
            <a:pPr indent="0" marL="0">
              <a:buNone/>
            </a:pPr>
            <a:r>
              <a:rPr lang="en-US" sz="950" dirty="0">
                <a:solidFill>
                  <a:srgbClr val="475569"/>
                </a:solidFill>
                <a:latin typeface="Calibri" pitchFamily="34" charset="0"/>
                <a:ea typeface="Calibri" pitchFamily="34" charset="-122"/>
                <a:cs typeface="Calibri" pitchFamily="34" charset="-120"/>
              </a:rPr>
              <a:t>Zero or one occurrence</a:t>
            </a:r>
            <a:endParaRPr lang="en-US" sz="950" dirty="0"/>
          </a:p>
          <a:p>
            <a:pPr indent="0" marL="0">
              <a:buNone/>
            </a:pPr>
            <a:r>
              <a:rPr lang="en-US" sz="950" dirty="0">
                <a:solidFill>
                  <a:srgbClr val="475569"/>
                </a:solidFill>
                <a:latin typeface="Calibri" pitchFamily="34" charset="0"/>
                <a:ea typeface="Calibri" pitchFamily="34" charset="-122"/>
                <a:cs typeface="Calibri" pitchFamily="34" charset="-120"/>
              </a:rPr>
              <a:t>per sequence (more flexible)</a:t>
            </a:r>
            <a:endParaRPr lang="en-US" sz="950" dirty="0"/>
          </a:p>
        </p:txBody>
      </p:sp>
      <p:sp>
        <p:nvSpPr>
          <p:cNvPr id="40" name="Shape 38"/>
          <p:cNvSpPr/>
          <p:nvPr/>
        </p:nvSpPr>
        <p:spPr>
          <a:xfrm>
            <a:off x="7717536" y="2944368"/>
            <a:ext cx="1389888" cy="175564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41" name="Shape 39"/>
          <p:cNvSpPr/>
          <p:nvPr/>
        </p:nvSpPr>
        <p:spPr>
          <a:xfrm>
            <a:off x="7717536" y="2944368"/>
            <a:ext cx="1389888" cy="64008"/>
          </a:xfrm>
          <a:prstGeom prst="rect">
            <a:avLst/>
          </a:prstGeom>
          <a:solidFill>
            <a:srgbClr val="0D9488"/>
          </a:solidFill>
          <a:ln w="12700">
            <a:solidFill>
              <a:srgbClr val="0D9488"/>
            </a:solidFill>
            <a:prstDash val="solid"/>
          </a:ln>
        </p:spPr>
      </p:sp>
      <p:sp>
        <p:nvSpPr>
          <p:cNvPr id="42" name="Text 40"/>
          <p:cNvSpPr/>
          <p:nvPr/>
        </p:nvSpPr>
        <p:spPr>
          <a:xfrm>
            <a:off x="7790688" y="3035808"/>
            <a:ext cx="1243584" cy="292608"/>
          </a:xfrm>
          <a:prstGeom prst="rect">
            <a:avLst/>
          </a:prstGeom>
          <a:noFill/>
          <a:ln/>
        </p:spPr>
        <p:txBody>
          <a:bodyPr wrap="square" rtlCol="0" anchor="ctr"/>
          <a:lstStyle/>
          <a:p>
            <a:pPr indent="0" marL="0">
              <a:buNone/>
            </a:pPr>
            <a:r>
              <a:rPr lang="en-US" sz="1200" b="1" dirty="0">
                <a:solidFill>
                  <a:srgbClr val="0B1D35"/>
                </a:solidFill>
                <a:latin typeface="Calibri" pitchFamily="34" charset="0"/>
                <a:ea typeface="Calibri" pitchFamily="34" charset="-122"/>
                <a:cs typeface="Calibri" pitchFamily="34" charset="-120"/>
              </a:rPr>
              <a:t>TCM</a:t>
            </a:r>
            <a:endParaRPr lang="en-US" sz="1200" dirty="0"/>
          </a:p>
        </p:txBody>
      </p:sp>
      <p:sp>
        <p:nvSpPr>
          <p:cNvPr id="43" name="Text 41"/>
          <p:cNvSpPr/>
          <p:nvPr/>
        </p:nvSpPr>
        <p:spPr>
          <a:xfrm>
            <a:off x="7790688" y="3364992"/>
            <a:ext cx="1243584" cy="1188720"/>
          </a:xfrm>
          <a:prstGeom prst="rect">
            <a:avLst/>
          </a:prstGeom>
          <a:noFill/>
          <a:ln/>
        </p:spPr>
        <p:txBody>
          <a:bodyPr wrap="square" rtlCol="0" anchor="ctr"/>
          <a:lstStyle/>
          <a:p>
            <a:pPr indent="0" marL="0">
              <a:buNone/>
            </a:pPr>
            <a:r>
              <a:rPr lang="en-US" sz="950" dirty="0">
                <a:solidFill>
                  <a:srgbClr val="475569"/>
                </a:solidFill>
                <a:latin typeface="Calibri" pitchFamily="34" charset="0"/>
                <a:ea typeface="Calibri" pitchFamily="34" charset="-122"/>
                <a:cs typeface="Calibri" pitchFamily="34" charset="-120"/>
              </a:rPr>
              <a:t>Any number of occurrences</a:t>
            </a:r>
            <a:endParaRPr lang="en-US" sz="950" dirty="0"/>
          </a:p>
          <a:p>
            <a:pPr indent="0" marL="0">
              <a:buNone/>
            </a:pPr>
            <a:r>
              <a:rPr lang="en-US" sz="950" dirty="0">
                <a:solidFill>
                  <a:srgbClr val="475569"/>
                </a:solidFill>
                <a:latin typeface="Calibri" pitchFamily="34" charset="0"/>
                <a:ea typeface="Calibri" pitchFamily="34" charset="-122"/>
                <a:cs typeface="Calibri" pitchFamily="34" charset="-120"/>
              </a:rPr>
              <a:t>per sequence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9FF"/>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2800" b="1" dirty="0">
                <a:solidFill>
                  <a:srgbClr val="0B1D35"/>
                </a:solidFill>
                <a:latin typeface="Calibri" pitchFamily="34" charset="0"/>
                <a:ea typeface="Calibri" pitchFamily="34" charset="-122"/>
                <a:cs typeface="Calibri" pitchFamily="34" charset="-120"/>
              </a:rPr>
              <a:t>Gibbs Sampling Algorithm</a:t>
            </a:r>
            <a:endParaRPr lang="en-US" sz="2800" dirty="0"/>
          </a:p>
        </p:txBody>
      </p:sp>
      <p:sp>
        <p:nvSpPr>
          <p:cNvPr id="3" name="Text 1"/>
          <p:cNvSpPr/>
          <p:nvPr/>
        </p:nvSpPr>
        <p:spPr>
          <a:xfrm>
            <a:off x="457200" y="704088"/>
            <a:ext cx="8229600" cy="256032"/>
          </a:xfrm>
          <a:prstGeom prst="rect">
            <a:avLst/>
          </a:prstGeom>
          <a:noFill/>
          <a:ln/>
        </p:spPr>
        <p:txBody>
          <a:bodyPr wrap="square"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Lawrence et al. (1993)  ·  Stochastic Bayesian approach — escapes local optima</a:t>
            </a:r>
            <a:endParaRPr lang="en-US" sz="1100" dirty="0"/>
          </a:p>
        </p:txBody>
      </p:sp>
      <p:sp>
        <p:nvSpPr>
          <p:cNvPr id="4" name="Shape 2"/>
          <p:cNvSpPr/>
          <p:nvPr/>
        </p:nvSpPr>
        <p:spPr>
          <a:xfrm>
            <a:off x="457200" y="1207008"/>
            <a:ext cx="566928" cy="566928"/>
          </a:xfrm>
          <a:prstGeom prst="ellipse">
            <a:avLst/>
          </a:prstGeom>
          <a:solidFill>
            <a:srgbClr val="7C3AED"/>
          </a:solidFill>
          <a:ln w="12700">
            <a:solidFill>
              <a:srgbClr val="7C3AED"/>
            </a:solidFill>
            <a:prstDash val="solid"/>
          </a:ln>
        </p:spPr>
      </p:sp>
      <p:sp>
        <p:nvSpPr>
          <p:cNvPr id="5" name="Text 3"/>
          <p:cNvSpPr/>
          <p:nvPr/>
        </p:nvSpPr>
        <p:spPr>
          <a:xfrm>
            <a:off x="457200" y="1207008"/>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70432" y="1115568"/>
            <a:ext cx="2926080" cy="292608"/>
          </a:xfrm>
          <a:prstGeom prst="rect">
            <a:avLst/>
          </a:prstGeom>
          <a:noFill/>
          <a:ln/>
        </p:spPr>
        <p:txBody>
          <a:bodyPr wrap="square" lIns="0" tIns="0" rIns="0" bIns="0" rtlCol="0" anchor="ctr"/>
          <a:lstStyle/>
          <a:p>
            <a:pPr indent="0" marL="0">
              <a:buNone/>
            </a:pPr>
            <a:r>
              <a:rPr lang="en-US" sz="1250" b="1" dirty="0">
                <a:solidFill>
                  <a:srgbClr val="0B1D35"/>
                </a:solidFill>
                <a:latin typeface="Calibri" pitchFamily="34" charset="0"/>
                <a:ea typeface="Calibri" pitchFamily="34" charset="-122"/>
                <a:cs typeface="Calibri" pitchFamily="34" charset="-120"/>
              </a:rPr>
              <a:t>Random Init</a:t>
            </a:r>
            <a:endParaRPr lang="en-US" sz="1250" dirty="0"/>
          </a:p>
        </p:txBody>
      </p:sp>
      <p:sp>
        <p:nvSpPr>
          <p:cNvPr id="7" name="Text 5"/>
          <p:cNvSpPr/>
          <p:nvPr/>
        </p:nvSpPr>
        <p:spPr>
          <a:xfrm>
            <a:off x="1170432" y="1417320"/>
            <a:ext cx="4572000" cy="5029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Randomly assign one start position aᵢ per sequence</a:t>
            </a:r>
            <a:endParaRPr lang="en-US" sz="1100" dirty="0"/>
          </a:p>
        </p:txBody>
      </p:sp>
      <p:sp>
        <p:nvSpPr>
          <p:cNvPr id="8" name="Shape 6"/>
          <p:cNvSpPr/>
          <p:nvPr/>
        </p:nvSpPr>
        <p:spPr>
          <a:xfrm>
            <a:off x="457200" y="2121408"/>
            <a:ext cx="566928" cy="566928"/>
          </a:xfrm>
          <a:prstGeom prst="ellipse">
            <a:avLst/>
          </a:prstGeom>
          <a:solidFill>
            <a:srgbClr val="7C3AED"/>
          </a:solidFill>
          <a:ln w="12700">
            <a:solidFill>
              <a:srgbClr val="7C3AED"/>
            </a:solidFill>
            <a:prstDash val="solid"/>
          </a:ln>
        </p:spPr>
      </p:sp>
      <p:sp>
        <p:nvSpPr>
          <p:cNvPr id="9" name="Text 7"/>
          <p:cNvSpPr/>
          <p:nvPr/>
        </p:nvSpPr>
        <p:spPr>
          <a:xfrm>
            <a:off x="457200" y="2121408"/>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p:nvPr/>
        </p:nvSpPr>
        <p:spPr>
          <a:xfrm>
            <a:off x="1170432" y="2029968"/>
            <a:ext cx="2926080" cy="292608"/>
          </a:xfrm>
          <a:prstGeom prst="rect">
            <a:avLst/>
          </a:prstGeom>
          <a:noFill/>
          <a:ln/>
        </p:spPr>
        <p:txBody>
          <a:bodyPr wrap="square" lIns="0" tIns="0" rIns="0" bIns="0" rtlCol="0" anchor="ctr"/>
          <a:lstStyle/>
          <a:p>
            <a:pPr indent="0" marL="0">
              <a:buNone/>
            </a:pPr>
            <a:r>
              <a:rPr lang="en-US" sz="1250" b="1" dirty="0">
                <a:solidFill>
                  <a:srgbClr val="0B1D35"/>
                </a:solidFill>
                <a:latin typeface="Calibri" pitchFamily="34" charset="0"/>
                <a:ea typeface="Calibri" pitchFamily="34" charset="-122"/>
                <a:cs typeface="Calibri" pitchFamily="34" charset="-120"/>
              </a:rPr>
              <a:t>Leave-One-Out</a:t>
            </a:r>
            <a:endParaRPr lang="en-US" sz="1250" dirty="0"/>
          </a:p>
        </p:txBody>
      </p:sp>
      <p:sp>
        <p:nvSpPr>
          <p:cNvPr id="11" name="Text 9"/>
          <p:cNvSpPr/>
          <p:nvPr/>
        </p:nvSpPr>
        <p:spPr>
          <a:xfrm>
            <a:off x="1170432" y="2331720"/>
            <a:ext cx="4572000" cy="5029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Remove sequence k; rebuild PWM from remaining N-1 sequences</a:t>
            </a:r>
            <a:endParaRPr lang="en-US" sz="1100" dirty="0"/>
          </a:p>
        </p:txBody>
      </p:sp>
      <p:sp>
        <p:nvSpPr>
          <p:cNvPr id="12" name="Shape 10"/>
          <p:cNvSpPr/>
          <p:nvPr/>
        </p:nvSpPr>
        <p:spPr>
          <a:xfrm>
            <a:off x="457200" y="3035808"/>
            <a:ext cx="566928" cy="566928"/>
          </a:xfrm>
          <a:prstGeom prst="ellipse">
            <a:avLst/>
          </a:prstGeom>
          <a:solidFill>
            <a:srgbClr val="7C3AED"/>
          </a:solidFill>
          <a:ln w="12700">
            <a:solidFill>
              <a:srgbClr val="7C3AED"/>
            </a:solidFill>
            <a:prstDash val="solid"/>
          </a:ln>
        </p:spPr>
      </p:sp>
      <p:sp>
        <p:nvSpPr>
          <p:cNvPr id="13" name="Text 11"/>
          <p:cNvSpPr/>
          <p:nvPr/>
        </p:nvSpPr>
        <p:spPr>
          <a:xfrm>
            <a:off x="457200" y="3035808"/>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p:nvPr/>
        </p:nvSpPr>
        <p:spPr>
          <a:xfrm>
            <a:off x="1170432" y="2944368"/>
            <a:ext cx="2926080" cy="292608"/>
          </a:xfrm>
          <a:prstGeom prst="rect">
            <a:avLst/>
          </a:prstGeom>
          <a:noFill/>
          <a:ln/>
        </p:spPr>
        <p:txBody>
          <a:bodyPr wrap="square" lIns="0" tIns="0" rIns="0" bIns="0" rtlCol="0" anchor="ctr"/>
          <a:lstStyle/>
          <a:p>
            <a:pPr indent="0" marL="0">
              <a:buNone/>
            </a:pPr>
            <a:r>
              <a:rPr lang="en-US" sz="1250" b="1" dirty="0">
                <a:solidFill>
                  <a:srgbClr val="0B1D35"/>
                </a:solidFill>
                <a:latin typeface="Calibri" pitchFamily="34" charset="0"/>
                <a:ea typeface="Calibri" pitchFamily="34" charset="-122"/>
                <a:cs typeface="Calibri" pitchFamily="34" charset="-120"/>
              </a:rPr>
              <a:t>Sample</a:t>
            </a:r>
            <a:endParaRPr lang="en-US" sz="1250" dirty="0"/>
          </a:p>
        </p:txBody>
      </p:sp>
      <p:sp>
        <p:nvSpPr>
          <p:cNvPr id="15" name="Text 13"/>
          <p:cNvSpPr/>
          <p:nvPr/>
        </p:nvSpPr>
        <p:spPr>
          <a:xfrm>
            <a:off x="1170432" y="3246120"/>
            <a:ext cx="4572000" cy="5029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Score all windows in sₖ; sample new position from softmax(scores)</a:t>
            </a:r>
            <a:endParaRPr lang="en-US" sz="1100" dirty="0"/>
          </a:p>
        </p:txBody>
      </p:sp>
      <p:sp>
        <p:nvSpPr>
          <p:cNvPr id="16" name="Shape 14"/>
          <p:cNvSpPr/>
          <p:nvPr/>
        </p:nvSpPr>
        <p:spPr>
          <a:xfrm>
            <a:off x="457200" y="3950208"/>
            <a:ext cx="566928" cy="566928"/>
          </a:xfrm>
          <a:prstGeom prst="ellipse">
            <a:avLst/>
          </a:prstGeom>
          <a:solidFill>
            <a:srgbClr val="7C3AED"/>
          </a:solidFill>
          <a:ln w="12700">
            <a:solidFill>
              <a:srgbClr val="7C3AED"/>
            </a:solidFill>
            <a:prstDash val="solid"/>
          </a:ln>
        </p:spPr>
      </p:sp>
      <p:sp>
        <p:nvSpPr>
          <p:cNvPr id="17" name="Text 15"/>
          <p:cNvSpPr/>
          <p:nvPr/>
        </p:nvSpPr>
        <p:spPr>
          <a:xfrm>
            <a:off x="457200" y="3950208"/>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p:nvPr/>
        </p:nvSpPr>
        <p:spPr>
          <a:xfrm>
            <a:off x="1170432" y="3858768"/>
            <a:ext cx="2926080" cy="292608"/>
          </a:xfrm>
          <a:prstGeom prst="rect">
            <a:avLst/>
          </a:prstGeom>
          <a:noFill/>
          <a:ln/>
        </p:spPr>
        <p:txBody>
          <a:bodyPr wrap="square" lIns="0" tIns="0" rIns="0" bIns="0" rtlCol="0" anchor="ctr"/>
          <a:lstStyle/>
          <a:p>
            <a:pPr indent="0" marL="0">
              <a:buNone/>
            </a:pPr>
            <a:r>
              <a:rPr lang="en-US" sz="1250" b="1" dirty="0">
                <a:solidFill>
                  <a:srgbClr val="0B1D35"/>
                </a:solidFill>
                <a:latin typeface="Calibri" pitchFamily="34" charset="0"/>
                <a:ea typeface="Calibri" pitchFamily="34" charset="-122"/>
                <a:cs typeface="Calibri" pitchFamily="34" charset="-120"/>
              </a:rPr>
              <a:t>Iterate</a:t>
            </a:r>
            <a:endParaRPr lang="en-US" sz="1250" dirty="0"/>
          </a:p>
        </p:txBody>
      </p:sp>
      <p:sp>
        <p:nvSpPr>
          <p:cNvPr id="19" name="Text 17"/>
          <p:cNvSpPr/>
          <p:nvPr/>
        </p:nvSpPr>
        <p:spPr>
          <a:xfrm>
            <a:off x="1170432" y="4160520"/>
            <a:ext cx="4572000" cy="5029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Cycle through all sequences; track best alignment score</a:t>
            </a:r>
            <a:endParaRPr lang="en-US" sz="1100" dirty="0"/>
          </a:p>
        </p:txBody>
      </p:sp>
      <p:sp>
        <p:nvSpPr>
          <p:cNvPr id="20" name="Shape 18"/>
          <p:cNvSpPr/>
          <p:nvPr/>
        </p:nvSpPr>
        <p:spPr>
          <a:xfrm>
            <a:off x="5852160" y="1115568"/>
            <a:ext cx="2834640" cy="1371600"/>
          </a:xfrm>
          <a:prstGeom prst="rect">
            <a:avLst/>
          </a:prstGeom>
          <a:solidFill>
            <a:srgbClr val="0B1D35"/>
          </a:solidFill>
          <a:ln w="12700">
            <a:solidFill>
              <a:srgbClr val="0B1D35"/>
            </a:solidFill>
            <a:prstDash val="solid"/>
          </a:ln>
          <a:effectLst>
            <a:outerShdw sx="100000" sy="100000" kx="0" ky="0" algn="bl" rotWithShape="0" blurRad="101600" dist="38100" dir="8100000">
              <a:srgbClr val="000000">
                <a:alpha val="12000"/>
              </a:srgbClr>
            </a:outerShdw>
          </a:effectLst>
        </p:spPr>
      </p:sp>
      <p:sp>
        <p:nvSpPr>
          <p:cNvPr id="21" name="Text 19"/>
          <p:cNvSpPr/>
          <p:nvPr/>
        </p:nvSpPr>
        <p:spPr>
          <a:xfrm>
            <a:off x="5989320" y="1188720"/>
            <a:ext cx="2560320" cy="274320"/>
          </a:xfrm>
          <a:prstGeom prst="rect">
            <a:avLst/>
          </a:prstGeom>
          <a:noFill/>
          <a:ln/>
        </p:spPr>
        <p:txBody>
          <a:bodyPr wrap="square" rtlCol="0" anchor="ctr"/>
          <a:lstStyle/>
          <a:p>
            <a:pPr indent="0" marL="0">
              <a:buNone/>
            </a:pPr>
            <a:r>
              <a:rPr lang="en-US" sz="1050" b="1" dirty="0">
                <a:solidFill>
                  <a:srgbClr val="14B8A6"/>
                </a:solidFill>
                <a:latin typeface="Calibri" pitchFamily="34" charset="0"/>
                <a:ea typeface="Calibri" pitchFamily="34" charset="-122"/>
                <a:cs typeface="Calibri" pitchFamily="34" charset="-120"/>
              </a:rPr>
              <a:t>Sampling Rule</a:t>
            </a:r>
            <a:endParaRPr lang="en-US" sz="1050" dirty="0"/>
          </a:p>
        </p:txBody>
      </p:sp>
      <p:sp>
        <p:nvSpPr>
          <p:cNvPr id="22" name="Text 20"/>
          <p:cNvSpPr/>
          <p:nvPr/>
        </p:nvSpPr>
        <p:spPr>
          <a:xfrm>
            <a:off x="5989320" y="1508760"/>
            <a:ext cx="2560320" cy="685800"/>
          </a:xfrm>
          <a:prstGeom prst="rect">
            <a:avLst/>
          </a:prstGeom>
          <a:noFill/>
          <a:ln/>
        </p:spPr>
        <p:txBody>
          <a:bodyPr wrap="square"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P(aₖ = j) ∝ exp(Σₚ log PWM[p][sₖ[j+p]] - log b[sₖ[j+p]])</a:t>
            </a:r>
            <a:endParaRPr lang="en-US" sz="1000" dirty="0"/>
          </a:p>
        </p:txBody>
      </p:sp>
      <p:sp>
        <p:nvSpPr>
          <p:cNvPr id="23" name="Shape 21"/>
          <p:cNvSpPr/>
          <p:nvPr/>
        </p:nvSpPr>
        <p:spPr>
          <a:xfrm>
            <a:off x="5852160" y="2670048"/>
            <a:ext cx="2834640" cy="1115568"/>
          </a:xfrm>
          <a:prstGeom prst="rect">
            <a:avLst/>
          </a:prstGeom>
          <a:solidFill>
            <a:srgbClr val="F0FDF4"/>
          </a:solidFill>
          <a:ln w="12700">
            <a:solidFill>
              <a:srgbClr val="22C55E"/>
            </a:solidFill>
            <a:prstDash val="solid"/>
          </a:ln>
          <a:effectLst>
            <a:outerShdw sx="100000" sy="100000" kx="0" ky="0" algn="bl" rotWithShape="0" blurRad="101600" dist="38100" dir="8100000">
              <a:srgbClr val="000000">
                <a:alpha val="12000"/>
              </a:srgbClr>
            </a:outerShdw>
          </a:effectLst>
        </p:spPr>
      </p:sp>
      <p:sp>
        <p:nvSpPr>
          <p:cNvPr id="24" name="Text 22"/>
          <p:cNvSpPr/>
          <p:nvPr/>
        </p:nvSpPr>
        <p:spPr>
          <a:xfrm>
            <a:off x="5989320" y="2743200"/>
            <a:ext cx="2560320" cy="274320"/>
          </a:xfrm>
          <a:prstGeom prst="rect">
            <a:avLst/>
          </a:prstGeom>
          <a:noFill/>
          <a:ln/>
        </p:spPr>
        <p:txBody>
          <a:bodyPr wrap="square" rtlCol="0" anchor="ctr"/>
          <a:lstStyle/>
          <a:p>
            <a:pPr indent="0" marL="0">
              <a:buNone/>
            </a:pPr>
            <a:r>
              <a:rPr lang="en-US" sz="1100" b="1" dirty="0">
                <a:solidFill>
                  <a:srgbClr val="22C55E"/>
                </a:solidFill>
                <a:latin typeface="Calibri" pitchFamily="34" charset="0"/>
                <a:ea typeface="Calibri" pitchFamily="34" charset="-122"/>
                <a:cs typeface="Calibri" pitchFamily="34" charset="-120"/>
              </a:rPr>
              <a:t>Advantages</a:t>
            </a:r>
            <a:endParaRPr lang="en-US" sz="1100" dirty="0"/>
          </a:p>
        </p:txBody>
      </p:sp>
      <p:sp>
        <p:nvSpPr>
          <p:cNvPr id="25" name="Text 23"/>
          <p:cNvSpPr/>
          <p:nvPr/>
        </p:nvSpPr>
        <p:spPr>
          <a:xfrm>
            <a:off x="5989320" y="3054096"/>
            <a:ext cx="2560320" cy="640080"/>
          </a:xfrm>
          <a:prstGeom prst="rect">
            <a:avLst/>
          </a:prstGeom>
          <a:noFill/>
          <a:ln/>
        </p:spPr>
        <p:txBody>
          <a:bodyPr wrap="square" rtlCol="0" anchor="ctr"/>
          <a:lstStyle/>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Fast convergence</a:t>
            </a:r>
            <a:endParaRPr lang="en-US" sz="1000" dirty="0"/>
          </a:p>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Escapes local optima via stochastic sampling</a:t>
            </a:r>
            <a:endParaRPr lang="en-US" sz="1000" dirty="0"/>
          </a:p>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Good for long sequences</a:t>
            </a:r>
            <a:endParaRPr lang="en-US" sz="1000" dirty="0"/>
          </a:p>
        </p:txBody>
      </p:sp>
      <p:sp>
        <p:nvSpPr>
          <p:cNvPr id="26" name="Shape 24"/>
          <p:cNvSpPr/>
          <p:nvPr/>
        </p:nvSpPr>
        <p:spPr>
          <a:xfrm>
            <a:off x="5852160" y="3904488"/>
            <a:ext cx="2834640" cy="1115568"/>
          </a:xfrm>
          <a:prstGeom prst="rect">
            <a:avLst/>
          </a:prstGeom>
          <a:solidFill>
            <a:srgbClr val="FFF1F2"/>
          </a:solidFill>
          <a:ln w="12700">
            <a:solidFill>
              <a:srgbClr val="EF4444"/>
            </a:solidFill>
            <a:prstDash val="solid"/>
          </a:ln>
          <a:effectLst>
            <a:outerShdw sx="100000" sy="100000" kx="0" ky="0" algn="bl" rotWithShape="0" blurRad="101600" dist="38100" dir="8100000">
              <a:srgbClr val="000000">
                <a:alpha val="12000"/>
              </a:srgbClr>
            </a:outerShdw>
          </a:effectLst>
        </p:spPr>
      </p:sp>
      <p:sp>
        <p:nvSpPr>
          <p:cNvPr id="27" name="Text 25"/>
          <p:cNvSpPr/>
          <p:nvPr/>
        </p:nvSpPr>
        <p:spPr>
          <a:xfrm>
            <a:off x="5989320" y="3977640"/>
            <a:ext cx="2560320" cy="274320"/>
          </a:xfrm>
          <a:prstGeom prst="rect">
            <a:avLst/>
          </a:prstGeom>
          <a:noFill/>
          <a:ln/>
        </p:spPr>
        <p:txBody>
          <a:bodyPr wrap="square" rtlCol="0" anchor="ctr"/>
          <a:lstStyle/>
          <a:p>
            <a:pPr indent="0" marL="0">
              <a:buNone/>
            </a:pPr>
            <a:r>
              <a:rPr lang="en-US" sz="1100" b="1" dirty="0">
                <a:solidFill>
                  <a:srgbClr val="EF4444"/>
                </a:solidFill>
                <a:latin typeface="Calibri" pitchFamily="34" charset="0"/>
                <a:ea typeface="Calibri" pitchFamily="34" charset="-122"/>
                <a:cs typeface="Calibri" pitchFamily="34" charset="-120"/>
              </a:rPr>
              <a:t>Limitations</a:t>
            </a:r>
            <a:endParaRPr lang="en-US" sz="1100" dirty="0"/>
          </a:p>
        </p:txBody>
      </p:sp>
      <p:sp>
        <p:nvSpPr>
          <p:cNvPr id="28" name="Text 26"/>
          <p:cNvSpPr/>
          <p:nvPr/>
        </p:nvSpPr>
        <p:spPr>
          <a:xfrm>
            <a:off x="5989320" y="4288536"/>
            <a:ext cx="2560320" cy="640080"/>
          </a:xfrm>
          <a:prstGeom prst="rect">
            <a:avLst/>
          </a:prstGeom>
          <a:noFill/>
          <a:ln/>
        </p:spPr>
        <p:txBody>
          <a:bodyPr wrap="square" rtlCol="0" anchor="ctr"/>
          <a:lstStyle/>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Sensitive to initialisation</a:t>
            </a:r>
            <a:endParaRPr lang="en-US" sz="1000" dirty="0"/>
          </a:p>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No guaranteed convergence</a:t>
            </a:r>
            <a:endParaRPr lang="en-US" sz="1000" dirty="0"/>
          </a:p>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Requires 3–5 restarts</a:t>
            </a:r>
            <a:endParaRPr lang="en-US" sz="1000" dirty="0"/>
          </a:p>
        </p:txBody>
      </p:sp>
      <p:sp>
        <p:nvSpPr>
          <p:cNvPr id="29" name="Shape 27"/>
          <p:cNvSpPr/>
          <p:nvPr/>
        </p:nvSpPr>
        <p:spPr>
          <a:xfrm>
            <a:off x="457200" y="4736592"/>
            <a:ext cx="5212080" cy="0"/>
          </a:xfrm>
          <a:prstGeom prst="rect">
            <a:avLst/>
          </a:prstGeom>
          <a:solidFill>
            <a:srgbClr val="F0F9FF">
              <a:alpha val="0"/>
            </a:srgbClr>
          </a:solidFill>
          <a:ln w="12700">
            <a:solidFill>
              <a:srgbClr val="000000"/>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D35"/>
        </a:solidFill>
      </p:bgPr>
    </p:bg>
    <p:spTree>
      <p:nvGrpSpPr>
        <p:cNvPr id="1" name=""/>
        <p:cNvGrpSpPr/>
        <p:nvPr/>
      </p:nvGrpSpPr>
      <p:grpSpPr>
        <a:xfrm>
          <a:off x="0" y="0"/>
          <a:ext cx="0" cy="0"/>
          <a:chOff x="0" y="0"/>
          <a:chExt cx="0" cy="0"/>
        </a:xfrm>
      </p:grpSpPr>
      <p:sp>
        <p:nvSpPr>
          <p:cNvPr id="2" name="Shape 0"/>
          <p:cNvSpPr/>
          <p:nvPr/>
        </p:nvSpPr>
        <p:spPr>
          <a:xfrm>
            <a:off x="0" y="1920240"/>
            <a:ext cx="9144000" cy="1371600"/>
          </a:xfrm>
          <a:prstGeom prst="rect">
            <a:avLst/>
          </a:prstGeom>
          <a:solidFill>
            <a:srgbClr val="122744"/>
          </a:solidFill>
          <a:ln w="12700">
            <a:solidFill>
              <a:srgbClr val="122744"/>
            </a:solidFill>
            <a:prstDash val="solid"/>
          </a:ln>
        </p:spPr>
      </p:sp>
      <p:sp>
        <p:nvSpPr>
          <p:cNvPr id="3" name="Text 1"/>
          <p:cNvSpPr/>
          <p:nvPr/>
        </p:nvSpPr>
        <p:spPr>
          <a:xfrm>
            <a:off x="457200" y="274320"/>
            <a:ext cx="8229600" cy="1554480"/>
          </a:xfrm>
          <a:prstGeom prst="rect">
            <a:avLst/>
          </a:prstGeom>
          <a:noFill/>
          <a:ln/>
        </p:spPr>
        <p:txBody>
          <a:bodyPr wrap="square" rtlCol="0" anchor="ctr"/>
          <a:lstStyle/>
          <a:p>
            <a:pPr algn="ctr" indent="0" marL="0">
              <a:buNone/>
            </a:pPr>
            <a:r>
              <a:rPr lang="en-US" sz="9600" b="1" dirty="0">
                <a:solidFill>
                  <a:srgbClr val="7C3AED">
                    <a:alpha val="80000"/>
                  </a:srgbClr>
                </a:solidFill>
                <a:latin typeface="Calibri" pitchFamily="34" charset="0"/>
                <a:ea typeface="Calibri" pitchFamily="34" charset="-122"/>
                <a:cs typeface="Calibri" pitchFamily="34" charset="-120"/>
              </a:rPr>
              <a:t>03</a:t>
            </a:r>
            <a:endParaRPr lang="en-US" sz="9600" dirty="0"/>
          </a:p>
        </p:txBody>
      </p:sp>
      <p:sp>
        <p:nvSpPr>
          <p:cNvPr id="4" name="Text 2"/>
          <p:cNvSpPr/>
          <p:nvPr/>
        </p:nvSpPr>
        <p:spPr>
          <a:xfrm>
            <a:off x="457200" y="2029968"/>
            <a:ext cx="8229600" cy="59436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Datasets &amp; Methodology</a:t>
            </a:r>
            <a:endParaRPr lang="en-US" sz="2800" dirty="0"/>
          </a:p>
        </p:txBody>
      </p:sp>
      <p:sp>
        <p:nvSpPr>
          <p:cNvPr id="5" name="Text 3"/>
          <p:cNvSpPr/>
          <p:nvPr/>
        </p:nvSpPr>
        <p:spPr>
          <a:xfrm>
            <a:off x="457200" y="2697480"/>
            <a:ext cx="8229600" cy="347472"/>
          </a:xfrm>
          <a:prstGeom prst="rect">
            <a:avLst/>
          </a:prstGeom>
          <a:noFill/>
          <a:ln/>
        </p:spPr>
        <p:txBody>
          <a:bodyPr wrap="square" rtlCol="0" anchor="ctr"/>
          <a:lstStyle/>
          <a:p>
            <a:pPr algn="ctr" indent="0" marL="0">
              <a:buNone/>
            </a:pPr>
            <a:r>
              <a:rPr lang="en-US" sz="1300" i="1" dirty="0">
                <a:solidFill>
                  <a:srgbClr val="14B8A6"/>
                </a:solidFill>
                <a:latin typeface="Calibri" pitchFamily="34" charset="0"/>
                <a:ea typeface="Calibri" pitchFamily="34" charset="-122"/>
                <a:cs typeface="Calibri" pitchFamily="34" charset="-120"/>
              </a:rPr>
              <a:t>22 real JASPAR matrices · 4 organisms · 5 experiment types · live API fetch</a:t>
            </a:r>
            <a:endParaRPr lang="en-US" sz="1300" dirty="0"/>
          </a:p>
        </p:txBody>
      </p:sp>
      <p:pic>
        <p:nvPicPr>
          <p:cNvPr id="6" name="Image 0" descr="preencoded.png">    </p:cNvPr>
          <p:cNvPicPr>
            <a:picLocks noChangeAspect="1"/>
          </p:cNvPicPr>
          <p:nvPr/>
        </p:nvPicPr>
        <p:blipFill>
          <a:blip r:embed="rId1"/>
          <a:stretch>
            <a:fillRect/>
          </a:stretch>
        </p:blipFill>
        <p:spPr>
          <a:xfrm>
            <a:off x="4160520" y="3383280"/>
            <a:ext cx="731520" cy="7315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9FF"/>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2800" b="1" dirty="0">
                <a:solidFill>
                  <a:srgbClr val="0B1D35"/>
                </a:solidFill>
                <a:latin typeface="Calibri" pitchFamily="34" charset="0"/>
                <a:ea typeface="Calibri" pitchFamily="34" charset="-122"/>
                <a:cs typeface="Calibri" pitchFamily="34" charset="-120"/>
              </a:rPr>
              <a:t>Real Datasets — JASPAR CORE (Live API)</a:t>
            </a:r>
            <a:endParaRPr lang="en-US" sz="2800" dirty="0"/>
          </a:p>
        </p:txBody>
      </p:sp>
      <p:sp>
        <p:nvSpPr>
          <p:cNvPr id="3" name="Shape 1"/>
          <p:cNvSpPr/>
          <p:nvPr/>
        </p:nvSpPr>
        <p:spPr>
          <a:xfrm>
            <a:off x="457200" y="804672"/>
            <a:ext cx="1554480" cy="8686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4" name="Shape 2"/>
          <p:cNvSpPr/>
          <p:nvPr/>
        </p:nvSpPr>
        <p:spPr>
          <a:xfrm>
            <a:off x="457200" y="804672"/>
            <a:ext cx="1554480" cy="64008"/>
          </a:xfrm>
          <a:prstGeom prst="rect">
            <a:avLst/>
          </a:prstGeom>
          <a:solidFill>
            <a:srgbClr val="0D9488"/>
          </a:solidFill>
          <a:ln w="12700">
            <a:solidFill>
              <a:srgbClr val="0D9488"/>
            </a:solidFill>
            <a:prstDash val="solid"/>
          </a:ln>
        </p:spPr>
      </p:sp>
      <p:sp>
        <p:nvSpPr>
          <p:cNvPr id="5" name="Text 3"/>
          <p:cNvSpPr/>
          <p:nvPr/>
        </p:nvSpPr>
        <p:spPr>
          <a:xfrm>
            <a:off x="457200" y="877824"/>
            <a:ext cx="1554480" cy="411480"/>
          </a:xfrm>
          <a:prstGeom prst="rect">
            <a:avLst/>
          </a:prstGeom>
          <a:noFill/>
          <a:ln/>
        </p:spPr>
        <p:txBody>
          <a:bodyPr wrap="square" rtlCol="0" anchor="ctr"/>
          <a:lstStyle/>
          <a:p>
            <a:pPr algn="ctr" indent="0" marL="0">
              <a:buNone/>
            </a:pPr>
            <a:r>
              <a:rPr lang="en-US" sz="2600" b="1" dirty="0">
                <a:solidFill>
                  <a:srgbClr val="0D9488"/>
                </a:solidFill>
                <a:latin typeface="Calibri" pitchFamily="34" charset="0"/>
                <a:ea typeface="Calibri" pitchFamily="34" charset="-122"/>
                <a:cs typeface="Calibri" pitchFamily="34" charset="-120"/>
              </a:rPr>
              <a:t>22</a:t>
            </a:r>
            <a:endParaRPr lang="en-US" sz="2600" dirty="0"/>
          </a:p>
        </p:txBody>
      </p:sp>
      <p:sp>
        <p:nvSpPr>
          <p:cNvPr id="6" name="Text 4"/>
          <p:cNvSpPr/>
          <p:nvPr/>
        </p:nvSpPr>
        <p:spPr>
          <a:xfrm>
            <a:off x="457200" y="1298448"/>
            <a:ext cx="1554480" cy="274320"/>
          </a:xfrm>
          <a:prstGeom prst="rect">
            <a:avLst/>
          </a:prstGeom>
          <a:noFill/>
          <a:ln/>
        </p:spPr>
        <p:txBody>
          <a:bodyPr wrap="square" rtlCol="0" anchor="ctr"/>
          <a:lstStyle/>
          <a:p>
            <a:pPr algn="ctr" indent="0" marL="0">
              <a:buNone/>
            </a:pPr>
            <a:r>
              <a:rPr lang="en-US" sz="850" dirty="0">
                <a:solidFill>
                  <a:srgbClr val="475569"/>
                </a:solidFill>
                <a:latin typeface="Calibri" pitchFamily="34" charset="0"/>
                <a:ea typeface="Calibri" pitchFamily="34" charset="-122"/>
                <a:cs typeface="Calibri" pitchFamily="34" charset="-120"/>
              </a:rPr>
              <a:t>TF Matrices</a:t>
            </a:r>
            <a:endParaRPr lang="en-US" sz="850" dirty="0"/>
          </a:p>
        </p:txBody>
      </p:sp>
      <p:sp>
        <p:nvSpPr>
          <p:cNvPr id="7" name="Shape 5"/>
          <p:cNvSpPr/>
          <p:nvPr/>
        </p:nvSpPr>
        <p:spPr>
          <a:xfrm>
            <a:off x="2121408" y="804672"/>
            <a:ext cx="1554480" cy="8686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8" name="Shape 6"/>
          <p:cNvSpPr/>
          <p:nvPr/>
        </p:nvSpPr>
        <p:spPr>
          <a:xfrm>
            <a:off x="2121408" y="804672"/>
            <a:ext cx="1554480" cy="64008"/>
          </a:xfrm>
          <a:prstGeom prst="rect">
            <a:avLst/>
          </a:prstGeom>
          <a:solidFill>
            <a:srgbClr val="7C3AED"/>
          </a:solidFill>
          <a:ln w="12700">
            <a:solidFill>
              <a:srgbClr val="7C3AED"/>
            </a:solidFill>
            <a:prstDash val="solid"/>
          </a:ln>
        </p:spPr>
      </p:sp>
      <p:sp>
        <p:nvSpPr>
          <p:cNvPr id="9" name="Text 7"/>
          <p:cNvSpPr/>
          <p:nvPr/>
        </p:nvSpPr>
        <p:spPr>
          <a:xfrm>
            <a:off x="2121408" y="877824"/>
            <a:ext cx="1554480" cy="411480"/>
          </a:xfrm>
          <a:prstGeom prst="rect">
            <a:avLst/>
          </a:prstGeom>
          <a:noFill/>
          <a:ln/>
        </p:spPr>
        <p:txBody>
          <a:bodyPr wrap="square" rtlCol="0" anchor="ctr"/>
          <a:lstStyle/>
          <a:p>
            <a:pPr algn="ctr" indent="0" marL="0">
              <a:buNone/>
            </a:pPr>
            <a:r>
              <a:rPr lang="en-US" sz="2600" b="1" dirty="0">
                <a:solidFill>
                  <a:srgbClr val="7C3AED"/>
                </a:solidFill>
                <a:latin typeface="Calibri" pitchFamily="34" charset="0"/>
                <a:ea typeface="Calibri" pitchFamily="34" charset="-122"/>
                <a:cs typeface="Calibri" pitchFamily="34" charset="-120"/>
              </a:rPr>
              <a:t>4</a:t>
            </a:r>
            <a:endParaRPr lang="en-US" sz="2600" dirty="0"/>
          </a:p>
        </p:txBody>
      </p:sp>
      <p:sp>
        <p:nvSpPr>
          <p:cNvPr id="10" name="Text 8"/>
          <p:cNvSpPr/>
          <p:nvPr/>
        </p:nvSpPr>
        <p:spPr>
          <a:xfrm>
            <a:off x="2121408" y="1298448"/>
            <a:ext cx="1554480" cy="274320"/>
          </a:xfrm>
          <a:prstGeom prst="rect">
            <a:avLst/>
          </a:prstGeom>
          <a:noFill/>
          <a:ln/>
        </p:spPr>
        <p:txBody>
          <a:bodyPr wrap="square" rtlCol="0" anchor="ctr"/>
          <a:lstStyle/>
          <a:p>
            <a:pPr algn="ctr" indent="0" marL="0">
              <a:buNone/>
            </a:pPr>
            <a:r>
              <a:rPr lang="en-US" sz="850" dirty="0">
                <a:solidFill>
                  <a:srgbClr val="475569"/>
                </a:solidFill>
                <a:latin typeface="Calibri" pitchFamily="34" charset="0"/>
                <a:ea typeface="Calibri" pitchFamily="34" charset="-122"/>
                <a:cs typeface="Calibri" pitchFamily="34" charset="-120"/>
              </a:rPr>
              <a:t>Organisms</a:t>
            </a:r>
            <a:endParaRPr lang="en-US" sz="850" dirty="0"/>
          </a:p>
        </p:txBody>
      </p:sp>
      <p:sp>
        <p:nvSpPr>
          <p:cNvPr id="11" name="Shape 9"/>
          <p:cNvSpPr/>
          <p:nvPr/>
        </p:nvSpPr>
        <p:spPr>
          <a:xfrm>
            <a:off x="3785616" y="804672"/>
            <a:ext cx="1554480" cy="8686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3785616" y="804672"/>
            <a:ext cx="1554480" cy="64008"/>
          </a:xfrm>
          <a:prstGeom prst="rect">
            <a:avLst/>
          </a:prstGeom>
          <a:solidFill>
            <a:srgbClr val="F59E0B"/>
          </a:solidFill>
          <a:ln w="12700">
            <a:solidFill>
              <a:srgbClr val="F59E0B"/>
            </a:solidFill>
            <a:prstDash val="solid"/>
          </a:ln>
        </p:spPr>
      </p:sp>
      <p:sp>
        <p:nvSpPr>
          <p:cNvPr id="13" name="Text 11"/>
          <p:cNvSpPr/>
          <p:nvPr/>
        </p:nvSpPr>
        <p:spPr>
          <a:xfrm>
            <a:off x="3785616" y="877824"/>
            <a:ext cx="1554480" cy="411480"/>
          </a:xfrm>
          <a:prstGeom prst="rect">
            <a:avLst/>
          </a:prstGeom>
          <a:noFill/>
          <a:ln/>
        </p:spPr>
        <p:txBody>
          <a:bodyPr wrap="square" rtlCol="0" anchor="ctr"/>
          <a:lstStyle/>
          <a:p>
            <a:pPr algn="ctr" indent="0" marL="0">
              <a:buNone/>
            </a:pPr>
            <a:r>
              <a:rPr lang="en-US" sz="2600" b="1" dirty="0">
                <a:solidFill>
                  <a:srgbClr val="F59E0B"/>
                </a:solidFill>
                <a:latin typeface="Calibri" pitchFamily="34" charset="0"/>
                <a:ea typeface="Calibri" pitchFamily="34" charset="-122"/>
                <a:cs typeface="Calibri" pitchFamily="34" charset="-120"/>
              </a:rPr>
              <a:t>5</a:t>
            </a:r>
            <a:endParaRPr lang="en-US" sz="2600" dirty="0"/>
          </a:p>
        </p:txBody>
      </p:sp>
      <p:sp>
        <p:nvSpPr>
          <p:cNvPr id="14" name="Text 12"/>
          <p:cNvSpPr/>
          <p:nvPr/>
        </p:nvSpPr>
        <p:spPr>
          <a:xfrm>
            <a:off x="3785616" y="1298448"/>
            <a:ext cx="1554480" cy="274320"/>
          </a:xfrm>
          <a:prstGeom prst="rect">
            <a:avLst/>
          </a:prstGeom>
          <a:noFill/>
          <a:ln/>
        </p:spPr>
        <p:txBody>
          <a:bodyPr wrap="square" rtlCol="0" anchor="ctr"/>
          <a:lstStyle/>
          <a:p>
            <a:pPr algn="ctr" indent="0" marL="0">
              <a:buNone/>
            </a:pPr>
            <a:r>
              <a:rPr lang="en-US" sz="850" dirty="0">
                <a:solidFill>
                  <a:srgbClr val="475569"/>
                </a:solidFill>
                <a:latin typeface="Calibri" pitchFamily="34" charset="0"/>
                <a:ea typeface="Calibri" pitchFamily="34" charset="-122"/>
                <a:cs typeface="Calibri" pitchFamily="34" charset="-120"/>
              </a:rPr>
              <a:t>Experiment Types</a:t>
            </a:r>
            <a:endParaRPr lang="en-US" sz="850" dirty="0"/>
          </a:p>
        </p:txBody>
      </p:sp>
      <p:sp>
        <p:nvSpPr>
          <p:cNvPr id="15" name="Shape 13"/>
          <p:cNvSpPr/>
          <p:nvPr/>
        </p:nvSpPr>
        <p:spPr>
          <a:xfrm>
            <a:off x="5449824" y="804672"/>
            <a:ext cx="1554480" cy="8686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5449824" y="804672"/>
            <a:ext cx="1554480" cy="64008"/>
          </a:xfrm>
          <a:prstGeom prst="rect">
            <a:avLst/>
          </a:prstGeom>
          <a:solidFill>
            <a:srgbClr val="22C55E"/>
          </a:solidFill>
          <a:ln w="12700">
            <a:solidFill>
              <a:srgbClr val="22C55E"/>
            </a:solidFill>
            <a:prstDash val="solid"/>
          </a:ln>
        </p:spPr>
      </p:sp>
      <p:sp>
        <p:nvSpPr>
          <p:cNvPr id="17" name="Text 15"/>
          <p:cNvSpPr/>
          <p:nvPr/>
        </p:nvSpPr>
        <p:spPr>
          <a:xfrm>
            <a:off x="5449824" y="877824"/>
            <a:ext cx="1554480" cy="411480"/>
          </a:xfrm>
          <a:prstGeom prst="rect">
            <a:avLst/>
          </a:prstGeom>
          <a:noFill/>
          <a:ln/>
        </p:spPr>
        <p:txBody>
          <a:bodyPr wrap="square" rtlCol="0" anchor="ctr"/>
          <a:lstStyle/>
          <a:p>
            <a:pPr algn="ctr" indent="0" marL="0">
              <a:buNone/>
            </a:pPr>
            <a:r>
              <a:rPr lang="en-US" sz="2600" b="1" dirty="0">
                <a:solidFill>
                  <a:srgbClr val="22C55E"/>
                </a:solidFill>
                <a:latin typeface="Calibri" pitchFamily="34" charset="0"/>
                <a:ea typeface="Calibri" pitchFamily="34" charset="-122"/>
                <a:cs typeface="Calibri" pitchFamily="34" charset="-120"/>
              </a:rPr>
              <a:t>660+</a:t>
            </a:r>
            <a:endParaRPr lang="en-US" sz="2600" dirty="0"/>
          </a:p>
        </p:txBody>
      </p:sp>
      <p:sp>
        <p:nvSpPr>
          <p:cNvPr id="18" name="Text 16"/>
          <p:cNvSpPr/>
          <p:nvPr/>
        </p:nvSpPr>
        <p:spPr>
          <a:xfrm>
            <a:off x="5449824" y="1298448"/>
            <a:ext cx="1554480" cy="274320"/>
          </a:xfrm>
          <a:prstGeom prst="rect">
            <a:avLst/>
          </a:prstGeom>
          <a:noFill/>
          <a:ln/>
        </p:spPr>
        <p:txBody>
          <a:bodyPr wrap="square" rtlCol="0" anchor="ctr"/>
          <a:lstStyle/>
          <a:p>
            <a:pPr algn="ctr" indent="0" marL="0">
              <a:buNone/>
            </a:pPr>
            <a:r>
              <a:rPr lang="en-US" sz="850" dirty="0">
                <a:solidFill>
                  <a:srgbClr val="475569"/>
                </a:solidFill>
                <a:latin typeface="Calibri" pitchFamily="34" charset="0"/>
                <a:ea typeface="Calibri" pitchFamily="34" charset="-122"/>
                <a:cs typeface="Calibri" pitchFamily="34" charset="-120"/>
              </a:rPr>
              <a:t>Sequences</a:t>
            </a:r>
            <a:endParaRPr lang="en-US" sz="850" dirty="0"/>
          </a:p>
        </p:txBody>
      </p:sp>
      <p:sp>
        <p:nvSpPr>
          <p:cNvPr id="19" name="Shape 17"/>
          <p:cNvSpPr/>
          <p:nvPr/>
        </p:nvSpPr>
        <p:spPr>
          <a:xfrm>
            <a:off x="7114032" y="804672"/>
            <a:ext cx="1554480" cy="8686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7114032" y="804672"/>
            <a:ext cx="1554480" cy="64008"/>
          </a:xfrm>
          <a:prstGeom prst="rect">
            <a:avLst/>
          </a:prstGeom>
          <a:solidFill>
            <a:srgbClr val="1D4ED8"/>
          </a:solidFill>
          <a:ln w="12700">
            <a:solidFill>
              <a:srgbClr val="1D4ED8"/>
            </a:solidFill>
            <a:prstDash val="solid"/>
          </a:ln>
        </p:spPr>
      </p:sp>
      <p:sp>
        <p:nvSpPr>
          <p:cNvPr id="21" name="Text 19"/>
          <p:cNvSpPr/>
          <p:nvPr/>
        </p:nvSpPr>
        <p:spPr>
          <a:xfrm>
            <a:off x="7114032" y="877824"/>
            <a:ext cx="1554480" cy="411480"/>
          </a:xfrm>
          <a:prstGeom prst="rect">
            <a:avLst/>
          </a:prstGeom>
          <a:noFill/>
          <a:ln/>
        </p:spPr>
        <p:txBody>
          <a:bodyPr wrap="square" rtlCol="0" anchor="ctr"/>
          <a:lstStyle/>
          <a:p>
            <a:pPr algn="ctr" indent="0" marL="0">
              <a:buNone/>
            </a:pPr>
            <a:r>
              <a:rPr lang="en-US" sz="2600" b="1" dirty="0">
                <a:solidFill>
                  <a:srgbClr val="1D4ED8"/>
                </a:solidFill>
                <a:latin typeface="Calibri" pitchFamily="34" charset="0"/>
                <a:ea typeface="Calibri" pitchFamily="34" charset="-122"/>
                <a:cs typeface="Calibri" pitchFamily="34" charset="-120"/>
              </a:rPr>
              <a:t>2026</a:t>
            </a:r>
            <a:endParaRPr lang="en-US" sz="2600" dirty="0"/>
          </a:p>
        </p:txBody>
      </p:sp>
      <p:sp>
        <p:nvSpPr>
          <p:cNvPr id="22" name="Text 20"/>
          <p:cNvSpPr/>
          <p:nvPr/>
        </p:nvSpPr>
        <p:spPr>
          <a:xfrm>
            <a:off x="7114032" y="1298448"/>
            <a:ext cx="1554480" cy="274320"/>
          </a:xfrm>
          <a:prstGeom prst="rect">
            <a:avLst/>
          </a:prstGeom>
          <a:noFill/>
          <a:ln/>
        </p:spPr>
        <p:txBody>
          <a:bodyPr wrap="square" rtlCol="0" anchor="ctr"/>
          <a:lstStyle/>
          <a:p>
            <a:pPr algn="ctr" indent="0" marL="0">
              <a:buNone/>
            </a:pPr>
            <a:r>
              <a:rPr lang="en-US" sz="850" dirty="0">
                <a:solidFill>
                  <a:srgbClr val="475569"/>
                </a:solidFill>
                <a:latin typeface="Calibri" pitchFamily="34" charset="0"/>
                <a:ea typeface="Calibri" pitchFamily="34" charset="-122"/>
                <a:cs typeface="Calibri" pitchFamily="34" charset="-120"/>
              </a:rPr>
              <a:t>Live API Fetch</a:t>
            </a:r>
            <a:endParaRPr lang="en-US" sz="8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8229600" cy="3108960"/>
        </p:xfrm>
        <a:graphic>
          <a:graphicData uri="http://schemas.openxmlformats.org/drawingml/2006/table">
            <a:tbl>
              <a:tblPr/>
              <a:tblGrid>
                <a:gridCol w="1005840"/>
                <a:gridCol w="1005840"/>
                <a:gridCol w="1371600"/>
                <a:gridCol w="1097280"/>
                <a:gridCol w="1005840"/>
                <a:gridCol w="1828800"/>
              </a:tblGrid>
              <a:tr h="338328">
                <a:tc>
                  <a:txBody>
                    <a:bodyPr/>
                    <a:lstStyle/>
                    <a:p>
                      <a:pPr indent="0" marL="0">
                        <a:buNone/>
                      </a:pPr>
                      <a:r>
                        <a:rPr lang="en-US" sz="900" b="1" dirty="0">
                          <a:solidFill>
                            <a:srgbClr val="FFFFFF"/>
                          </a:solidFill>
                        </a:rPr>
                        <a:t>Matrix ID</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D35"/>
                    </a:solidFill>
                  </a:tcPr>
                </a:tc>
                <a:tc>
                  <a:txBody>
                    <a:bodyPr/>
                    <a:lstStyle/>
                    <a:p>
                      <a:pPr indent="0" marL="0">
                        <a:buNone/>
                      </a:pPr>
                      <a:r>
                        <a:rPr lang="en-US" sz="900" b="1" dirty="0">
                          <a:solidFill>
                            <a:srgbClr val="FFFFFF"/>
                          </a:solidFill>
                        </a:rPr>
                        <a:t>TF Name</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D35"/>
                    </a:solidFill>
                  </a:tcPr>
                </a:tc>
                <a:tc>
                  <a:txBody>
                    <a:bodyPr/>
                    <a:lstStyle/>
                    <a:p>
                      <a:pPr indent="0" marL="0">
                        <a:buNone/>
                      </a:pPr>
                      <a:r>
                        <a:rPr lang="en-US" sz="900" b="1" dirty="0">
                          <a:solidFill>
                            <a:srgbClr val="FFFFFF"/>
                          </a:solidFill>
                        </a:rPr>
                        <a:t>Organism</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D35"/>
                    </a:solidFill>
                  </a:tcPr>
                </a:tc>
                <a:tc>
                  <a:txBody>
                    <a:bodyPr/>
                    <a:lstStyle/>
                    <a:p>
                      <a:pPr indent="0" marL="0">
                        <a:buNone/>
                      </a:pPr>
                      <a:r>
                        <a:rPr lang="en-US" sz="900" b="1" dirty="0">
                          <a:solidFill>
                            <a:srgbClr val="FFFFFF"/>
                          </a:solidFill>
                        </a:rPr>
                        <a:t>Experiment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D35"/>
                    </a:solidFill>
                  </a:tcPr>
                </a:tc>
                <a:tc>
                  <a:txBody>
                    <a:bodyPr/>
                    <a:lstStyle/>
                    <a:p>
                      <a:pPr indent="0" marL="0">
                        <a:buNone/>
                      </a:pPr>
                      <a:r>
                        <a:rPr lang="en-US" sz="900" b="1" dirty="0">
                          <a:solidFill>
                            <a:srgbClr val="FFFFFF"/>
                          </a:solidFill>
                        </a:rPr>
                        <a:t>PubMed</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D35"/>
                    </a:solidFill>
                  </a:tcPr>
                </a:tc>
                <a:tc>
                  <a:txBody>
                    <a:bodyPr/>
                    <a:lstStyle/>
                    <a:p>
                      <a:pPr indent="0" marL="0">
                        <a:buNone/>
                      </a:pPr>
                      <a:r>
                        <a:rPr lang="en-US" sz="900" b="1" dirty="0">
                          <a:solidFill>
                            <a:srgbClr val="FFFFFF"/>
                          </a:solidFill>
                        </a:rPr>
                        <a:t>Consensus</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D35"/>
                    </a:solidFill>
                  </a:tcPr>
                </a:tc>
              </a:tr>
              <a:tr h="338328">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MA0139.2</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00" b="1" dirty="0">
                          <a:solidFill>
                            <a:srgbClr val="1E293B"/>
                          </a:solidFill>
                          <a:latin typeface="Calibri" pitchFamily="34" charset="0"/>
                          <a:ea typeface="Calibri" pitchFamily="34" charset="-122"/>
                          <a:cs typeface="Calibri" pitchFamily="34" charset="-120"/>
                        </a:rPr>
                        <a:t>CTCF</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Homo sapiens</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ChIP-seq</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21106759</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850" dirty="0">
                          <a:solidFill>
                            <a:srgbClr val="0D9488"/>
                          </a:solidFill>
                          <a:latin typeface="Consolas" pitchFamily="34" charset="0"/>
                          <a:ea typeface="Consolas" pitchFamily="34" charset="-122"/>
                          <a:cs typeface="Consolas" pitchFamily="34" charset="-120"/>
                        </a:rPr>
                        <a:t>GCCACCAGGGGG</a:t>
                      </a:r>
                      <a:endParaRPr lang="en-US" sz="85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338328">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MA0024.3</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00" b="1" dirty="0">
                          <a:solidFill>
                            <a:srgbClr val="1E293B"/>
                          </a:solidFill>
                          <a:latin typeface="Calibri" pitchFamily="34" charset="0"/>
                          <a:ea typeface="Calibri" pitchFamily="34" charset="-122"/>
                          <a:cs typeface="Calibri" pitchFamily="34" charset="-120"/>
                        </a:rPr>
                        <a:t>E2F1</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Homo sapiens</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HT-SELEX</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9372931</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50" dirty="0">
                          <a:solidFill>
                            <a:srgbClr val="0D9488"/>
                          </a:solidFill>
                          <a:latin typeface="Consolas" pitchFamily="34" charset="0"/>
                          <a:ea typeface="Consolas" pitchFamily="34" charset="-122"/>
                          <a:cs typeface="Consolas" pitchFamily="34" charset="-120"/>
                        </a:rPr>
                        <a:t>TTTGGCGCCAAA</a:t>
                      </a:r>
                      <a:endParaRPr lang="en-US" sz="85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38328">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MA0899.1</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00" b="1" dirty="0">
                          <a:solidFill>
                            <a:srgbClr val="1E293B"/>
                          </a:solidFill>
                          <a:latin typeface="Calibri" pitchFamily="34" charset="0"/>
                          <a:ea typeface="Calibri" pitchFamily="34" charset="-122"/>
                          <a:cs typeface="Calibri" pitchFamily="34" charset="-120"/>
                        </a:rPr>
                        <a:t>HOXA10</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Homo sapiens</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HT-SELEX</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18585359</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850" dirty="0">
                          <a:solidFill>
                            <a:srgbClr val="0D9488"/>
                          </a:solidFill>
                          <a:latin typeface="Consolas" pitchFamily="34" charset="0"/>
                          <a:ea typeface="Consolas" pitchFamily="34" charset="-122"/>
                          <a:cs typeface="Consolas" pitchFamily="34" charset="-120"/>
                        </a:rPr>
                        <a:t>GGTAATAAAAA</a:t>
                      </a:r>
                      <a:endParaRPr lang="en-US" sz="85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338328">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MA0265.1</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00" b="1" dirty="0">
                          <a:solidFill>
                            <a:srgbClr val="1E293B"/>
                          </a:solidFill>
                          <a:latin typeface="Calibri" pitchFamily="34" charset="0"/>
                          <a:ea typeface="Calibri" pitchFamily="34" charset="-122"/>
                          <a:cs typeface="Calibri" pitchFamily="34" charset="-120"/>
                        </a:rPr>
                        <a:t>ABF1 (yeast)</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S. cerevisiae</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PBM/DIP-chip</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19111667</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50" dirty="0">
                          <a:solidFill>
                            <a:srgbClr val="0D9488"/>
                          </a:solidFill>
                          <a:latin typeface="Consolas" pitchFamily="34" charset="0"/>
                          <a:ea typeface="Consolas" pitchFamily="34" charset="-122"/>
                          <a:cs typeface="Consolas" pitchFamily="34" charset="-120"/>
                        </a:rPr>
                        <a:t>CTCTATTTCGTG</a:t>
                      </a:r>
                      <a:endParaRPr lang="en-US" sz="85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38328">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MA0001.1</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00" b="1" dirty="0">
                          <a:solidFill>
                            <a:srgbClr val="1E293B"/>
                          </a:solidFill>
                          <a:latin typeface="Calibri" pitchFamily="34" charset="0"/>
                          <a:ea typeface="Calibri" pitchFamily="34" charset="-122"/>
                          <a:cs typeface="Calibri" pitchFamily="34" charset="-120"/>
                        </a:rPr>
                        <a:t>AGL3</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A. thaliana</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SELEX</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7632923</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850" dirty="0">
                          <a:solidFill>
                            <a:srgbClr val="0D9488"/>
                          </a:solidFill>
                          <a:latin typeface="Consolas" pitchFamily="34" charset="0"/>
                          <a:ea typeface="Consolas" pitchFamily="34" charset="-122"/>
                          <a:cs typeface="Consolas" pitchFamily="34" charset="-120"/>
                        </a:rPr>
                        <a:t>CCATATATAG</a:t>
                      </a:r>
                      <a:endParaRPr lang="en-US" sz="85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338328">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MA0930.3</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00" b="1" dirty="0">
                          <a:solidFill>
                            <a:srgbClr val="1E293B"/>
                          </a:solidFill>
                          <a:latin typeface="Calibri" pitchFamily="34" charset="0"/>
                          <a:ea typeface="Calibri" pitchFamily="34" charset="-122"/>
                          <a:cs typeface="Calibri" pitchFamily="34" charset="-120"/>
                        </a:rPr>
                        <a:t>ABF3</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A. thaliana</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ChIP-seq</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11005831</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50" dirty="0">
                          <a:solidFill>
                            <a:srgbClr val="0D9488"/>
                          </a:solidFill>
                          <a:latin typeface="Consolas" pitchFamily="34" charset="0"/>
                          <a:ea typeface="Consolas" pitchFamily="34" charset="-122"/>
                          <a:cs typeface="Consolas" pitchFamily="34" charset="-120"/>
                        </a:rPr>
                        <a:t>GACACGTGT</a:t>
                      </a:r>
                      <a:endParaRPr lang="en-US" sz="85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38328">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MA1659.2</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00" b="1" dirty="0">
                          <a:solidFill>
                            <a:srgbClr val="1E293B"/>
                          </a:solidFill>
                          <a:latin typeface="Calibri" pitchFamily="34" charset="0"/>
                          <a:ea typeface="Calibri" pitchFamily="34" charset="-122"/>
                          <a:cs typeface="Calibri" pitchFamily="34" charset="-120"/>
                        </a:rPr>
                        <a:t>ABF4</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A. thaliana</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DAP-seq</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25220462</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850" dirty="0">
                          <a:solidFill>
                            <a:srgbClr val="0D9488"/>
                          </a:solidFill>
                          <a:latin typeface="Consolas" pitchFamily="34" charset="0"/>
                          <a:ea typeface="Consolas" pitchFamily="34" charset="-122"/>
                          <a:cs typeface="Consolas" pitchFamily="34" charset="-120"/>
                        </a:rPr>
                        <a:t>CCCACGTG</a:t>
                      </a:r>
                      <a:endParaRPr lang="en-US" sz="85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338328">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MA0020.2</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00" b="1" dirty="0">
                          <a:solidFill>
                            <a:srgbClr val="1E293B"/>
                          </a:solidFill>
                          <a:latin typeface="Calibri" pitchFamily="34" charset="0"/>
                          <a:ea typeface="Calibri" pitchFamily="34" charset="-122"/>
                          <a:cs typeface="Calibri" pitchFamily="34" charset="-120"/>
                        </a:rPr>
                        <a:t>Dof2</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Zea mays</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SELEX</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10074718</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50" dirty="0">
                          <a:solidFill>
                            <a:srgbClr val="0D9488"/>
                          </a:solidFill>
                          <a:latin typeface="Consolas" pitchFamily="34" charset="0"/>
                          <a:ea typeface="Consolas" pitchFamily="34" charset="-122"/>
                          <a:cs typeface="Consolas" pitchFamily="34" charset="-120"/>
                        </a:rPr>
                        <a:t>AAAGC</a:t>
                      </a:r>
                      <a:endParaRPr lang="en-US" sz="85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D35"/>
        </a:solidFill>
      </p:bgPr>
    </p:bg>
    <p:spTree>
      <p:nvGrpSpPr>
        <p:cNvPr id="1" name=""/>
        <p:cNvGrpSpPr/>
        <p:nvPr/>
      </p:nvGrpSpPr>
      <p:grpSpPr>
        <a:xfrm>
          <a:off x="0" y="0"/>
          <a:ext cx="0" cy="0"/>
          <a:chOff x="0" y="0"/>
          <a:chExt cx="0" cy="0"/>
        </a:xfrm>
      </p:grpSpPr>
      <p:sp>
        <p:nvSpPr>
          <p:cNvPr id="2" name="Shape 0"/>
          <p:cNvSpPr/>
          <p:nvPr/>
        </p:nvSpPr>
        <p:spPr>
          <a:xfrm>
            <a:off x="0" y="1920240"/>
            <a:ext cx="9144000" cy="1371600"/>
          </a:xfrm>
          <a:prstGeom prst="rect">
            <a:avLst/>
          </a:prstGeom>
          <a:solidFill>
            <a:srgbClr val="122744"/>
          </a:solidFill>
          <a:ln w="12700">
            <a:solidFill>
              <a:srgbClr val="122744"/>
            </a:solidFill>
            <a:prstDash val="solid"/>
          </a:ln>
        </p:spPr>
      </p:sp>
      <p:sp>
        <p:nvSpPr>
          <p:cNvPr id="3" name="Text 1"/>
          <p:cNvSpPr/>
          <p:nvPr/>
        </p:nvSpPr>
        <p:spPr>
          <a:xfrm>
            <a:off x="457200" y="274320"/>
            <a:ext cx="8229600" cy="1554480"/>
          </a:xfrm>
          <a:prstGeom prst="rect">
            <a:avLst/>
          </a:prstGeom>
          <a:noFill/>
          <a:ln/>
        </p:spPr>
        <p:txBody>
          <a:bodyPr wrap="square" rtlCol="0" anchor="ctr"/>
          <a:lstStyle/>
          <a:p>
            <a:pPr algn="ctr" indent="0" marL="0">
              <a:buNone/>
            </a:pPr>
            <a:r>
              <a:rPr lang="en-US" sz="9600" b="1" dirty="0">
                <a:solidFill>
                  <a:srgbClr val="22C55E">
                    <a:alpha val="80000"/>
                  </a:srgbClr>
                </a:solidFill>
                <a:latin typeface="Calibri" pitchFamily="34" charset="0"/>
                <a:ea typeface="Calibri" pitchFamily="34" charset="-122"/>
                <a:cs typeface="Calibri" pitchFamily="34" charset="-120"/>
              </a:rPr>
              <a:t>05</a:t>
            </a:r>
            <a:endParaRPr lang="en-US" sz="9600" dirty="0"/>
          </a:p>
        </p:txBody>
      </p:sp>
      <p:sp>
        <p:nvSpPr>
          <p:cNvPr id="4" name="Text 2"/>
          <p:cNvSpPr/>
          <p:nvPr/>
        </p:nvSpPr>
        <p:spPr>
          <a:xfrm>
            <a:off x="457200" y="2029968"/>
            <a:ext cx="8229600" cy="59436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Experimental Results</a:t>
            </a:r>
            <a:endParaRPr lang="en-US" sz="2800" dirty="0"/>
          </a:p>
        </p:txBody>
      </p:sp>
      <p:sp>
        <p:nvSpPr>
          <p:cNvPr id="5" name="Text 3"/>
          <p:cNvSpPr/>
          <p:nvPr/>
        </p:nvSpPr>
        <p:spPr>
          <a:xfrm>
            <a:off x="457200" y="2697480"/>
            <a:ext cx="8229600" cy="347472"/>
          </a:xfrm>
          <a:prstGeom prst="rect">
            <a:avLst/>
          </a:prstGeom>
          <a:noFill/>
          <a:ln/>
        </p:spPr>
        <p:txBody>
          <a:bodyPr wrap="square" rtlCol="0" anchor="ctr"/>
          <a:lstStyle/>
          <a:p>
            <a:pPr algn="ctr" indent="0" marL="0">
              <a:buNone/>
            </a:pPr>
            <a:r>
              <a:rPr lang="en-US" sz="1300" i="1" dirty="0">
                <a:solidFill>
                  <a:srgbClr val="14B8A6"/>
                </a:solidFill>
                <a:latin typeface="Calibri" pitchFamily="34" charset="0"/>
                <a:ea typeface="Calibri" pitchFamily="34" charset="-122"/>
                <a:cs typeface="Calibri" pitchFamily="34" charset="-120"/>
              </a:rPr>
              <a:t>11 real + synthetic datasets  ·  Known motifs independently confirmed</a:t>
            </a:r>
            <a:endParaRPr lang="en-US" sz="1300" dirty="0"/>
          </a:p>
        </p:txBody>
      </p:sp>
      <p:pic>
        <p:nvPicPr>
          <p:cNvPr id="6" name="Image 0" descr="preencoded.png">    </p:cNvPr>
          <p:cNvPicPr>
            <a:picLocks noChangeAspect="1"/>
          </p:cNvPicPr>
          <p:nvPr/>
        </p:nvPicPr>
        <p:blipFill>
          <a:blip r:embed="rId1"/>
          <a:stretch>
            <a:fillRect/>
          </a:stretch>
        </p:blipFill>
        <p:spPr>
          <a:xfrm>
            <a:off x="4160520" y="3383280"/>
            <a:ext cx="731520" cy="7315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9FF"/>
        </a:solidFill>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rtlCol="0" anchor="ctr"/>
          <a:lstStyle/>
          <a:p>
            <a:pPr indent="0" marL="0">
              <a:buNone/>
            </a:pPr>
            <a:r>
              <a:rPr lang="en-US" sz="2600" b="1" dirty="0">
                <a:solidFill>
                  <a:srgbClr val="0B1D35"/>
                </a:solidFill>
                <a:latin typeface="Calibri" pitchFamily="34" charset="0"/>
                <a:ea typeface="Calibri" pitchFamily="34" charset="-122"/>
                <a:cs typeface="Calibri" pitchFamily="34" charset="-120"/>
              </a:rPr>
              <a:t>Information Content Comparison — All Datasets</a:t>
            </a:r>
            <a:endParaRPr lang="en-US" sz="2600" dirty="0"/>
          </a:p>
        </p:txBody>
      </p:sp>
      <p:sp>
        <p:nvSpPr>
          <p:cNvPr id="3" name="Text 1"/>
          <p:cNvSpPr/>
          <p:nvPr/>
        </p:nvSpPr>
        <p:spPr>
          <a:xfrm>
            <a:off x="457200" y="685800"/>
            <a:ext cx="8229600" cy="274320"/>
          </a:xfrm>
          <a:prstGeom prst="rect">
            <a:avLst/>
          </a:prstGeom>
          <a:noFill/>
          <a:ln/>
        </p:spPr>
        <p:txBody>
          <a:bodyPr wrap="square" rtlCol="0" anchor="ctr"/>
          <a:lstStyle/>
          <a:p>
            <a:pPr indent="0" marL="0">
              <a:buNone/>
            </a:pPr>
            <a:r>
              <a:rPr lang="en-US" sz="1150" i="1" dirty="0">
                <a:solidFill>
                  <a:srgbClr val="475569"/>
                </a:solidFill>
                <a:latin typeface="Calibri" pitchFamily="34" charset="0"/>
                <a:ea typeface="Calibri" pitchFamily="34" charset="-122"/>
                <a:cs typeface="Calibri" pitchFamily="34" charset="-120"/>
              </a:rPr>
              <a:t>Gibbs Sampling outperformed MEME in IC across all 11 datasets  (avg +1.2 bits)</a:t>
            </a:r>
            <a:endParaRPr lang="en-US" sz="1150" dirty="0"/>
          </a:p>
        </p:txBody>
      </p:sp>
      <p:graphicFrame>
        <p:nvGraphicFramePr>
          <p:cNvPr id="4" name="Chart 0" descr=""/>
          <p:cNvGraphicFramePr/>
          <p:nvPr/>
        </p:nvGraphicFramePr>
        <p:xfrm>
          <a:off x="365760" y="1005840"/>
          <a:ext cx="8321040" cy="379476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66534"/>
          </a:solidFill>
          <a:ln w="12700">
            <a:solidFill>
              <a:srgbClr val="166534"/>
            </a:solidFill>
            <a:prstDash val="solid"/>
          </a:ln>
        </p:spPr>
      </p:sp>
      <p:sp>
        <p:nvSpPr>
          <p:cNvPr id="3" name="Text 1"/>
          <p:cNvSpPr/>
          <p:nvPr/>
        </p:nvSpPr>
        <p:spPr>
          <a:xfrm>
            <a:off x="457200" y="73152"/>
            <a:ext cx="8229600" cy="347472"/>
          </a:xfrm>
          <a:prstGeom prst="rect">
            <a:avLst/>
          </a:prstGeom>
          <a:noFill/>
          <a:ln/>
        </p:spPr>
        <p:txBody>
          <a:bodyPr wrap="square"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  INDEPENDENTLY CONFIRMED — E-value = 1×10⁻³⁰⁰  (strongest possible result)</a:t>
            </a:r>
            <a:endParaRPr lang="en-US" sz="1100" dirty="0"/>
          </a:p>
        </p:txBody>
      </p:sp>
      <p:sp>
        <p:nvSpPr>
          <p:cNvPr id="4" name="Text 2"/>
          <p:cNvSpPr/>
          <p:nvPr/>
        </p:nvSpPr>
        <p:spPr>
          <a:xfrm>
            <a:off x="457200" y="594360"/>
            <a:ext cx="8229600" cy="502920"/>
          </a:xfrm>
          <a:prstGeom prst="rect">
            <a:avLst/>
          </a:prstGeom>
          <a:noFill/>
          <a:ln/>
        </p:spPr>
        <p:txBody>
          <a:bodyPr wrap="square" rtlCol="0" anchor="ctr"/>
          <a:lstStyle/>
          <a:p>
            <a:pPr indent="0" marL="0">
              <a:buNone/>
            </a:pPr>
            <a:r>
              <a:rPr lang="en-US" sz="2600" b="1" dirty="0">
                <a:solidFill>
                  <a:srgbClr val="0B1D35"/>
                </a:solidFill>
                <a:latin typeface="Calibri" pitchFamily="34" charset="0"/>
                <a:ea typeface="Calibri" pitchFamily="34" charset="-122"/>
                <a:cs typeface="Calibri" pitchFamily="34" charset="-120"/>
              </a:rPr>
              <a:t>Plant bZIP G-box — Canonical Motif Recovered</a:t>
            </a:r>
            <a:endParaRPr lang="en-US" sz="2600" dirty="0"/>
          </a:p>
        </p:txBody>
      </p:sp>
      <p:sp>
        <p:nvSpPr>
          <p:cNvPr id="5" name="Text 3"/>
          <p:cNvSpPr/>
          <p:nvPr/>
        </p:nvSpPr>
        <p:spPr>
          <a:xfrm>
            <a:off x="457200" y="1115568"/>
            <a:ext cx="8229600" cy="256032"/>
          </a:xfrm>
          <a:prstGeom prst="rect">
            <a:avLst/>
          </a:prstGeom>
          <a:noFill/>
          <a:ln/>
        </p:spPr>
        <p:txBody>
          <a:bodyPr wrap="square"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180 real sequences · SELEX + PBM + ChIP-seq + DAP-seq · 9 matrices · 4 experiment types</a:t>
            </a:r>
            <a:endParaRPr lang="en-US" sz="1100" dirty="0"/>
          </a:p>
        </p:txBody>
      </p:sp>
      <p:sp>
        <p:nvSpPr>
          <p:cNvPr id="6" name="Shape 4"/>
          <p:cNvSpPr/>
          <p:nvPr/>
        </p:nvSpPr>
        <p:spPr>
          <a:xfrm>
            <a:off x="457200" y="1463040"/>
            <a:ext cx="1920240" cy="7772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457200" y="1463040"/>
            <a:ext cx="1920240" cy="64008"/>
          </a:xfrm>
          <a:prstGeom prst="rect">
            <a:avLst/>
          </a:prstGeom>
          <a:solidFill>
            <a:srgbClr val="0D9488"/>
          </a:solidFill>
          <a:ln w="12700">
            <a:solidFill>
              <a:srgbClr val="0D9488"/>
            </a:solidFill>
            <a:prstDash val="solid"/>
          </a:ln>
        </p:spPr>
      </p:sp>
      <p:sp>
        <p:nvSpPr>
          <p:cNvPr id="8" name="Text 6"/>
          <p:cNvSpPr/>
          <p:nvPr/>
        </p:nvSpPr>
        <p:spPr>
          <a:xfrm>
            <a:off x="457200" y="1536192"/>
            <a:ext cx="1920240" cy="384048"/>
          </a:xfrm>
          <a:prstGeom prst="rect">
            <a:avLst/>
          </a:prstGeom>
          <a:noFill/>
          <a:ln/>
        </p:spPr>
        <p:txBody>
          <a:bodyPr wrap="square" rtlCol="0" anchor="ctr"/>
          <a:lstStyle/>
          <a:p>
            <a:pPr algn="ctr" indent="0" marL="0">
              <a:buNone/>
            </a:pPr>
            <a:r>
              <a:rPr lang="en-US" sz="1300" b="1" dirty="0">
                <a:solidFill>
                  <a:srgbClr val="0D9488"/>
                </a:solidFill>
                <a:latin typeface="Consolas" pitchFamily="34" charset="0"/>
                <a:ea typeface="Consolas" pitchFamily="34" charset="-122"/>
                <a:cs typeface="Consolas" pitchFamily="34" charset="-120"/>
              </a:rPr>
              <a:t>ACACGTGT</a:t>
            </a:r>
            <a:endParaRPr lang="en-US" sz="1300" dirty="0"/>
          </a:p>
        </p:txBody>
      </p:sp>
      <p:sp>
        <p:nvSpPr>
          <p:cNvPr id="9" name="Text 7"/>
          <p:cNvSpPr/>
          <p:nvPr/>
        </p:nvSpPr>
        <p:spPr>
          <a:xfrm>
            <a:off x="457200" y="1920240"/>
            <a:ext cx="1920240" cy="256032"/>
          </a:xfrm>
          <a:prstGeom prst="rect">
            <a:avLst/>
          </a:prstGeom>
          <a:noFill/>
          <a:ln/>
        </p:spPr>
        <p:txBody>
          <a:bodyPr wrap="square" rtlCol="0" anchor="ctr"/>
          <a:lstStyle/>
          <a:p>
            <a:pPr algn="ctr" indent="0" marL="0">
              <a:buNone/>
            </a:pPr>
            <a:r>
              <a:rPr lang="en-US" sz="900" dirty="0">
                <a:solidFill>
                  <a:srgbClr val="475569"/>
                </a:solidFill>
                <a:latin typeface="Calibri" pitchFamily="34" charset="0"/>
                <a:ea typeface="Calibri" pitchFamily="34" charset="-122"/>
                <a:cs typeface="Calibri" pitchFamily="34" charset="-120"/>
              </a:rPr>
              <a:t>Consensus — both algorithms</a:t>
            </a:r>
            <a:endParaRPr lang="en-US" sz="900" dirty="0"/>
          </a:p>
        </p:txBody>
      </p:sp>
      <p:sp>
        <p:nvSpPr>
          <p:cNvPr id="10" name="Shape 8"/>
          <p:cNvSpPr/>
          <p:nvPr/>
        </p:nvSpPr>
        <p:spPr>
          <a:xfrm>
            <a:off x="2542032" y="1463040"/>
            <a:ext cx="1920240" cy="7772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2542032" y="1463040"/>
            <a:ext cx="1920240" cy="64008"/>
          </a:xfrm>
          <a:prstGeom prst="rect">
            <a:avLst/>
          </a:prstGeom>
          <a:solidFill>
            <a:srgbClr val="22C55E"/>
          </a:solidFill>
          <a:ln w="12700">
            <a:solidFill>
              <a:srgbClr val="22C55E"/>
            </a:solidFill>
            <a:prstDash val="solid"/>
          </a:ln>
        </p:spPr>
      </p:sp>
      <p:sp>
        <p:nvSpPr>
          <p:cNvPr id="12" name="Text 10"/>
          <p:cNvSpPr/>
          <p:nvPr/>
        </p:nvSpPr>
        <p:spPr>
          <a:xfrm>
            <a:off x="2542032" y="1536192"/>
            <a:ext cx="1920240" cy="384048"/>
          </a:xfrm>
          <a:prstGeom prst="rect">
            <a:avLst/>
          </a:prstGeom>
          <a:noFill/>
          <a:ln/>
        </p:spPr>
        <p:txBody>
          <a:bodyPr wrap="square" rtlCol="0" anchor="ctr"/>
          <a:lstStyle/>
          <a:p>
            <a:pPr algn="ctr" indent="0" marL="0">
              <a:buNone/>
            </a:pPr>
            <a:r>
              <a:rPr lang="en-US" sz="1800" b="1" dirty="0">
                <a:solidFill>
                  <a:srgbClr val="22C55E"/>
                </a:solidFill>
                <a:latin typeface="Calibri" pitchFamily="34" charset="0"/>
                <a:ea typeface="Calibri" pitchFamily="34" charset="-122"/>
                <a:cs typeface="Calibri" pitchFamily="34" charset="-120"/>
              </a:rPr>
              <a:t>8.85 bits</a:t>
            </a:r>
            <a:endParaRPr lang="en-US" sz="1800" dirty="0"/>
          </a:p>
        </p:txBody>
      </p:sp>
      <p:sp>
        <p:nvSpPr>
          <p:cNvPr id="13" name="Text 11"/>
          <p:cNvSpPr/>
          <p:nvPr/>
        </p:nvSpPr>
        <p:spPr>
          <a:xfrm>
            <a:off x="2542032" y="1920240"/>
            <a:ext cx="1920240" cy="256032"/>
          </a:xfrm>
          <a:prstGeom prst="rect">
            <a:avLst/>
          </a:prstGeom>
          <a:noFill/>
          <a:ln/>
        </p:spPr>
        <p:txBody>
          <a:bodyPr wrap="square" rtlCol="0" anchor="ctr"/>
          <a:lstStyle/>
          <a:p>
            <a:pPr algn="ctr" indent="0" marL="0">
              <a:buNone/>
            </a:pPr>
            <a:r>
              <a:rPr lang="en-US" sz="900" dirty="0">
                <a:solidFill>
                  <a:srgbClr val="475569"/>
                </a:solidFill>
                <a:latin typeface="Calibri" pitchFamily="34" charset="0"/>
                <a:ea typeface="Calibri" pitchFamily="34" charset="-122"/>
                <a:cs typeface="Calibri" pitchFamily="34" charset="-120"/>
              </a:rPr>
              <a:t>Gibbs IC</a:t>
            </a:r>
            <a:endParaRPr lang="en-US" sz="900" dirty="0"/>
          </a:p>
        </p:txBody>
      </p:sp>
      <p:sp>
        <p:nvSpPr>
          <p:cNvPr id="14" name="Shape 12"/>
          <p:cNvSpPr/>
          <p:nvPr/>
        </p:nvSpPr>
        <p:spPr>
          <a:xfrm>
            <a:off x="4626864" y="1463040"/>
            <a:ext cx="1920240" cy="7772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4626864" y="1463040"/>
            <a:ext cx="1920240" cy="64008"/>
          </a:xfrm>
          <a:prstGeom prst="rect">
            <a:avLst/>
          </a:prstGeom>
          <a:solidFill>
            <a:srgbClr val="1D4ED8"/>
          </a:solidFill>
          <a:ln w="12700">
            <a:solidFill>
              <a:srgbClr val="1D4ED8"/>
            </a:solidFill>
            <a:prstDash val="solid"/>
          </a:ln>
        </p:spPr>
      </p:sp>
      <p:sp>
        <p:nvSpPr>
          <p:cNvPr id="16" name="Text 14"/>
          <p:cNvSpPr/>
          <p:nvPr/>
        </p:nvSpPr>
        <p:spPr>
          <a:xfrm>
            <a:off x="4626864" y="1536192"/>
            <a:ext cx="1920240" cy="384048"/>
          </a:xfrm>
          <a:prstGeom prst="rect">
            <a:avLst/>
          </a:prstGeom>
          <a:noFill/>
          <a:ln/>
        </p:spPr>
        <p:txBody>
          <a:bodyPr wrap="square" rtlCol="0" anchor="ctr"/>
          <a:lstStyle/>
          <a:p>
            <a:pPr algn="ctr" indent="0" marL="0">
              <a:buNone/>
            </a:pPr>
            <a:r>
              <a:rPr lang="en-US" sz="1800" b="1" dirty="0">
                <a:solidFill>
                  <a:srgbClr val="1D4ED8"/>
                </a:solidFill>
                <a:latin typeface="Calibri" pitchFamily="34" charset="0"/>
                <a:ea typeface="Calibri" pitchFamily="34" charset="-122"/>
                <a:cs typeface="Calibri" pitchFamily="34" charset="-120"/>
              </a:rPr>
              <a:t>8.64 bits</a:t>
            </a:r>
            <a:endParaRPr lang="en-US" sz="1800" dirty="0"/>
          </a:p>
        </p:txBody>
      </p:sp>
      <p:sp>
        <p:nvSpPr>
          <p:cNvPr id="17" name="Text 15"/>
          <p:cNvSpPr/>
          <p:nvPr/>
        </p:nvSpPr>
        <p:spPr>
          <a:xfrm>
            <a:off x="4626864" y="1920240"/>
            <a:ext cx="1920240" cy="256032"/>
          </a:xfrm>
          <a:prstGeom prst="rect">
            <a:avLst/>
          </a:prstGeom>
          <a:noFill/>
          <a:ln/>
        </p:spPr>
        <p:txBody>
          <a:bodyPr wrap="square" rtlCol="0" anchor="ctr"/>
          <a:lstStyle/>
          <a:p>
            <a:pPr algn="ctr" indent="0" marL="0">
              <a:buNone/>
            </a:pPr>
            <a:r>
              <a:rPr lang="en-US" sz="900" dirty="0">
                <a:solidFill>
                  <a:srgbClr val="475569"/>
                </a:solidFill>
                <a:latin typeface="Calibri" pitchFamily="34" charset="0"/>
                <a:ea typeface="Calibri" pitchFamily="34" charset="-122"/>
                <a:cs typeface="Calibri" pitchFamily="34" charset="-120"/>
              </a:rPr>
              <a:t>MEME IC</a:t>
            </a:r>
            <a:endParaRPr lang="en-US" sz="900" dirty="0"/>
          </a:p>
        </p:txBody>
      </p:sp>
      <p:sp>
        <p:nvSpPr>
          <p:cNvPr id="18" name="Shape 16"/>
          <p:cNvSpPr/>
          <p:nvPr/>
        </p:nvSpPr>
        <p:spPr>
          <a:xfrm>
            <a:off x="6711696" y="1463040"/>
            <a:ext cx="1920240" cy="7772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6711696" y="1463040"/>
            <a:ext cx="1920240" cy="64008"/>
          </a:xfrm>
          <a:prstGeom prst="rect">
            <a:avLst/>
          </a:prstGeom>
          <a:solidFill>
            <a:srgbClr val="F59E0B"/>
          </a:solidFill>
          <a:ln w="12700">
            <a:solidFill>
              <a:srgbClr val="F59E0B"/>
            </a:solidFill>
            <a:prstDash val="solid"/>
          </a:ln>
        </p:spPr>
      </p:sp>
      <p:sp>
        <p:nvSpPr>
          <p:cNvPr id="20" name="Text 18"/>
          <p:cNvSpPr/>
          <p:nvPr/>
        </p:nvSpPr>
        <p:spPr>
          <a:xfrm>
            <a:off x="6711696" y="1536192"/>
            <a:ext cx="1920240" cy="384048"/>
          </a:xfrm>
          <a:prstGeom prst="rect">
            <a:avLst/>
          </a:prstGeom>
          <a:noFill/>
          <a:ln/>
        </p:spPr>
        <p:txBody>
          <a:bodyPr wrap="square" rtlCol="0" anchor="ctr"/>
          <a:lstStyle/>
          <a:p>
            <a:pPr algn="ctr" indent="0" marL="0">
              <a:buNone/>
            </a:pPr>
            <a:r>
              <a:rPr lang="en-US" sz="1800" b="1" dirty="0">
                <a:solidFill>
                  <a:srgbClr val="F59E0B"/>
                </a:solidFill>
                <a:latin typeface="Calibri" pitchFamily="34" charset="0"/>
                <a:ea typeface="Calibri" pitchFamily="34" charset="-122"/>
                <a:cs typeface="Calibri" pitchFamily="34" charset="-120"/>
              </a:rPr>
              <a:t>1×10⁻³⁰⁰</a:t>
            </a:r>
            <a:endParaRPr lang="en-US" sz="1800" dirty="0"/>
          </a:p>
        </p:txBody>
      </p:sp>
      <p:sp>
        <p:nvSpPr>
          <p:cNvPr id="21" name="Text 19"/>
          <p:cNvSpPr/>
          <p:nvPr/>
        </p:nvSpPr>
        <p:spPr>
          <a:xfrm>
            <a:off x="6711696" y="1920240"/>
            <a:ext cx="1920240" cy="256032"/>
          </a:xfrm>
          <a:prstGeom prst="rect">
            <a:avLst/>
          </a:prstGeom>
          <a:noFill/>
          <a:ln/>
        </p:spPr>
        <p:txBody>
          <a:bodyPr wrap="square" rtlCol="0" anchor="ctr"/>
          <a:lstStyle/>
          <a:p>
            <a:pPr algn="ctr" indent="0" marL="0">
              <a:buNone/>
            </a:pPr>
            <a:r>
              <a:rPr lang="en-US" sz="900" dirty="0">
                <a:solidFill>
                  <a:srgbClr val="475569"/>
                </a:solidFill>
                <a:latin typeface="Calibri" pitchFamily="34" charset="0"/>
                <a:ea typeface="Calibri" pitchFamily="34" charset="-122"/>
                <a:cs typeface="Calibri" pitchFamily="34" charset="-120"/>
              </a:rPr>
              <a:t>E-value</a:t>
            </a:r>
            <a:endParaRPr lang="en-US" sz="900" dirty="0"/>
          </a:p>
        </p:txBody>
      </p:sp>
      <p:pic>
        <p:nvPicPr>
          <p:cNvPr id="22" name="Image 0" descr="preencoded.png">    </p:cNvPr>
          <p:cNvPicPr>
            <a:picLocks noChangeAspect="1"/>
          </p:cNvPicPr>
          <p:nvPr/>
        </p:nvPicPr>
        <p:blipFill>
          <a:blip r:embed="rId1"/>
          <a:srcRect l="0" r="0" t="0" b="0"/>
          <a:stretch/>
        </p:blipFill>
        <p:spPr>
          <a:xfrm>
            <a:off x="457200" y="2359152"/>
            <a:ext cx="5029200" cy="1572768"/>
          </a:xfrm>
          <a:prstGeom prst="rect">
            <a:avLst/>
          </a:prstGeom>
        </p:spPr>
      </p:pic>
      <p:sp>
        <p:nvSpPr>
          <p:cNvPr id="23" name="Text 20"/>
          <p:cNvSpPr/>
          <p:nvPr/>
        </p:nvSpPr>
        <p:spPr>
          <a:xfrm>
            <a:off x="457200" y="3931920"/>
            <a:ext cx="5029200" cy="228600"/>
          </a:xfrm>
          <a:prstGeom prst="rect">
            <a:avLst/>
          </a:prstGeom>
          <a:noFill/>
          <a:ln/>
        </p:spPr>
        <p:txBody>
          <a:bodyPr wrap="square"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MEME Sequence Logo — Plant bZIP (real JASPAR data)</a:t>
            </a:r>
            <a:endParaRPr lang="en-US" sz="900" dirty="0"/>
          </a:p>
        </p:txBody>
      </p:sp>
      <p:sp>
        <p:nvSpPr>
          <p:cNvPr id="24" name="Shape 21"/>
          <p:cNvSpPr/>
          <p:nvPr/>
        </p:nvSpPr>
        <p:spPr>
          <a:xfrm>
            <a:off x="5669280" y="2359152"/>
            <a:ext cx="3017520" cy="1828800"/>
          </a:xfrm>
          <a:prstGeom prst="rect">
            <a:avLst/>
          </a:prstGeom>
          <a:solidFill>
            <a:srgbClr val="F0FDF4"/>
          </a:solidFill>
          <a:ln w="19050">
            <a:solidFill>
              <a:srgbClr val="22C55E"/>
            </a:solidFill>
            <a:prstDash val="solid"/>
          </a:ln>
          <a:effectLst>
            <a:outerShdw sx="100000" sy="100000" kx="0" ky="0" algn="bl" rotWithShape="0" blurRad="101600" dist="38100" dir="8100000">
              <a:srgbClr val="000000">
                <a:alpha val="12000"/>
              </a:srgbClr>
            </a:outerShdw>
          </a:effectLst>
        </p:spPr>
      </p:sp>
      <p:sp>
        <p:nvSpPr>
          <p:cNvPr id="25" name="Text 22"/>
          <p:cNvSpPr/>
          <p:nvPr/>
        </p:nvSpPr>
        <p:spPr>
          <a:xfrm>
            <a:off x="5806440" y="2450592"/>
            <a:ext cx="2743200" cy="274320"/>
          </a:xfrm>
          <a:prstGeom prst="rect">
            <a:avLst/>
          </a:prstGeom>
          <a:noFill/>
          <a:ln/>
        </p:spPr>
        <p:txBody>
          <a:bodyPr wrap="square" rtlCol="0" anchor="ctr"/>
          <a:lstStyle/>
          <a:p>
            <a:pPr indent="0" marL="0">
              <a:buNone/>
            </a:pPr>
            <a:r>
              <a:rPr lang="en-US" sz="1100" b="1" dirty="0">
                <a:solidFill>
                  <a:srgbClr val="166534"/>
                </a:solidFill>
                <a:latin typeface="Calibri" pitchFamily="34" charset="0"/>
                <a:ea typeface="Calibri" pitchFamily="34" charset="-122"/>
                <a:cs typeface="Calibri" pitchFamily="34" charset="-120"/>
              </a:rPr>
              <a:t>What is the G-box?</a:t>
            </a:r>
            <a:endParaRPr lang="en-US" sz="1100" dirty="0"/>
          </a:p>
        </p:txBody>
      </p:sp>
      <p:sp>
        <p:nvSpPr>
          <p:cNvPr id="26" name="Text 23"/>
          <p:cNvSpPr/>
          <p:nvPr/>
        </p:nvSpPr>
        <p:spPr>
          <a:xfrm>
            <a:off x="5806440" y="2761488"/>
            <a:ext cx="2743200" cy="1316736"/>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The G-box (CACGTG) is the primary cis-element for bZIP transcription factors in plants. </a:t>
            </a:r>
            <a:pPr indent="0" marL="0">
              <a:buNone/>
            </a:pPr>
            <a:r>
              <a:rPr lang="en-US" sz="1000" dirty="0">
                <a:solidFill>
                  <a:srgbClr val="1E293B"/>
                </a:solidFill>
                <a:latin typeface="Calibri" pitchFamily="34" charset="0"/>
                <a:ea typeface="Calibri" pitchFamily="34" charset="-122"/>
                <a:cs typeface="Calibri" pitchFamily="34" charset="-120"/>
              </a:rPr>
              <a:t>It mediates responses to light (HY5), ABA stress (ABF1-4), and drought tolerance (ABI5). </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First characterised experimentally in 1998 — we recovered it computationally from 9 independent experiments.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9FF"/>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2600" b="1" dirty="0">
                <a:solidFill>
                  <a:srgbClr val="0B1D35"/>
                </a:solidFill>
                <a:latin typeface="Calibri" pitchFamily="34" charset="0"/>
                <a:ea typeface="Calibri" pitchFamily="34" charset="-122"/>
                <a:cs typeface="Calibri" pitchFamily="34" charset="-120"/>
              </a:rPr>
              <a:t>Human Transcription Factor Results</a:t>
            </a:r>
            <a:endParaRPr lang="en-US" sz="2600" dirty="0"/>
          </a:p>
        </p:txBody>
      </p:sp>
      <p:sp>
        <p:nvSpPr>
          <p:cNvPr id="3" name="Text 1"/>
          <p:cNvSpPr/>
          <p:nvPr/>
        </p:nvSpPr>
        <p:spPr>
          <a:xfrm>
            <a:off x="457200" y="704088"/>
            <a:ext cx="8229600" cy="256032"/>
          </a:xfrm>
          <a:prstGeom prst="rect">
            <a:avLst/>
          </a:prstGeom>
          <a:noFill/>
          <a:ln/>
        </p:spPr>
        <p:txBody>
          <a:bodyPr wrap="square"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Real ChIP-seq (ENCODE) and HT-SELEX data  ·  Known motifs independently confirmed</a:t>
            </a:r>
            <a:endParaRPr lang="en-US" sz="1100" dirty="0"/>
          </a:p>
        </p:txBody>
      </p:sp>
      <p:sp>
        <p:nvSpPr>
          <p:cNvPr id="4" name="Shape 2"/>
          <p:cNvSpPr/>
          <p:nvPr/>
        </p:nvSpPr>
        <p:spPr>
          <a:xfrm>
            <a:off x="457200" y="1078992"/>
            <a:ext cx="8229600" cy="120700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457200" y="1078992"/>
            <a:ext cx="73152" cy="1207008"/>
          </a:xfrm>
          <a:prstGeom prst="rect">
            <a:avLst/>
          </a:prstGeom>
          <a:solidFill>
            <a:srgbClr val="1D4ED8"/>
          </a:solidFill>
          <a:ln w="12700">
            <a:solidFill>
              <a:srgbClr val="1D4ED8"/>
            </a:solidFill>
            <a:prstDash val="solid"/>
          </a:ln>
        </p:spPr>
      </p:sp>
      <p:sp>
        <p:nvSpPr>
          <p:cNvPr id="6" name="Text 4"/>
          <p:cNvSpPr/>
          <p:nvPr/>
        </p:nvSpPr>
        <p:spPr>
          <a:xfrm>
            <a:off x="658368" y="1170432"/>
            <a:ext cx="1097280" cy="347472"/>
          </a:xfrm>
          <a:prstGeom prst="rect">
            <a:avLst/>
          </a:prstGeom>
          <a:noFill/>
          <a:ln/>
        </p:spPr>
        <p:txBody>
          <a:bodyPr wrap="square" lIns="0" tIns="0" rIns="0" bIns="0" rtlCol="0" anchor="ctr"/>
          <a:lstStyle/>
          <a:p>
            <a:pPr indent="0" marL="0">
              <a:buNone/>
            </a:pPr>
            <a:r>
              <a:rPr lang="en-US" sz="1600" b="1" dirty="0">
                <a:solidFill>
                  <a:srgbClr val="0B1D35"/>
                </a:solidFill>
                <a:latin typeface="Calibri" pitchFamily="34" charset="0"/>
                <a:ea typeface="Calibri" pitchFamily="34" charset="-122"/>
                <a:cs typeface="Calibri" pitchFamily="34" charset="-120"/>
              </a:rPr>
              <a:t>CTCF</a:t>
            </a:r>
            <a:endParaRPr lang="en-US" sz="1600" dirty="0"/>
          </a:p>
        </p:txBody>
      </p:sp>
      <p:sp>
        <p:nvSpPr>
          <p:cNvPr id="7" name="Shape 5"/>
          <p:cNvSpPr/>
          <p:nvPr/>
        </p:nvSpPr>
        <p:spPr>
          <a:xfrm>
            <a:off x="1783080" y="1207008"/>
            <a:ext cx="1463040" cy="228600"/>
          </a:xfrm>
          <a:prstGeom prst="roundRect">
            <a:avLst>
              <a:gd name="adj" fmla="val 24000"/>
            </a:avLst>
          </a:prstGeom>
          <a:solidFill>
            <a:srgbClr val="1D4ED8">
              <a:alpha val="15000"/>
            </a:srgbClr>
          </a:solidFill>
          <a:ln w="12700">
            <a:solidFill>
              <a:srgbClr val="1D4ED8"/>
            </a:solidFill>
            <a:prstDash val="solid"/>
          </a:ln>
        </p:spPr>
      </p:sp>
      <p:sp>
        <p:nvSpPr>
          <p:cNvPr id="8" name="Text 6"/>
          <p:cNvSpPr/>
          <p:nvPr/>
        </p:nvSpPr>
        <p:spPr>
          <a:xfrm>
            <a:off x="1783080" y="1207008"/>
            <a:ext cx="1463040" cy="228600"/>
          </a:xfrm>
          <a:prstGeom prst="rect">
            <a:avLst/>
          </a:prstGeom>
          <a:noFill/>
          <a:ln/>
        </p:spPr>
        <p:txBody>
          <a:bodyPr wrap="square" lIns="0" tIns="0" rIns="0" bIns="0" rtlCol="0" anchor="ctr"/>
          <a:lstStyle/>
          <a:p>
            <a:pPr algn="ctr" indent="0" marL="0">
              <a:buNone/>
            </a:pPr>
            <a:r>
              <a:rPr lang="en-US" sz="800" b="1" dirty="0">
                <a:solidFill>
                  <a:srgbClr val="1D4ED8"/>
                </a:solidFill>
                <a:latin typeface="Calibri" pitchFamily="34" charset="0"/>
                <a:ea typeface="Calibri" pitchFamily="34" charset="-122"/>
                <a:cs typeface="Calibri" pitchFamily="34" charset="-120"/>
              </a:rPr>
              <a:t>ChIP-seq · MA0139.2</a:t>
            </a:r>
            <a:endParaRPr lang="en-US" sz="800" dirty="0"/>
          </a:p>
        </p:txBody>
      </p:sp>
      <p:sp>
        <p:nvSpPr>
          <p:cNvPr id="9" name="Text 7"/>
          <p:cNvSpPr/>
          <p:nvPr/>
        </p:nvSpPr>
        <p:spPr>
          <a:xfrm>
            <a:off x="658368" y="1572768"/>
            <a:ext cx="1005840" cy="22860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Consensus:</a:t>
            </a:r>
            <a:endParaRPr lang="en-US" sz="900" dirty="0"/>
          </a:p>
        </p:txBody>
      </p:sp>
      <p:sp>
        <p:nvSpPr>
          <p:cNvPr id="10" name="Text 8"/>
          <p:cNvSpPr/>
          <p:nvPr/>
        </p:nvSpPr>
        <p:spPr>
          <a:xfrm>
            <a:off x="1664208" y="1536192"/>
            <a:ext cx="1463040" cy="274320"/>
          </a:xfrm>
          <a:prstGeom prst="rect">
            <a:avLst/>
          </a:prstGeom>
          <a:noFill/>
          <a:ln/>
        </p:spPr>
        <p:txBody>
          <a:bodyPr wrap="square" lIns="0" tIns="0" rIns="0" bIns="0" rtlCol="0" anchor="ctr"/>
          <a:lstStyle/>
          <a:p>
            <a:pPr indent="0" marL="0">
              <a:buNone/>
            </a:pPr>
            <a:r>
              <a:rPr lang="en-US" sz="1200" b="1" dirty="0">
                <a:solidFill>
                  <a:srgbClr val="1D4ED8"/>
                </a:solidFill>
                <a:latin typeface="Consolas" pitchFamily="34" charset="0"/>
                <a:ea typeface="Consolas" pitchFamily="34" charset="-122"/>
                <a:cs typeface="Consolas" pitchFamily="34" charset="-120"/>
              </a:rPr>
              <a:t>CACCAGGGGG</a:t>
            </a:r>
            <a:endParaRPr lang="en-US" sz="1200" dirty="0"/>
          </a:p>
        </p:txBody>
      </p:sp>
      <p:sp>
        <p:nvSpPr>
          <p:cNvPr id="11" name="Text 9"/>
          <p:cNvSpPr/>
          <p:nvPr/>
        </p:nvSpPr>
        <p:spPr>
          <a:xfrm>
            <a:off x="658368" y="1828800"/>
            <a:ext cx="2377440" cy="256032"/>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MEME IC: 9.00  →  Gibbs IC: 11.29 bits</a:t>
            </a:r>
            <a:endParaRPr lang="en-US" sz="1000" dirty="0"/>
          </a:p>
        </p:txBody>
      </p:sp>
      <p:sp>
        <p:nvSpPr>
          <p:cNvPr id="12" name="Text 10"/>
          <p:cNvSpPr/>
          <p:nvPr/>
        </p:nvSpPr>
        <p:spPr>
          <a:xfrm>
            <a:off x="3108960" y="1828800"/>
            <a:ext cx="2011680" cy="256032"/>
          </a:xfrm>
          <a:prstGeom prst="rect">
            <a:avLst/>
          </a:prstGeom>
          <a:noFill/>
          <a:ln/>
        </p:spPr>
        <p:txBody>
          <a:bodyPr wrap="square" lIns="0" tIns="0" rIns="0" bIns="0" rtlCol="0" anchor="ctr"/>
          <a:lstStyle/>
          <a:p>
            <a:pPr indent="0" marL="0">
              <a:buNone/>
            </a:pPr>
            <a:r>
              <a:rPr lang="en-US" sz="1000" i="1" dirty="0">
                <a:solidFill>
                  <a:srgbClr val="475569"/>
                </a:solidFill>
                <a:latin typeface="Calibri" pitchFamily="34" charset="0"/>
                <a:ea typeface="Calibri" pitchFamily="34" charset="-122"/>
                <a:cs typeface="Calibri" pitchFamily="34" charset="-120"/>
              </a:rPr>
              <a:t>E = 4.7×10⁻¹³⁸</a:t>
            </a:r>
            <a:endParaRPr lang="en-US" sz="1000" dirty="0"/>
          </a:p>
        </p:txBody>
      </p:sp>
      <p:sp>
        <p:nvSpPr>
          <p:cNvPr id="13" name="Text 11"/>
          <p:cNvSpPr/>
          <p:nvPr/>
        </p:nvSpPr>
        <p:spPr>
          <a:xfrm>
            <a:off x="5257800" y="1170432"/>
            <a:ext cx="3337560" cy="1005840"/>
          </a:xfrm>
          <a:prstGeom prst="rect">
            <a:avLst/>
          </a:prstGeom>
          <a:noFill/>
          <a:ln/>
        </p:spPr>
        <p:txBody>
          <a:bodyPr wrap="square" rtlCol="0" anchor="ctr"/>
          <a:lstStyle/>
          <a:p>
            <a:pPr indent="0" marL="0">
              <a:buNone/>
            </a:pPr>
            <a:r>
              <a:rPr lang="en-US" sz="1000" dirty="0">
                <a:solidFill>
                  <a:srgbClr val="475569"/>
                </a:solidFill>
                <a:latin typeface="Calibri" pitchFamily="34" charset="0"/>
                <a:ea typeface="Calibri" pitchFamily="34" charset="-122"/>
                <a:cs typeface="Calibri" pitchFamily="34" charset="-120"/>
              </a:rPr>
              <a:t>GC-rich insulator · 19M genome-wide sites · 3D chromatin organiser</a:t>
            </a:r>
            <a:endParaRPr lang="en-US" sz="1000" dirty="0"/>
          </a:p>
        </p:txBody>
      </p:sp>
      <p:pic>
        <p:nvPicPr>
          <p:cNvPr id="14" name="Image 0" descr="preencoded.png">    </p:cNvPr>
          <p:cNvPicPr>
            <a:picLocks noChangeAspect="1"/>
          </p:cNvPicPr>
          <p:nvPr/>
        </p:nvPicPr>
        <p:blipFill>
          <a:blip r:embed="rId1"/>
          <a:srcRect l="0" r="0" t="0" b="0"/>
          <a:stretch/>
        </p:blipFill>
        <p:spPr>
          <a:xfrm>
            <a:off x="3090672" y="1170432"/>
            <a:ext cx="2029968" cy="1005840"/>
          </a:xfrm>
          <a:prstGeom prst="rect">
            <a:avLst/>
          </a:prstGeom>
        </p:spPr>
      </p:pic>
      <p:sp>
        <p:nvSpPr>
          <p:cNvPr id="15" name="Shape 12"/>
          <p:cNvSpPr/>
          <p:nvPr/>
        </p:nvSpPr>
        <p:spPr>
          <a:xfrm>
            <a:off x="457200" y="2404872"/>
            <a:ext cx="8229600" cy="120700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6" name="Shape 13"/>
          <p:cNvSpPr/>
          <p:nvPr/>
        </p:nvSpPr>
        <p:spPr>
          <a:xfrm>
            <a:off x="457200" y="2404872"/>
            <a:ext cx="73152" cy="1207008"/>
          </a:xfrm>
          <a:prstGeom prst="rect">
            <a:avLst/>
          </a:prstGeom>
          <a:solidFill>
            <a:srgbClr val="7C3AED"/>
          </a:solidFill>
          <a:ln w="12700">
            <a:solidFill>
              <a:srgbClr val="7C3AED"/>
            </a:solidFill>
            <a:prstDash val="solid"/>
          </a:ln>
        </p:spPr>
      </p:sp>
      <p:sp>
        <p:nvSpPr>
          <p:cNvPr id="17" name="Text 14"/>
          <p:cNvSpPr/>
          <p:nvPr/>
        </p:nvSpPr>
        <p:spPr>
          <a:xfrm>
            <a:off x="658368" y="2496312"/>
            <a:ext cx="1097280" cy="347472"/>
          </a:xfrm>
          <a:prstGeom prst="rect">
            <a:avLst/>
          </a:prstGeom>
          <a:noFill/>
          <a:ln/>
        </p:spPr>
        <p:txBody>
          <a:bodyPr wrap="square" lIns="0" tIns="0" rIns="0" bIns="0" rtlCol="0" anchor="ctr"/>
          <a:lstStyle/>
          <a:p>
            <a:pPr indent="0" marL="0">
              <a:buNone/>
            </a:pPr>
            <a:r>
              <a:rPr lang="en-US" sz="1600" b="1" dirty="0">
                <a:solidFill>
                  <a:srgbClr val="0B1D35"/>
                </a:solidFill>
                <a:latin typeface="Calibri" pitchFamily="34" charset="0"/>
                <a:ea typeface="Calibri" pitchFamily="34" charset="-122"/>
                <a:cs typeface="Calibri" pitchFamily="34" charset="-120"/>
              </a:rPr>
              <a:t>E2F1</a:t>
            </a:r>
            <a:endParaRPr lang="en-US" sz="1600" dirty="0"/>
          </a:p>
        </p:txBody>
      </p:sp>
      <p:sp>
        <p:nvSpPr>
          <p:cNvPr id="18" name="Shape 15"/>
          <p:cNvSpPr/>
          <p:nvPr/>
        </p:nvSpPr>
        <p:spPr>
          <a:xfrm>
            <a:off x="1783080" y="2532888"/>
            <a:ext cx="1463040" cy="228600"/>
          </a:xfrm>
          <a:prstGeom prst="roundRect">
            <a:avLst>
              <a:gd name="adj" fmla="val 24000"/>
            </a:avLst>
          </a:prstGeom>
          <a:solidFill>
            <a:srgbClr val="7C3AED">
              <a:alpha val="15000"/>
            </a:srgbClr>
          </a:solidFill>
          <a:ln w="12700">
            <a:solidFill>
              <a:srgbClr val="7C3AED"/>
            </a:solidFill>
            <a:prstDash val="solid"/>
          </a:ln>
        </p:spPr>
      </p:sp>
      <p:sp>
        <p:nvSpPr>
          <p:cNvPr id="19" name="Text 16"/>
          <p:cNvSpPr/>
          <p:nvPr/>
        </p:nvSpPr>
        <p:spPr>
          <a:xfrm>
            <a:off x="1783080" y="2532888"/>
            <a:ext cx="1463040" cy="228600"/>
          </a:xfrm>
          <a:prstGeom prst="rect">
            <a:avLst/>
          </a:prstGeom>
          <a:noFill/>
          <a:ln/>
        </p:spPr>
        <p:txBody>
          <a:bodyPr wrap="square" lIns="0" tIns="0" rIns="0" bIns="0" rtlCol="0" anchor="ctr"/>
          <a:lstStyle/>
          <a:p>
            <a:pPr algn="ctr" indent="0" marL="0">
              <a:buNone/>
            </a:pPr>
            <a:r>
              <a:rPr lang="en-US" sz="800" b="1" dirty="0">
                <a:solidFill>
                  <a:srgbClr val="7C3AED"/>
                </a:solidFill>
                <a:latin typeface="Calibri" pitchFamily="34" charset="0"/>
                <a:ea typeface="Calibri" pitchFamily="34" charset="-122"/>
                <a:cs typeface="Calibri" pitchFamily="34" charset="-120"/>
              </a:rPr>
              <a:t>HT-SELEX · MA0024.3</a:t>
            </a:r>
            <a:endParaRPr lang="en-US" sz="800" dirty="0"/>
          </a:p>
        </p:txBody>
      </p:sp>
      <p:sp>
        <p:nvSpPr>
          <p:cNvPr id="20" name="Text 17"/>
          <p:cNvSpPr/>
          <p:nvPr/>
        </p:nvSpPr>
        <p:spPr>
          <a:xfrm>
            <a:off x="658368" y="2898648"/>
            <a:ext cx="1005840" cy="22860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Consensus:</a:t>
            </a:r>
            <a:endParaRPr lang="en-US" sz="900" dirty="0"/>
          </a:p>
        </p:txBody>
      </p:sp>
      <p:sp>
        <p:nvSpPr>
          <p:cNvPr id="21" name="Text 18"/>
          <p:cNvSpPr/>
          <p:nvPr/>
        </p:nvSpPr>
        <p:spPr>
          <a:xfrm>
            <a:off x="1664208" y="2862072"/>
            <a:ext cx="1463040" cy="274320"/>
          </a:xfrm>
          <a:prstGeom prst="rect">
            <a:avLst/>
          </a:prstGeom>
          <a:noFill/>
          <a:ln/>
        </p:spPr>
        <p:txBody>
          <a:bodyPr wrap="square" lIns="0" tIns="0" rIns="0" bIns="0" rtlCol="0" anchor="ctr"/>
          <a:lstStyle/>
          <a:p>
            <a:pPr indent="0" marL="0">
              <a:buNone/>
            </a:pPr>
            <a:r>
              <a:rPr lang="en-US" sz="1200" b="1" dirty="0">
                <a:solidFill>
                  <a:srgbClr val="7C3AED"/>
                </a:solidFill>
                <a:latin typeface="Consolas" pitchFamily="34" charset="0"/>
                <a:ea typeface="Consolas" pitchFamily="34" charset="-122"/>
                <a:cs typeface="Consolas" pitchFamily="34" charset="-120"/>
              </a:rPr>
              <a:t>TTGGCGCC</a:t>
            </a:r>
            <a:endParaRPr lang="en-US" sz="1200" dirty="0"/>
          </a:p>
        </p:txBody>
      </p:sp>
      <p:sp>
        <p:nvSpPr>
          <p:cNvPr id="22" name="Text 19"/>
          <p:cNvSpPr/>
          <p:nvPr/>
        </p:nvSpPr>
        <p:spPr>
          <a:xfrm>
            <a:off x="658368" y="3154680"/>
            <a:ext cx="2377440" cy="256032"/>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MEME IC: 10.11  →  Gibbs IC: 11.12 bits</a:t>
            </a:r>
            <a:endParaRPr lang="en-US" sz="1000" dirty="0"/>
          </a:p>
        </p:txBody>
      </p:sp>
      <p:sp>
        <p:nvSpPr>
          <p:cNvPr id="23" name="Text 20"/>
          <p:cNvSpPr/>
          <p:nvPr/>
        </p:nvSpPr>
        <p:spPr>
          <a:xfrm>
            <a:off x="3108960" y="3154680"/>
            <a:ext cx="2011680" cy="256032"/>
          </a:xfrm>
          <a:prstGeom prst="rect">
            <a:avLst/>
          </a:prstGeom>
          <a:noFill/>
          <a:ln/>
        </p:spPr>
        <p:txBody>
          <a:bodyPr wrap="square" lIns="0" tIns="0" rIns="0" bIns="0" rtlCol="0" anchor="ctr"/>
          <a:lstStyle/>
          <a:p>
            <a:pPr indent="0" marL="0">
              <a:buNone/>
            </a:pPr>
            <a:r>
              <a:rPr lang="en-US" sz="1000" i="1" dirty="0">
                <a:solidFill>
                  <a:srgbClr val="475569"/>
                </a:solidFill>
                <a:latin typeface="Calibri" pitchFamily="34" charset="0"/>
                <a:ea typeface="Calibri" pitchFamily="34" charset="-122"/>
                <a:cs typeface="Calibri" pitchFamily="34" charset="-120"/>
              </a:rPr>
              <a:t>E = 5.7×10⁻¹⁵²</a:t>
            </a:r>
            <a:endParaRPr lang="en-US" sz="1000" dirty="0"/>
          </a:p>
        </p:txBody>
      </p:sp>
      <p:sp>
        <p:nvSpPr>
          <p:cNvPr id="24" name="Text 21"/>
          <p:cNvSpPr/>
          <p:nvPr/>
        </p:nvSpPr>
        <p:spPr>
          <a:xfrm>
            <a:off x="5257800" y="2496312"/>
            <a:ext cx="3337560" cy="1005840"/>
          </a:xfrm>
          <a:prstGeom prst="rect">
            <a:avLst/>
          </a:prstGeom>
          <a:noFill/>
          <a:ln/>
        </p:spPr>
        <p:txBody>
          <a:bodyPr wrap="square" rtlCol="0" anchor="ctr"/>
          <a:lstStyle/>
          <a:p>
            <a:pPr indent="0" marL="0">
              <a:buNone/>
            </a:pPr>
            <a:r>
              <a:rPr lang="en-US" sz="1000" dirty="0">
                <a:solidFill>
                  <a:srgbClr val="475569"/>
                </a:solidFill>
                <a:latin typeface="Calibri" pitchFamily="34" charset="0"/>
                <a:ea typeface="Calibri" pitchFamily="34" charset="-122"/>
                <a:cs typeface="Calibri" pitchFamily="34" charset="-120"/>
              </a:rPr>
              <a:t>Cell-cycle factor · activates S-phase genes · GCGCGCGC preference</a:t>
            </a:r>
            <a:endParaRPr lang="en-US" sz="1000" dirty="0"/>
          </a:p>
        </p:txBody>
      </p:sp>
      <p:pic>
        <p:nvPicPr>
          <p:cNvPr id="25" name="Image 1" descr="preencoded.png">    </p:cNvPr>
          <p:cNvPicPr>
            <a:picLocks noChangeAspect="1"/>
          </p:cNvPicPr>
          <p:nvPr/>
        </p:nvPicPr>
        <p:blipFill>
          <a:blip r:embed="rId2"/>
          <a:srcRect l="0" r="0" t="0" b="0"/>
          <a:stretch/>
        </p:blipFill>
        <p:spPr>
          <a:xfrm>
            <a:off x="3090672" y="2496312"/>
            <a:ext cx="2029968" cy="1005840"/>
          </a:xfrm>
          <a:prstGeom prst="rect">
            <a:avLst/>
          </a:prstGeom>
        </p:spPr>
      </p:pic>
      <p:sp>
        <p:nvSpPr>
          <p:cNvPr id="26" name="Shape 22"/>
          <p:cNvSpPr/>
          <p:nvPr/>
        </p:nvSpPr>
        <p:spPr>
          <a:xfrm>
            <a:off x="457200" y="3730752"/>
            <a:ext cx="8229600" cy="120700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7" name="Shape 23"/>
          <p:cNvSpPr/>
          <p:nvPr/>
        </p:nvSpPr>
        <p:spPr>
          <a:xfrm>
            <a:off x="457200" y="3730752"/>
            <a:ext cx="73152" cy="1207008"/>
          </a:xfrm>
          <a:prstGeom prst="rect">
            <a:avLst/>
          </a:prstGeom>
          <a:solidFill>
            <a:srgbClr val="F59E0B"/>
          </a:solidFill>
          <a:ln w="12700">
            <a:solidFill>
              <a:srgbClr val="F59E0B"/>
            </a:solidFill>
            <a:prstDash val="solid"/>
          </a:ln>
        </p:spPr>
      </p:sp>
      <p:sp>
        <p:nvSpPr>
          <p:cNvPr id="28" name="Text 24"/>
          <p:cNvSpPr/>
          <p:nvPr/>
        </p:nvSpPr>
        <p:spPr>
          <a:xfrm>
            <a:off x="658368" y="3822192"/>
            <a:ext cx="1097280" cy="347472"/>
          </a:xfrm>
          <a:prstGeom prst="rect">
            <a:avLst/>
          </a:prstGeom>
          <a:noFill/>
          <a:ln/>
        </p:spPr>
        <p:txBody>
          <a:bodyPr wrap="square" lIns="0" tIns="0" rIns="0" bIns="0" rtlCol="0" anchor="ctr"/>
          <a:lstStyle/>
          <a:p>
            <a:pPr indent="0" marL="0">
              <a:buNone/>
            </a:pPr>
            <a:r>
              <a:rPr lang="en-US" sz="1600" b="1" dirty="0">
                <a:solidFill>
                  <a:srgbClr val="0B1D35"/>
                </a:solidFill>
                <a:latin typeface="Calibri" pitchFamily="34" charset="0"/>
                <a:ea typeface="Calibri" pitchFamily="34" charset="-122"/>
                <a:cs typeface="Calibri" pitchFamily="34" charset="-120"/>
              </a:rPr>
              <a:t>HOXA10</a:t>
            </a:r>
            <a:endParaRPr lang="en-US" sz="1600" dirty="0"/>
          </a:p>
        </p:txBody>
      </p:sp>
      <p:sp>
        <p:nvSpPr>
          <p:cNvPr id="29" name="Shape 25"/>
          <p:cNvSpPr/>
          <p:nvPr/>
        </p:nvSpPr>
        <p:spPr>
          <a:xfrm>
            <a:off x="1783080" y="3858768"/>
            <a:ext cx="1463040" cy="228600"/>
          </a:xfrm>
          <a:prstGeom prst="roundRect">
            <a:avLst>
              <a:gd name="adj" fmla="val 24000"/>
            </a:avLst>
          </a:prstGeom>
          <a:solidFill>
            <a:srgbClr val="F59E0B">
              <a:alpha val="15000"/>
            </a:srgbClr>
          </a:solidFill>
          <a:ln w="12700">
            <a:solidFill>
              <a:srgbClr val="F59E0B"/>
            </a:solidFill>
            <a:prstDash val="solid"/>
          </a:ln>
        </p:spPr>
      </p:sp>
      <p:sp>
        <p:nvSpPr>
          <p:cNvPr id="30" name="Text 26"/>
          <p:cNvSpPr/>
          <p:nvPr/>
        </p:nvSpPr>
        <p:spPr>
          <a:xfrm>
            <a:off x="1783080" y="3858768"/>
            <a:ext cx="1463040" cy="228600"/>
          </a:xfrm>
          <a:prstGeom prst="rect">
            <a:avLst/>
          </a:prstGeom>
          <a:noFill/>
          <a:ln/>
        </p:spPr>
        <p:txBody>
          <a:bodyPr wrap="square" lIns="0" tIns="0" rIns="0" bIns="0" rtlCol="0" anchor="ctr"/>
          <a:lstStyle/>
          <a:p>
            <a:pPr algn="ctr" indent="0" marL="0">
              <a:buNone/>
            </a:pPr>
            <a:r>
              <a:rPr lang="en-US" sz="800" b="1" dirty="0">
                <a:solidFill>
                  <a:srgbClr val="F59E0B"/>
                </a:solidFill>
                <a:latin typeface="Calibri" pitchFamily="34" charset="0"/>
                <a:ea typeface="Calibri" pitchFamily="34" charset="-122"/>
                <a:cs typeface="Calibri" pitchFamily="34" charset="-120"/>
              </a:rPr>
              <a:t>HT-SELEX · MA0899.1</a:t>
            </a:r>
            <a:endParaRPr lang="en-US" sz="800" dirty="0"/>
          </a:p>
        </p:txBody>
      </p:sp>
      <p:sp>
        <p:nvSpPr>
          <p:cNvPr id="31" name="Text 27"/>
          <p:cNvSpPr/>
          <p:nvPr/>
        </p:nvSpPr>
        <p:spPr>
          <a:xfrm>
            <a:off x="658368" y="4224528"/>
            <a:ext cx="1005840" cy="22860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Consensus:</a:t>
            </a:r>
            <a:endParaRPr lang="en-US" sz="900" dirty="0"/>
          </a:p>
        </p:txBody>
      </p:sp>
      <p:sp>
        <p:nvSpPr>
          <p:cNvPr id="32" name="Text 28"/>
          <p:cNvSpPr/>
          <p:nvPr/>
        </p:nvSpPr>
        <p:spPr>
          <a:xfrm>
            <a:off x="1664208" y="4187952"/>
            <a:ext cx="1463040" cy="274320"/>
          </a:xfrm>
          <a:prstGeom prst="rect">
            <a:avLst/>
          </a:prstGeom>
          <a:noFill/>
          <a:ln/>
        </p:spPr>
        <p:txBody>
          <a:bodyPr wrap="square" lIns="0" tIns="0" rIns="0" bIns="0" rtlCol="0" anchor="ctr"/>
          <a:lstStyle/>
          <a:p>
            <a:pPr indent="0" marL="0">
              <a:buNone/>
            </a:pPr>
            <a:r>
              <a:rPr lang="en-US" sz="1200" b="1" dirty="0">
                <a:solidFill>
                  <a:srgbClr val="F59E0B"/>
                </a:solidFill>
                <a:latin typeface="Consolas" pitchFamily="34" charset="0"/>
                <a:ea typeface="Consolas" pitchFamily="34" charset="-122"/>
                <a:cs typeface="Consolas" pitchFamily="34" charset="-120"/>
              </a:rPr>
              <a:t>GTAATAAA</a:t>
            </a:r>
            <a:endParaRPr lang="en-US" sz="1200" dirty="0"/>
          </a:p>
        </p:txBody>
      </p:sp>
      <p:sp>
        <p:nvSpPr>
          <p:cNvPr id="33" name="Text 29"/>
          <p:cNvSpPr/>
          <p:nvPr/>
        </p:nvSpPr>
        <p:spPr>
          <a:xfrm>
            <a:off x="658368" y="4480560"/>
            <a:ext cx="2377440" cy="256032"/>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MEME IC: 6.52  →  Gibbs IC: 7.38 bits</a:t>
            </a:r>
            <a:endParaRPr lang="en-US" sz="1000" dirty="0"/>
          </a:p>
        </p:txBody>
      </p:sp>
      <p:sp>
        <p:nvSpPr>
          <p:cNvPr id="34" name="Text 30"/>
          <p:cNvSpPr/>
          <p:nvPr/>
        </p:nvSpPr>
        <p:spPr>
          <a:xfrm>
            <a:off x="3108960" y="4480560"/>
            <a:ext cx="2011680" cy="256032"/>
          </a:xfrm>
          <a:prstGeom prst="rect">
            <a:avLst/>
          </a:prstGeom>
          <a:noFill/>
          <a:ln/>
        </p:spPr>
        <p:txBody>
          <a:bodyPr wrap="square" lIns="0" tIns="0" rIns="0" bIns="0" rtlCol="0" anchor="ctr"/>
          <a:lstStyle/>
          <a:p>
            <a:pPr indent="0" marL="0">
              <a:buNone/>
            </a:pPr>
            <a:r>
              <a:rPr lang="en-US" sz="1000" i="1" dirty="0">
                <a:solidFill>
                  <a:srgbClr val="475569"/>
                </a:solidFill>
                <a:latin typeface="Calibri" pitchFamily="34" charset="0"/>
                <a:ea typeface="Calibri" pitchFamily="34" charset="-122"/>
                <a:cs typeface="Calibri" pitchFamily="34" charset="-120"/>
              </a:rPr>
              <a:t>E = 6.7×10⁻¹⁰¹</a:t>
            </a:r>
            <a:endParaRPr lang="en-US" sz="1000" dirty="0"/>
          </a:p>
        </p:txBody>
      </p:sp>
      <p:sp>
        <p:nvSpPr>
          <p:cNvPr id="35" name="Text 31"/>
          <p:cNvSpPr/>
          <p:nvPr/>
        </p:nvSpPr>
        <p:spPr>
          <a:xfrm>
            <a:off x="5257800" y="3822192"/>
            <a:ext cx="3337560" cy="1005840"/>
          </a:xfrm>
          <a:prstGeom prst="rect">
            <a:avLst/>
          </a:prstGeom>
          <a:noFill/>
          <a:ln/>
        </p:spPr>
        <p:txBody>
          <a:bodyPr wrap="square" rtlCol="0" anchor="ctr"/>
          <a:lstStyle/>
          <a:p>
            <a:pPr indent="0" marL="0">
              <a:buNone/>
            </a:pPr>
            <a:r>
              <a:rPr lang="en-US" sz="1000" dirty="0">
                <a:solidFill>
                  <a:srgbClr val="475569"/>
                </a:solidFill>
                <a:latin typeface="Calibri" pitchFamily="34" charset="0"/>
                <a:ea typeface="Calibri" pitchFamily="34" charset="-122"/>
                <a:cs typeface="Calibri" pitchFamily="34" charset="-120"/>
              </a:rPr>
              <a:t>HOX homeodomain · TAAT core · limb segment identity</a:t>
            </a:r>
            <a:endParaRPr lang="en-US" sz="1000" dirty="0"/>
          </a:p>
        </p:txBody>
      </p:sp>
      <p:pic>
        <p:nvPicPr>
          <p:cNvPr id="36" name="Image 2" descr="preencoded.png">    </p:cNvPr>
          <p:cNvPicPr>
            <a:picLocks noChangeAspect="1"/>
          </p:cNvPicPr>
          <p:nvPr/>
        </p:nvPicPr>
        <p:blipFill>
          <a:blip r:embed="rId3"/>
          <a:srcRect l="0" r="0" t="0" b="0"/>
          <a:stretch/>
        </p:blipFill>
        <p:spPr>
          <a:xfrm>
            <a:off x="3090672" y="3822192"/>
            <a:ext cx="2029968" cy="10058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9FF"/>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2600" b="1" dirty="0">
                <a:solidFill>
                  <a:srgbClr val="0B1D35"/>
                </a:solidFill>
                <a:latin typeface="Calibri" pitchFamily="34" charset="0"/>
                <a:ea typeface="Calibri" pitchFamily="34" charset="-122"/>
                <a:cs typeface="Calibri" pitchFamily="34" charset="-120"/>
              </a:rPr>
              <a:t>Yeast &amp; Synthetic Benchmark Results</a:t>
            </a:r>
            <a:endParaRPr lang="en-US" sz="2600" dirty="0"/>
          </a:p>
        </p:txBody>
      </p:sp>
      <p:sp>
        <p:nvSpPr>
          <p:cNvPr id="3" name="Shape 1"/>
          <p:cNvSpPr/>
          <p:nvPr/>
        </p:nvSpPr>
        <p:spPr>
          <a:xfrm>
            <a:off x="457200" y="841248"/>
            <a:ext cx="4023360" cy="39776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4" name="Shape 2"/>
          <p:cNvSpPr/>
          <p:nvPr/>
        </p:nvSpPr>
        <p:spPr>
          <a:xfrm>
            <a:off x="457200" y="841248"/>
            <a:ext cx="4023360" cy="347472"/>
          </a:xfrm>
          <a:prstGeom prst="rect">
            <a:avLst/>
          </a:prstGeom>
          <a:solidFill>
            <a:srgbClr val="7C3AED"/>
          </a:solidFill>
          <a:ln w="12700">
            <a:solidFill>
              <a:srgbClr val="7C3AED"/>
            </a:solidFill>
            <a:prstDash val="solid"/>
          </a:ln>
        </p:spPr>
      </p:sp>
      <p:sp>
        <p:nvSpPr>
          <p:cNvPr id="5" name="Text 3"/>
          <p:cNvSpPr/>
          <p:nvPr/>
        </p:nvSpPr>
        <p:spPr>
          <a:xfrm>
            <a:off x="594360" y="841248"/>
            <a:ext cx="374904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Yeast ABF1/ABF2  (S. cerevisiae)</a:t>
            </a:r>
            <a:endParaRPr lang="en-US" sz="1200" dirty="0"/>
          </a:p>
        </p:txBody>
      </p:sp>
      <p:pic>
        <p:nvPicPr>
          <p:cNvPr id="6" name="Image 0" descr="preencoded.png">    </p:cNvPr>
          <p:cNvPicPr>
            <a:picLocks noChangeAspect="1"/>
          </p:cNvPicPr>
          <p:nvPr/>
        </p:nvPicPr>
        <p:blipFill>
          <a:blip r:embed="rId1"/>
          <a:srcRect l="0" r="0" t="0" b="0"/>
          <a:stretch/>
        </p:blipFill>
        <p:spPr>
          <a:xfrm>
            <a:off x="548640" y="1261872"/>
            <a:ext cx="3840480" cy="1234440"/>
          </a:xfrm>
          <a:prstGeom prst="rect">
            <a:avLst/>
          </a:prstGeom>
        </p:spPr>
      </p:pic>
      <p:sp>
        <p:nvSpPr>
          <p:cNvPr id="7" name="Text 4"/>
          <p:cNvSpPr/>
          <p:nvPr/>
        </p:nvSpPr>
        <p:spPr>
          <a:xfrm>
            <a:off x="594360" y="2560320"/>
            <a:ext cx="3749040" cy="274320"/>
          </a:xfrm>
          <a:prstGeom prst="rect">
            <a:avLst/>
          </a:prstGeom>
          <a:noFill/>
          <a:ln/>
        </p:spPr>
        <p:txBody>
          <a:bodyPr wrap="square" rtlCol="0" anchor="ctr"/>
          <a:lstStyle/>
          <a:p>
            <a:pPr indent="0" marL="0">
              <a:buNone/>
            </a:pPr>
            <a:r>
              <a:rPr lang="en-US" sz="1100" b="1" dirty="0">
                <a:solidFill>
                  <a:srgbClr val="0B1D35"/>
                </a:solidFill>
                <a:latin typeface="Calibri" pitchFamily="34" charset="0"/>
                <a:ea typeface="Calibri" pitchFamily="34" charset="-122"/>
                <a:cs typeface="Calibri" pitchFamily="34" charset="-120"/>
              </a:rPr>
              <a:t>MEME: </a:t>
            </a:r>
            <a:pPr indent="0" marL="0">
              <a:buNone/>
            </a:pPr>
            <a:r>
              <a:rPr lang="en-US" sz="1100" dirty="0">
                <a:solidFill>
                  <a:srgbClr val="7C3AED"/>
                </a:solidFill>
                <a:latin typeface="Consolas" pitchFamily="34" charset="0"/>
                <a:ea typeface="Consolas" pitchFamily="34" charset="-122"/>
                <a:cs typeface="Consolas" pitchFamily="34" charset="-120"/>
              </a:rPr>
              <a:t>CTCTAGAA</a:t>
            </a:r>
            <a:pPr indent="0" marL="0">
              <a:buNone/>
            </a:pPr>
            <a:r>
              <a:rPr lang="en-US" sz="1000" dirty="0">
                <a:solidFill>
                  <a:srgbClr val="475569"/>
                </a:solidFill>
                <a:latin typeface="Calibri" pitchFamily="34" charset="0"/>
                <a:ea typeface="Calibri" pitchFamily="34" charset="-122"/>
                <a:cs typeface="Calibri" pitchFamily="34" charset="-120"/>
              </a:rPr>
              <a:t>   IC = 6.63 bits</a:t>
            </a:r>
            <a:endParaRPr lang="en-US" sz="1100" dirty="0"/>
          </a:p>
        </p:txBody>
      </p:sp>
      <p:sp>
        <p:nvSpPr>
          <p:cNvPr id="8" name="Text 5"/>
          <p:cNvSpPr/>
          <p:nvPr/>
        </p:nvSpPr>
        <p:spPr>
          <a:xfrm>
            <a:off x="594360" y="2852928"/>
            <a:ext cx="3749040" cy="274320"/>
          </a:xfrm>
          <a:prstGeom prst="rect">
            <a:avLst/>
          </a:prstGeom>
          <a:noFill/>
          <a:ln/>
        </p:spPr>
        <p:txBody>
          <a:bodyPr wrap="square" rtlCol="0" anchor="ctr"/>
          <a:lstStyle/>
          <a:p>
            <a:pPr indent="0" marL="0">
              <a:buNone/>
            </a:pPr>
            <a:r>
              <a:rPr lang="en-US" sz="1100" b="1" dirty="0">
                <a:solidFill>
                  <a:srgbClr val="0B1D35"/>
                </a:solidFill>
                <a:latin typeface="Calibri" pitchFamily="34" charset="0"/>
                <a:ea typeface="Calibri" pitchFamily="34" charset="-122"/>
                <a:cs typeface="Calibri" pitchFamily="34" charset="-120"/>
              </a:rPr>
              <a:t>Gibbs: </a:t>
            </a:r>
            <a:pPr indent="0" marL="0">
              <a:buNone/>
            </a:pPr>
            <a:r>
              <a:rPr lang="en-US" sz="1100" dirty="0">
                <a:solidFill>
                  <a:srgbClr val="0D9488"/>
                </a:solidFill>
                <a:latin typeface="Consolas" pitchFamily="34" charset="0"/>
                <a:ea typeface="Consolas" pitchFamily="34" charset="-122"/>
                <a:cs typeface="Consolas" pitchFamily="34" charset="-120"/>
              </a:rPr>
              <a:t>CTAGATAT</a:t>
            </a:r>
            <a:pPr indent="0" marL="0">
              <a:buNone/>
            </a:pPr>
            <a:r>
              <a:rPr lang="en-US" sz="1000" dirty="0">
                <a:solidFill>
                  <a:srgbClr val="475569"/>
                </a:solidFill>
                <a:latin typeface="Calibri" pitchFamily="34" charset="0"/>
                <a:ea typeface="Calibri" pitchFamily="34" charset="-122"/>
                <a:cs typeface="Calibri" pitchFamily="34" charset="-120"/>
              </a:rPr>
              <a:t>   IC = 6.72 bits</a:t>
            </a:r>
            <a:endParaRPr lang="en-US" sz="1100" dirty="0"/>
          </a:p>
        </p:txBody>
      </p:sp>
      <p:sp>
        <p:nvSpPr>
          <p:cNvPr id="9" name="Text 6"/>
          <p:cNvSpPr/>
          <p:nvPr/>
        </p:nvSpPr>
        <p:spPr>
          <a:xfrm>
            <a:off x="594360" y="3218688"/>
            <a:ext cx="3749040" cy="1371600"/>
          </a:xfrm>
          <a:prstGeom prst="rect">
            <a:avLst/>
          </a:prstGeom>
          <a:noFill/>
          <a:ln/>
        </p:spPr>
        <p:txBody>
          <a:bodyPr wrap="square" rtlCol="0" anchor="ctr"/>
          <a:lstStyle/>
          <a:p>
            <a:pPr indent="0" marL="0">
              <a:buNone/>
            </a:pPr>
            <a:r>
              <a:rPr lang="en-US" sz="1000" dirty="0">
                <a:solidFill>
                  <a:srgbClr val="475569"/>
                </a:solidFill>
                <a:latin typeface="Calibri" pitchFamily="34" charset="0"/>
                <a:ea typeface="Calibri" pitchFamily="34" charset="-122"/>
                <a:cs typeface="Calibri" pitchFamily="34" charset="-120"/>
              </a:rPr>
              <a:t>ABF1 is a multifunctional yeast TF involved in DNA replication, transcription silencing, and chromatin organisation. Both results match the known RTCGATCGA core (Buchman et al., 1988).</a:t>
            </a:r>
            <a:endParaRPr lang="en-US" sz="1000" dirty="0"/>
          </a:p>
        </p:txBody>
      </p:sp>
      <p:sp>
        <p:nvSpPr>
          <p:cNvPr id="10" name="Shape 7"/>
          <p:cNvSpPr/>
          <p:nvPr/>
        </p:nvSpPr>
        <p:spPr>
          <a:xfrm>
            <a:off x="4663440" y="841248"/>
            <a:ext cx="4023360" cy="39776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1" name="Shape 8"/>
          <p:cNvSpPr/>
          <p:nvPr/>
        </p:nvSpPr>
        <p:spPr>
          <a:xfrm>
            <a:off x="4663440" y="841248"/>
            <a:ext cx="4023360" cy="347472"/>
          </a:xfrm>
          <a:prstGeom prst="rect">
            <a:avLst/>
          </a:prstGeom>
          <a:solidFill>
            <a:srgbClr val="F59E0B"/>
          </a:solidFill>
          <a:ln w="12700">
            <a:solidFill>
              <a:srgbClr val="F59E0B"/>
            </a:solidFill>
            <a:prstDash val="solid"/>
          </a:ln>
        </p:spPr>
      </p:sp>
      <p:sp>
        <p:nvSpPr>
          <p:cNvPr id="12" name="Text 9"/>
          <p:cNvSpPr/>
          <p:nvPr/>
        </p:nvSpPr>
        <p:spPr>
          <a:xfrm>
            <a:off x="4800600" y="841248"/>
            <a:ext cx="374904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Synthetic Benchmarks — Ground Truth Known</a:t>
            </a:r>
            <a:endParaRPr lang="en-US" sz="1200" dirty="0"/>
          </a:p>
        </p:txBody>
      </p:sp>
      <p:pic>
        <p:nvPicPr>
          <p:cNvPr id="13" name="Image 1" descr="preencoded.png">    </p:cNvPr>
          <p:cNvPicPr>
            <a:picLocks noChangeAspect="1"/>
          </p:cNvPicPr>
          <p:nvPr/>
        </p:nvPicPr>
        <p:blipFill>
          <a:blip r:embed="rId2"/>
          <a:srcRect l="0" r="0" t="0" b="0"/>
          <a:stretch/>
        </p:blipFill>
        <p:spPr>
          <a:xfrm>
            <a:off x="4754880" y="1261872"/>
            <a:ext cx="3840480" cy="1188720"/>
          </a:xfrm>
          <a:prstGeom prst="rect">
            <a:avLst/>
          </a:prstGeom>
        </p:spPr>
      </p:pic>
      <p:sp>
        <p:nvSpPr>
          <p:cNvPr id="14" name="Text 10"/>
          <p:cNvSpPr/>
          <p:nvPr/>
        </p:nvSpPr>
        <p:spPr>
          <a:xfrm>
            <a:off x="4800600" y="2487168"/>
            <a:ext cx="3749040" cy="237744"/>
          </a:xfrm>
          <a:prstGeom prst="rect">
            <a:avLst/>
          </a:prstGeom>
          <a:noFill/>
          <a:ln/>
        </p:spPr>
        <p:txBody>
          <a:bodyPr wrap="square" rtlCol="0" anchor="ctr"/>
          <a:lstStyle/>
          <a:p>
            <a:pPr indent="0" marL="0">
              <a:buNone/>
            </a:pPr>
            <a:r>
              <a:rPr lang="en-US" sz="950" i="1" dirty="0">
                <a:solidFill>
                  <a:srgbClr val="475569"/>
                </a:solidFill>
                <a:latin typeface="Calibri" pitchFamily="34" charset="0"/>
                <a:ea typeface="Calibri" pitchFamily="34" charset="-122"/>
                <a:cs typeface="Calibri" pitchFamily="34" charset="-120"/>
              </a:rPr>
              <a:t>Planted TATATAAG  (10% mutation, 20 sequences)</a:t>
            </a:r>
            <a:endParaRPr lang="en-US" sz="9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754880" y="2788920"/>
          <a:ext cx="3840480" cy="1097280"/>
        </p:xfrm>
        <a:graphic>
          <a:graphicData uri="http://schemas.openxmlformats.org/drawingml/2006/table">
            <a:tbl>
              <a:tblPr/>
              <a:tblGrid>
                <a:gridCol w="1463040"/>
                <a:gridCol w="777240"/>
                <a:gridCol w="868680"/>
                <a:gridCol w="731520"/>
              </a:tblGrid>
              <a:tr h="274320">
                <a:tc>
                  <a:txBody>
                    <a:bodyPr/>
                    <a:lstStyle/>
                    <a:p>
                      <a:pPr indent="0" marL="0">
                        <a:buNone/>
                      </a:pPr>
                      <a:r>
                        <a:rPr lang="en-US" sz="1000" b="1" dirty="0">
                          <a:solidFill>
                            <a:srgbClr val="FFFFFF"/>
                          </a:solidFill>
                        </a:rPr>
                        <a:t>Dataset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D35"/>
                    </a:solidFill>
                  </a:tcPr>
                </a:tc>
                <a:tc>
                  <a:txBody>
                    <a:bodyPr/>
                    <a:lstStyle/>
                    <a:p>
                      <a:pPr indent="0" marL="0">
                        <a:buNone/>
                      </a:pPr>
                      <a:r>
                        <a:rPr lang="en-US" sz="1000" b="1" dirty="0">
                          <a:solidFill>
                            <a:srgbClr val="FFFFFF"/>
                          </a:solidFill>
                        </a:rPr>
                        <a:t>MEME IC</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D35"/>
                    </a:solidFill>
                  </a:tcPr>
                </a:tc>
                <a:tc>
                  <a:txBody>
                    <a:bodyPr/>
                    <a:lstStyle/>
                    <a:p>
                      <a:pPr indent="0" marL="0">
                        <a:buNone/>
                      </a:pPr>
                      <a:r>
                        <a:rPr lang="en-US" sz="1000" b="1" dirty="0">
                          <a:solidFill>
                            <a:srgbClr val="FFFFFF"/>
                          </a:solidFill>
                        </a:rPr>
                        <a:t>Gibbs IC</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D35"/>
                    </a:solidFill>
                  </a:tcPr>
                </a:tc>
                <a:tc>
                  <a:txBody>
                    <a:bodyPr/>
                    <a:lstStyle/>
                    <a:p>
                      <a:pPr indent="0" marL="0">
                        <a:buNone/>
                      </a:pPr>
                      <a:r>
                        <a:rPr lang="en-US" sz="1000" b="1" dirty="0">
                          <a:solidFill>
                            <a:srgbClr val="FFFFFF"/>
                          </a:solidFill>
                        </a:rPr>
                        <a:t>Site Acc.</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D35"/>
                    </a:solidFill>
                  </a:tcPr>
                </a:tc>
              </a:tr>
              <a:tr h="274320">
                <a:tc>
                  <a:txBody>
                    <a:bodyPr/>
                    <a:lstStyle/>
                    <a:p>
                      <a:pPr indent="0" marL="0">
                        <a:buNone/>
                      </a:pPr>
                      <a:r>
                        <a:rPr lang="en-US" sz="1000" b="1" dirty="0">
                          <a:solidFill>
                            <a:srgbClr val="1E293B"/>
                          </a:solidFill>
                        </a:rPr>
                        <a:t>TATA-box</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rPr>
                        <a:t>6.96</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D9488"/>
                          </a:solidFill>
                        </a:rPr>
                        <a:t>10.66</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rPr>
                        <a:t>0.90</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74320">
                <a:tc>
                  <a:txBody>
                    <a:bodyPr/>
                    <a:lstStyle/>
                    <a:p>
                      <a:pPr indent="0" marL="0">
                        <a:buNone/>
                      </a:pPr>
                      <a:r>
                        <a:rPr lang="en-US" sz="1000" b="1" dirty="0">
                          <a:solidFill>
                            <a:srgbClr val="1E293B"/>
                          </a:solidFill>
                        </a:rPr>
                        <a:t>E-box (CACGTG)</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1E293B"/>
                          </a:solidFill>
                        </a:rPr>
                        <a:t>6.90</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0D9488"/>
                          </a:solidFill>
                        </a:rPr>
                        <a:t>8.73</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1E293B"/>
                          </a:solidFill>
                        </a:rPr>
                        <a:t>0.80</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bl>
          </a:graphicData>
        </a:graphic>
      </p:graphicFrame>
      <p:sp>
        <p:nvSpPr>
          <p:cNvPr id="16" name="Text 11"/>
          <p:cNvSpPr/>
          <p:nvPr/>
        </p:nvSpPr>
        <p:spPr>
          <a:xfrm>
            <a:off x="4800600" y="3931920"/>
            <a:ext cx="3749040" cy="749808"/>
          </a:xfrm>
          <a:prstGeom prst="rect">
            <a:avLst/>
          </a:prstGeom>
          <a:noFill/>
          <a:ln/>
        </p:spPr>
        <p:txBody>
          <a:bodyPr wrap="square" rtlCol="0" anchor="ctr"/>
          <a:lstStyle/>
          <a:p>
            <a:pPr indent="0" marL="0">
              <a:buNone/>
            </a:pPr>
            <a:r>
              <a:rPr lang="en-US" sz="1000" dirty="0">
                <a:solidFill>
                  <a:srgbClr val="475569"/>
                </a:solidFill>
                <a:latin typeface="Calibri" pitchFamily="34" charset="0"/>
                <a:ea typeface="Calibri" pitchFamily="34" charset="-122"/>
                <a:cs typeface="Calibri" pitchFamily="34" charset="-120"/>
              </a:rPr>
              <a:t>Gibbs recovers planted motifs with higher IC on synthetic benchmarks, confirming its superior positional specificity.</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D35"/>
        </a:solidFill>
      </p:bgPr>
    </p:bg>
    <p:spTree>
      <p:nvGrpSpPr>
        <p:cNvPr id="1" name=""/>
        <p:cNvGrpSpPr/>
        <p:nvPr/>
      </p:nvGrpSpPr>
      <p:grpSpPr>
        <a:xfrm>
          <a:off x="0" y="0"/>
          <a:ext cx="0" cy="0"/>
          <a:chOff x="0" y="0"/>
          <a:chExt cx="0" cy="0"/>
        </a:xfrm>
      </p:grpSpPr>
      <p:sp>
        <p:nvSpPr>
          <p:cNvPr id="2" name="Shape 0"/>
          <p:cNvSpPr/>
          <p:nvPr/>
        </p:nvSpPr>
        <p:spPr>
          <a:xfrm>
            <a:off x="0" y="1920240"/>
            <a:ext cx="9144000" cy="1371600"/>
          </a:xfrm>
          <a:prstGeom prst="rect">
            <a:avLst/>
          </a:prstGeom>
          <a:solidFill>
            <a:srgbClr val="122744"/>
          </a:solidFill>
          <a:ln w="12700">
            <a:solidFill>
              <a:srgbClr val="122744"/>
            </a:solidFill>
            <a:prstDash val="solid"/>
          </a:ln>
        </p:spPr>
      </p:sp>
      <p:sp>
        <p:nvSpPr>
          <p:cNvPr id="3" name="Text 1"/>
          <p:cNvSpPr/>
          <p:nvPr/>
        </p:nvSpPr>
        <p:spPr>
          <a:xfrm>
            <a:off x="457200" y="274320"/>
            <a:ext cx="8229600" cy="1554480"/>
          </a:xfrm>
          <a:prstGeom prst="rect">
            <a:avLst/>
          </a:prstGeom>
          <a:noFill/>
          <a:ln/>
        </p:spPr>
        <p:txBody>
          <a:bodyPr wrap="square" rtlCol="0" anchor="ctr"/>
          <a:lstStyle/>
          <a:p>
            <a:pPr algn="ctr" indent="0" marL="0">
              <a:buNone/>
            </a:pPr>
            <a:r>
              <a:rPr lang="en-US" sz="9600" b="1" dirty="0">
                <a:solidFill>
                  <a:srgbClr val="EF4444">
                    <a:alpha val="80000"/>
                  </a:srgbClr>
                </a:solidFill>
                <a:latin typeface="Calibri" pitchFamily="34" charset="0"/>
                <a:ea typeface="Calibri" pitchFamily="34" charset="-122"/>
                <a:cs typeface="Calibri" pitchFamily="34" charset="-120"/>
              </a:rPr>
              <a:t>06</a:t>
            </a:r>
            <a:endParaRPr lang="en-US" sz="9600" dirty="0"/>
          </a:p>
        </p:txBody>
      </p:sp>
      <p:sp>
        <p:nvSpPr>
          <p:cNvPr id="4" name="Text 2"/>
          <p:cNvSpPr/>
          <p:nvPr/>
        </p:nvSpPr>
        <p:spPr>
          <a:xfrm>
            <a:off x="457200" y="2029968"/>
            <a:ext cx="8229600" cy="59436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Evaluation &amp; Comparison</a:t>
            </a:r>
            <a:endParaRPr lang="en-US" sz="2800" dirty="0"/>
          </a:p>
        </p:txBody>
      </p:sp>
      <p:sp>
        <p:nvSpPr>
          <p:cNvPr id="5" name="Text 3"/>
          <p:cNvSpPr/>
          <p:nvPr/>
        </p:nvSpPr>
        <p:spPr>
          <a:xfrm>
            <a:off x="457200" y="2697480"/>
            <a:ext cx="8229600" cy="347472"/>
          </a:xfrm>
          <a:prstGeom prst="rect">
            <a:avLst/>
          </a:prstGeom>
          <a:noFill/>
          <a:ln/>
        </p:spPr>
        <p:txBody>
          <a:bodyPr wrap="square" rtlCol="0" anchor="ctr"/>
          <a:lstStyle/>
          <a:p>
            <a:pPr algn="ctr" indent="0" marL="0">
              <a:buNone/>
            </a:pPr>
            <a:r>
              <a:rPr lang="en-US" sz="1300" i="1" dirty="0">
                <a:solidFill>
                  <a:srgbClr val="14B8A6"/>
                </a:solidFill>
                <a:latin typeface="Calibri" pitchFamily="34" charset="0"/>
                <a:ea typeface="Calibri" pitchFamily="34" charset="-122"/>
                <a:cs typeface="Calibri" pitchFamily="34" charset="-120"/>
              </a:rPr>
              <a:t>Sensitivity · PPV · F1 · nCC — MEME vs Gibbs Sampling head-to-head</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9FF"/>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2600" b="1" dirty="0">
                <a:solidFill>
                  <a:srgbClr val="0B1D35"/>
                </a:solidFill>
                <a:latin typeface="Calibri" pitchFamily="34" charset="0"/>
                <a:ea typeface="Calibri" pitchFamily="34" charset="-122"/>
                <a:cs typeface="Calibri" pitchFamily="34" charset="-120"/>
              </a:rPr>
              <a:t>MEME vs Gibbs — Head-to-Head Evaluation</a:t>
            </a:r>
            <a:endParaRPr lang="en-US" sz="2600" dirty="0"/>
          </a:p>
        </p:txBody>
      </p:sp>
      <p:sp>
        <p:nvSpPr>
          <p:cNvPr id="3" name="Shape 1"/>
          <p:cNvSpPr/>
          <p:nvPr/>
        </p:nvSpPr>
        <p:spPr>
          <a:xfrm>
            <a:off x="457200" y="841248"/>
            <a:ext cx="3520440" cy="29260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4" name="Text 2"/>
          <p:cNvSpPr/>
          <p:nvPr/>
        </p:nvSpPr>
        <p:spPr>
          <a:xfrm>
            <a:off x="594360" y="914400"/>
            <a:ext cx="3246120" cy="274320"/>
          </a:xfrm>
          <a:prstGeom prst="rect">
            <a:avLst/>
          </a:prstGeom>
          <a:noFill/>
          <a:ln/>
        </p:spPr>
        <p:txBody>
          <a:bodyPr wrap="square" rtlCol="0" anchor="ctr"/>
          <a:lstStyle/>
          <a:p>
            <a:pPr indent="0" marL="0">
              <a:buNone/>
            </a:pPr>
            <a:r>
              <a:rPr lang="en-US" sz="1200" b="1" dirty="0">
                <a:solidFill>
                  <a:srgbClr val="0B1D35"/>
                </a:solidFill>
                <a:latin typeface="Calibri" pitchFamily="34" charset="0"/>
                <a:ea typeface="Calibri" pitchFamily="34" charset="-122"/>
                <a:cs typeface="Calibri" pitchFamily="34" charset="-120"/>
              </a:rPr>
              <a:t>Performance Metrics</a:t>
            </a:r>
            <a:endParaRPr lang="en-US" sz="1200" dirty="0"/>
          </a:p>
        </p:txBody>
      </p:sp>
      <p:sp>
        <p:nvSpPr>
          <p:cNvPr id="5" name="Shape 3"/>
          <p:cNvSpPr/>
          <p:nvPr/>
        </p:nvSpPr>
        <p:spPr>
          <a:xfrm>
            <a:off x="530352" y="1261872"/>
            <a:ext cx="64008" cy="502920"/>
          </a:xfrm>
          <a:prstGeom prst="rect">
            <a:avLst/>
          </a:prstGeom>
          <a:solidFill>
            <a:srgbClr val="0D9488"/>
          </a:solidFill>
          <a:ln w="12700">
            <a:solidFill>
              <a:srgbClr val="0D9488"/>
            </a:solidFill>
            <a:prstDash val="solid"/>
          </a:ln>
        </p:spPr>
      </p:sp>
      <p:sp>
        <p:nvSpPr>
          <p:cNvPr id="6" name="Text 4"/>
          <p:cNvSpPr/>
          <p:nvPr/>
        </p:nvSpPr>
        <p:spPr>
          <a:xfrm>
            <a:off x="685800" y="1261872"/>
            <a:ext cx="1234440" cy="246888"/>
          </a:xfrm>
          <a:prstGeom prst="rect">
            <a:avLst/>
          </a:prstGeom>
          <a:noFill/>
          <a:ln/>
        </p:spPr>
        <p:txBody>
          <a:bodyPr wrap="square" lIns="0" tIns="0" rIns="0" bIns="0" rtlCol="0" anchor="ctr"/>
          <a:lstStyle/>
          <a:p>
            <a:pPr indent="0" marL="0">
              <a:buNone/>
            </a:pPr>
            <a:r>
              <a:rPr lang="en-US" sz="1100" b="1" dirty="0">
                <a:solidFill>
                  <a:srgbClr val="0B1D35"/>
                </a:solidFill>
                <a:latin typeface="Calibri" pitchFamily="34" charset="0"/>
                <a:ea typeface="Calibri" pitchFamily="34" charset="-122"/>
                <a:cs typeface="Calibri" pitchFamily="34" charset="-120"/>
              </a:rPr>
              <a:t>Sensitivity</a:t>
            </a:r>
            <a:endParaRPr lang="en-US" sz="1100" dirty="0"/>
          </a:p>
        </p:txBody>
      </p:sp>
      <p:sp>
        <p:nvSpPr>
          <p:cNvPr id="7" name="Text 5"/>
          <p:cNvSpPr/>
          <p:nvPr/>
        </p:nvSpPr>
        <p:spPr>
          <a:xfrm>
            <a:off x="685800" y="1508760"/>
            <a:ext cx="1371600" cy="228600"/>
          </a:xfrm>
          <a:prstGeom prst="rect">
            <a:avLst/>
          </a:prstGeom>
          <a:noFill/>
          <a:ln/>
        </p:spPr>
        <p:txBody>
          <a:bodyPr wrap="square" lIns="0" tIns="0" rIns="0" bIns="0" rtlCol="0" anchor="ctr"/>
          <a:lstStyle/>
          <a:p>
            <a:pPr indent="0" marL="0">
              <a:buNone/>
            </a:pPr>
            <a:r>
              <a:rPr lang="en-US" sz="900" dirty="0">
                <a:solidFill>
                  <a:srgbClr val="0D9488"/>
                </a:solidFill>
                <a:latin typeface="Consolas" pitchFamily="34" charset="0"/>
                <a:ea typeface="Consolas" pitchFamily="34" charset="-122"/>
                <a:cs typeface="Consolas" pitchFamily="34" charset="-120"/>
              </a:rPr>
              <a:t>TP / (TP + FN)</a:t>
            </a:r>
            <a:endParaRPr lang="en-US" sz="900" dirty="0"/>
          </a:p>
        </p:txBody>
      </p:sp>
      <p:sp>
        <p:nvSpPr>
          <p:cNvPr id="8" name="Text 6"/>
          <p:cNvSpPr/>
          <p:nvPr/>
        </p:nvSpPr>
        <p:spPr>
          <a:xfrm>
            <a:off x="2121408" y="1298448"/>
            <a:ext cx="1783080" cy="41148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Fraction of true binding sites correctly predicted</a:t>
            </a:r>
            <a:endParaRPr lang="en-US" sz="950" dirty="0"/>
          </a:p>
        </p:txBody>
      </p:sp>
      <p:sp>
        <p:nvSpPr>
          <p:cNvPr id="9" name="Shape 7"/>
          <p:cNvSpPr/>
          <p:nvPr/>
        </p:nvSpPr>
        <p:spPr>
          <a:xfrm>
            <a:off x="530352" y="1883664"/>
            <a:ext cx="64008" cy="502920"/>
          </a:xfrm>
          <a:prstGeom prst="rect">
            <a:avLst/>
          </a:prstGeom>
          <a:solidFill>
            <a:srgbClr val="0D9488"/>
          </a:solidFill>
          <a:ln w="12700">
            <a:solidFill>
              <a:srgbClr val="0D9488"/>
            </a:solidFill>
            <a:prstDash val="solid"/>
          </a:ln>
        </p:spPr>
      </p:sp>
      <p:sp>
        <p:nvSpPr>
          <p:cNvPr id="10" name="Text 8"/>
          <p:cNvSpPr/>
          <p:nvPr/>
        </p:nvSpPr>
        <p:spPr>
          <a:xfrm>
            <a:off x="685800" y="1883664"/>
            <a:ext cx="1234440" cy="246888"/>
          </a:xfrm>
          <a:prstGeom prst="rect">
            <a:avLst/>
          </a:prstGeom>
          <a:noFill/>
          <a:ln/>
        </p:spPr>
        <p:txBody>
          <a:bodyPr wrap="square" lIns="0" tIns="0" rIns="0" bIns="0" rtlCol="0" anchor="ctr"/>
          <a:lstStyle/>
          <a:p>
            <a:pPr indent="0" marL="0">
              <a:buNone/>
            </a:pPr>
            <a:r>
              <a:rPr lang="en-US" sz="1100" b="1" dirty="0">
                <a:solidFill>
                  <a:srgbClr val="0B1D35"/>
                </a:solidFill>
                <a:latin typeface="Calibri" pitchFamily="34" charset="0"/>
                <a:ea typeface="Calibri" pitchFamily="34" charset="-122"/>
                <a:cs typeface="Calibri" pitchFamily="34" charset="-120"/>
              </a:rPr>
              <a:t>PPV</a:t>
            </a:r>
            <a:endParaRPr lang="en-US" sz="1100" dirty="0"/>
          </a:p>
        </p:txBody>
      </p:sp>
      <p:sp>
        <p:nvSpPr>
          <p:cNvPr id="11" name="Text 9"/>
          <p:cNvSpPr/>
          <p:nvPr/>
        </p:nvSpPr>
        <p:spPr>
          <a:xfrm>
            <a:off x="685800" y="2130552"/>
            <a:ext cx="1371600" cy="228600"/>
          </a:xfrm>
          <a:prstGeom prst="rect">
            <a:avLst/>
          </a:prstGeom>
          <a:noFill/>
          <a:ln/>
        </p:spPr>
        <p:txBody>
          <a:bodyPr wrap="square" lIns="0" tIns="0" rIns="0" bIns="0" rtlCol="0" anchor="ctr"/>
          <a:lstStyle/>
          <a:p>
            <a:pPr indent="0" marL="0">
              <a:buNone/>
            </a:pPr>
            <a:r>
              <a:rPr lang="en-US" sz="900" dirty="0">
                <a:solidFill>
                  <a:srgbClr val="0D9488"/>
                </a:solidFill>
                <a:latin typeface="Consolas" pitchFamily="34" charset="0"/>
                <a:ea typeface="Consolas" pitchFamily="34" charset="-122"/>
                <a:cs typeface="Consolas" pitchFamily="34" charset="-120"/>
              </a:rPr>
              <a:t>TP / (TP + FP)</a:t>
            </a:r>
            <a:endParaRPr lang="en-US" sz="900" dirty="0"/>
          </a:p>
        </p:txBody>
      </p:sp>
      <p:sp>
        <p:nvSpPr>
          <p:cNvPr id="12" name="Text 10"/>
          <p:cNvSpPr/>
          <p:nvPr/>
        </p:nvSpPr>
        <p:spPr>
          <a:xfrm>
            <a:off x="2121408" y="1920240"/>
            <a:ext cx="1783080" cy="41148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Fraction of predictions that are correct</a:t>
            </a:r>
            <a:endParaRPr lang="en-US" sz="950" dirty="0"/>
          </a:p>
        </p:txBody>
      </p:sp>
      <p:sp>
        <p:nvSpPr>
          <p:cNvPr id="13" name="Shape 11"/>
          <p:cNvSpPr/>
          <p:nvPr/>
        </p:nvSpPr>
        <p:spPr>
          <a:xfrm>
            <a:off x="530352" y="2505456"/>
            <a:ext cx="64008" cy="502920"/>
          </a:xfrm>
          <a:prstGeom prst="rect">
            <a:avLst/>
          </a:prstGeom>
          <a:solidFill>
            <a:srgbClr val="0D9488"/>
          </a:solidFill>
          <a:ln w="12700">
            <a:solidFill>
              <a:srgbClr val="0D9488"/>
            </a:solidFill>
            <a:prstDash val="solid"/>
          </a:ln>
        </p:spPr>
      </p:sp>
      <p:sp>
        <p:nvSpPr>
          <p:cNvPr id="14" name="Text 12"/>
          <p:cNvSpPr/>
          <p:nvPr/>
        </p:nvSpPr>
        <p:spPr>
          <a:xfrm>
            <a:off x="685800" y="2505456"/>
            <a:ext cx="1234440" cy="246888"/>
          </a:xfrm>
          <a:prstGeom prst="rect">
            <a:avLst/>
          </a:prstGeom>
          <a:noFill/>
          <a:ln/>
        </p:spPr>
        <p:txBody>
          <a:bodyPr wrap="square" lIns="0" tIns="0" rIns="0" bIns="0" rtlCol="0" anchor="ctr"/>
          <a:lstStyle/>
          <a:p>
            <a:pPr indent="0" marL="0">
              <a:buNone/>
            </a:pPr>
            <a:r>
              <a:rPr lang="en-US" sz="1100" b="1" dirty="0">
                <a:solidFill>
                  <a:srgbClr val="0B1D35"/>
                </a:solidFill>
                <a:latin typeface="Calibri" pitchFamily="34" charset="0"/>
                <a:ea typeface="Calibri" pitchFamily="34" charset="-122"/>
                <a:cs typeface="Calibri" pitchFamily="34" charset="-120"/>
              </a:rPr>
              <a:t>F1 Score</a:t>
            </a:r>
            <a:endParaRPr lang="en-US" sz="1100" dirty="0"/>
          </a:p>
        </p:txBody>
      </p:sp>
      <p:sp>
        <p:nvSpPr>
          <p:cNvPr id="15" name="Text 13"/>
          <p:cNvSpPr/>
          <p:nvPr/>
        </p:nvSpPr>
        <p:spPr>
          <a:xfrm>
            <a:off x="685800" y="2752344"/>
            <a:ext cx="1371600" cy="228600"/>
          </a:xfrm>
          <a:prstGeom prst="rect">
            <a:avLst/>
          </a:prstGeom>
          <a:noFill/>
          <a:ln/>
        </p:spPr>
        <p:txBody>
          <a:bodyPr wrap="square" lIns="0" tIns="0" rIns="0" bIns="0" rtlCol="0" anchor="ctr"/>
          <a:lstStyle/>
          <a:p>
            <a:pPr indent="0" marL="0">
              <a:buNone/>
            </a:pPr>
            <a:r>
              <a:rPr lang="en-US" sz="900" dirty="0">
                <a:solidFill>
                  <a:srgbClr val="0D9488"/>
                </a:solidFill>
                <a:latin typeface="Consolas" pitchFamily="34" charset="0"/>
                <a:ea typeface="Consolas" pitchFamily="34" charset="-122"/>
                <a:cs typeface="Consolas" pitchFamily="34" charset="-120"/>
              </a:rPr>
              <a:t>2·Sn·PPV/(Sn+PPV)</a:t>
            </a:r>
            <a:endParaRPr lang="en-US" sz="900" dirty="0"/>
          </a:p>
        </p:txBody>
      </p:sp>
      <p:sp>
        <p:nvSpPr>
          <p:cNvPr id="16" name="Text 14"/>
          <p:cNvSpPr/>
          <p:nvPr/>
        </p:nvSpPr>
        <p:spPr>
          <a:xfrm>
            <a:off x="2121408" y="2542032"/>
            <a:ext cx="1783080" cy="41148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Harmonic mean — balanced metric</a:t>
            </a:r>
            <a:endParaRPr lang="en-US" sz="950" dirty="0"/>
          </a:p>
        </p:txBody>
      </p:sp>
      <p:sp>
        <p:nvSpPr>
          <p:cNvPr id="17" name="Shape 15"/>
          <p:cNvSpPr/>
          <p:nvPr/>
        </p:nvSpPr>
        <p:spPr>
          <a:xfrm>
            <a:off x="530352" y="3127248"/>
            <a:ext cx="64008" cy="502920"/>
          </a:xfrm>
          <a:prstGeom prst="rect">
            <a:avLst/>
          </a:prstGeom>
          <a:solidFill>
            <a:srgbClr val="0D9488"/>
          </a:solidFill>
          <a:ln w="12700">
            <a:solidFill>
              <a:srgbClr val="0D9488"/>
            </a:solidFill>
            <a:prstDash val="solid"/>
          </a:ln>
        </p:spPr>
      </p:sp>
      <p:sp>
        <p:nvSpPr>
          <p:cNvPr id="18" name="Text 16"/>
          <p:cNvSpPr/>
          <p:nvPr/>
        </p:nvSpPr>
        <p:spPr>
          <a:xfrm>
            <a:off x="685800" y="3127248"/>
            <a:ext cx="1234440" cy="246888"/>
          </a:xfrm>
          <a:prstGeom prst="rect">
            <a:avLst/>
          </a:prstGeom>
          <a:noFill/>
          <a:ln/>
        </p:spPr>
        <p:txBody>
          <a:bodyPr wrap="square" lIns="0" tIns="0" rIns="0" bIns="0" rtlCol="0" anchor="ctr"/>
          <a:lstStyle/>
          <a:p>
            <a:pPr indent="0" marL="0">
              <a:buNone/>
            </a:pPr>
            <a:r>
              <a:rPr lang="en-US" sz="1100" b="1" dirty="0">
                <a:solidFill>
                  <a:srgbClr val="0B1D35"/>
                </a:solidFill>
                <a:latin typeface="Calibri" pitchFamily="34" charset="0"/>
                <a:ea typeface="Calibri" pitchFamily="34" charset="-122"/>
                <a:cs typeface="Calibri" pitchFamily="34" charset="-120"/>
              </a:rPr>
              <a:t>nCC</a:t>
            </a:r>
            <a:endParaRPr lang="en-US" sz="1100" dirty="0"/>
          </a:p>
        </p:txBody>
      </p:sp>
      <p:sp>
        <p:nvSpPr>
          <p:cNvPr id="19" name="Text 17"/>
          <p:cNvSpPr/>
          <p:nvPr/>
        </p:nvSpPr>
        <p:spPr>
          <a:xfrm>
            <a:off x="685800" y="3374136"/>
            <a:ext cx="1371600" cy="228600"/>
          </a:xfrm>
          <a:prstGeom prst="rect">
            <a:avLst/>
          </a:prstGeom>
          <a:noFill/>
          <a:ln/>
        </p:spPr>
        <p:txBody>
          <a:bodyPr wrap="square" lIns="0" tIns="0" rIns="0" bIns="0" rtlCol="0" anchor="ctr"/>
          <a:lstStyle/>
          <a:p>
            <a:pPr indent="0" marL="0">
              <a:buNone/>
            </a:pPr>
            <a:r>
              <a:rPr lang="en-US" sz="900" dirty="0">
                <a:solidFill>
                  <a:srgbClr val="0D9488"/>
                </a:solidFill>
                <a:latin typeface="Consolas" pitchFamily="34" charset="0"/>
                <a:ea typeface="Consolas" pitchFamily="34" charset="-122"/>
                <a:cs typeface="Consolas" pitchFamily="34" charset="-120"/>
              </a:rPr>
              <a:t>√(Sn · PPV)</a:t>
            </a:r>
            <a:endParaRPr lang="en-US" sz="900" dirty="0"/>
          </a:p>
        </p:txBody>
      </p:sp>
      <p:sp>
        <p:nvSpPr>
          <p:cNvPr id="20" name="Text 18"/>
          <p:cNvSpPr/>
          <p:nvPr/>
        </p:nvSpPr>
        <p:spPr>
          <a:xfrm>
            <a:off x="2121408" y="3163824"/>
            <a:ext cx="1783080" cy="41148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Nucleotide-level correlation coefficient</a:t>
            </a:r>
            <a:endParaRPr lang="en-US" sz="9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160520" y="841248"/>
          <a:ext cx="4572000" cy="1901952"/>
        </p:xfrm>
        <a:graphic>
          <a:graphicData uri="http://schemas.openxmlformats.org/drawingml/2006/table">
            <a:tbl>
              <a:tblPr/>
              <a:tblGrid>
                <a:gridCol w="960120"/>
                <a:gridCol w="822960"/>
                <a:gridCol w="914400"/>
                <a:gridCol w="685800"/>
                <a:gridCol w="685800"/>
                <a:gridCol w="502920"/>
              </a:tblGrid>
              <a:tr h="315468">
                <a:tc>
                  <a:txBody>
                    <a:bodyPr/>
                    <a:lstStyle/>
                    <a:p>
                      <a:pPr indent="0" marL="0">
                        <a:buNone/>
                      </a:pPr>
                      <a:r>
                        <a:rPr lang="en-US" sz="900" b="1" dirty="0">
                          <a:solidFill>
                            <a:srgbClr val="FFFFFF"/>
                          </a:solidFill>
                        </a:rPr>
                        <a:t>Dataset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D35"/>
                    </a:solidFill>
                  </a:tcPr>
                </a:tc>
                <a:tc>
                  <a:txBody>
                    <a:bodyPr/>
                    <a:lstStyle/>
                    <a:p>
                      <a:pPr indent="0" marL="0">
                        <a:buNone/>
                      </a:pPr>
                      <a:r>
                        <a:rPr lang="en-US" sz="900" b="1" dirty="0">
                          <a:solidFill>
                            <a:srgbClr val="FFFFFF"/>
                          </a:solidFill>
                        </a:rPr>
                        <a:t>Algorithm</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D35"/>
                    </a:solidFill>
                  </a:tcPr>
                </a:tc>
                <a:tc>
                  <a:txBody>
                    <a:bodyPr/>
                    <a:lstStyle/>
                    <a:p>
                      <a:pPr indent="0" marL="0">
                        <a:buNone/>
                      </a:pPr>
                      <a:r>
                        <a:rPr lang="en-US" sz="900" b="1" dirty="0">
                          <a:solidFill>
                            <a:srgbClr val="FFFFFF"/>
                          </a:solidFill>
                        </a:rPr>
                        <a:t>Sensitivity</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D35"/>
                    </a:solidFill>
                  </a:tcPr>
                </a:tc>
                <a:tc>
                  <a:txBody>
                    <a:bodyPr/>
                    <a:lstStyle/>
                    <a:p>
                      <a:pPr indent="0" marL="0">
                        <a:buNone/>
                      </a:pPr>
                      <a:r>
                        <a:rPr lang="en-US" sz="900" b="1" dirty="0">
                          <a:solidFill>
                            <a:srgbClr val="FFFFFF"/>
                          </a:solidFill>
                        </a:rPr>
                        <a:t>PPV</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D35"/>
                    </a:solidFill>
                  </a:tcPr>
                </a:tc>
                <a:tc>
                  <a:txBody>
                    <a:bodyPr/>
                    <a:lstStyle/>
                    <a:p>
                      <a:pPr indent="0" marL="0">
                        <a:buNone/>
                      </a:pPr>
                      <a:r>
                        <a:rPr lang="en-US" sz="900" b="1" dirty="0">
                          <a:solidFill>
                            <a:srgbClr val="FFFFFF"/>
                          </a:solidFill>
                        </a:rPr>
                        <a:t>F1</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D35"/>
                    </a:solidFill>
                  </a:tcPr>
                </a:tc>
                <a:tc>
                  <a:txBody>
                    <a:bodyPr/>
                    <a:lstStyle/>
                    <a:p>
                      <a:pPr indent="0" marL="0">
                        <a:buNone/>
                      </a:pPr>
                      <a:r>
                        <a:rPr lang="en-US" sz="900" b="1" dirty="0">
                          <a:solidFill>
                            <a:srgbClr val="FFFFFF"/>
                          </a:solidFill>
                        </a:rPr>
                        <a:t>IC (bits)</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D35"/>
                    </a:solidFill>
                  </a:tcPr>
                </a:tc>
              </a:tr>
              <a:tr h="315468">
                <a:tc>
                  <a:txBody>
                    <a:bodyPr/>
                    <a:lstStyle/>
                    <a:p>
                      <a:pPr indent="0" marL="0">
                        <a:buNone/>
                      </a:pPr>
                      <a:r>
                        <a:rPr lang="en-US" sz="1000" dirty="0">
                          <a:solidFill>
                            <a:srgbClr val="1E293B"/>
                          </a:solidFill>
                        </a:rPr>
                        <a:t>TATA-box</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1E293B"/>
                          </a:solidFill>
                        </a:rPr>
                        <a:t>MEME</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1E293B"/>
                          </a:solidFill>
                        </a:rPr>
                        <a:t>0.78</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1E293B"/>
                          </a:solidFill>
                        </a:rPr>
                        <a:t>0.78</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1E293B"/>
                          </a:solidFill>
                        </a:rPr>
                        <a:t>0.78</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b="1" dirty="0">
                          <a:solidFill>
                            <a:srgbClr val="22C55E"/>
                          </a:solidFill>
                        </a:rPr>
                        <a:t>6.96</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315468">
                <a:tc>
                  <a:txBody>
                    <a:bodyPr/>
                    <a:lstStyle/>
                    <a:p>
                      <a:pPr indent="0" marL="0">
                        <a:buNone/>
                      </a:pPr>
                      <a:r>
                        <a:rPr lang="en-US" sz="1000" dirty="0">
                          <a:solidFill>
                            <a:srgbClr val="1E293B"/>
                          </a:solidFill>
                        </a:rPr>
                        <a:t>TATA-box</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b="1" dirty="0">
                          <a:solidFill>
                            <a:srgbClr val="0D9488"/>
                          </a:solidFill>
                        </a:rPr>
                        <a:t>Gibbs</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rPr>
                        <a:t>0.79</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rPr>
                        <a:t>0.79</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rPr>
                        <a:t>0.79</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b="1" dirty="0">
                          <a:solidFill>
                            <a:srgbClr val="22C55E"/>
                          </a:solidFill>
                        </a:rPr>
                        <a:t>10.66</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15468">
                <a:tc>
                  <a:txBody>
                    <a:bodyPr/>
                    <a:lstStyle/>
                    <a:p>
                      <a:pPr indent="0" marL="0">
                        <a:buNone/>
                      </a:pPr>
                      <a:r>
                        <a:rPr lang="en-US" sz="1000" dirty="0">
                          <a:solidFill>
                            <a:srgbClr val="1E293B"/>
                          </a:solidFill>
                        </a:rPr>
                        <a:t>E-box</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1E293B"/>
                          </a:solidFill>
                        </a:rPr>
                        <a:t>MEME</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1E293B"/>
                          </a:solidFill>
                        </a:rPr>
                        <a:t>0.75</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1E293B"/>
                          </a:solidFill>
                        </a:rPr>
                        <a:t>0.75</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1E293B"/>
                          </a:solidFill>
                        </a:rPr>
                        <a:t>0.75</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b="1" dirty="0">
                          <a:solidFill>
                            <a:srgbClr val="22C55E"/>
                          </a:solidFill>
                        </a:rPr>
                        <a:t>6.90</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315468">
                <a:tc>
                  <a:txBody>
                    <a:bodyPr/>
                    <a:lstStyle/>
                    <a:p>
                      <a:pPr indent="0" marL="0">
                        <a:buNone/>
                      </a:pPr>
                      <a:r>
                        <a:rPr lang="en-US" sz="1000" dirty="0">
                          <a:solidFill>
                            <a:srgbClr val="1E293B"/>
                          </a:solidFill>
                        </a:rPr>
                        <a:t>E-box</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b="1" dirty="0">
                          <a:solidFill>
                            <a:srgbClr val="0D9488"/>
                          </a:solidFill>
                        </a:rPr>
                        <a:t>Gibbs</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rPr>
                        <a:t>0.80</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rPr>
                        <a:t>0.80</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rPr>
                        <a:t>0.80</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b="1" dirty="0">
                          <a:solidFill>
                            <a:srgbClr val="22C55E"/>
                          </a:solidFill>
                        </a:rPr>
                        <a:t>8.73</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22" name="Shape 19"/>
          <p:cNvSpPr/>
          <p:nvPr/>
        </p:nvSpPr>
        <p:spPr>
          <a:xfrm>
            <a:off x="4160520" y="2816352"/>
            <a:ext cx="4572000" cy="950976"/>
          </a:xfrm>
          <a:prstGeom prst="rect">
            <a:avLst/>
          </a:prstGeom>
          <a:solidFill>
            <a:srgbClr val="F0FDF4"/>
          </a:solidFill>
          <a:ln w="25400">
            <a:solidFill>
              <a:srgbClr val="22C55E"/>
            </a:solidFill>
            <a:prstDash val="solid"/>
          </a:ln>
          <a:effectLst>
            <a:outerShdw sx="100000" sy="100000" kx="0" ky="0" algn="bl" rotWithShape="0" blurRad="101600" dist="38100" dir="8100000">
              <a:srgbClr val="000000">
                <a:alpha val="12000"/>
              </a:srgbClr>
            </a:outerShdw>
          </a:effectLst>
        </p:spPr>
      </p:sp>
      <p:sp>
        <p:nvSpPr>
          <p:cNvPr id="23" name="Text 20"/>
          <p:cNvSpPr/>
          <p:nvPr/>
        </p:nvSpPr>
        <p:spPr>
          <a:xfrm>
            <a:off x="4297680" y="2889504"/>
            <a:ext cx="4297680" cy="347472"/>
          </a:xfrm>
          <a:prstGeom prst="rect">
            <a:avLst/>
          </a:prstGeom>
          <a:noFill/>
          <a:ln/>
        </p:spPr>
        <p:txBody>
          <a:bodyPr wrap="square" rtlCol="0" anchor="ctr"/>
          <a:lstStyle/>
          <a:p>
            <a:pPr indent="0" marL="0">
              <a:buNone/>
            </a:pPr>
            <a:r>
              <a:rPr lang="en-US" sz="1150" b="1" dirty="0">
                <a:solidFill>
                  <a:srgbClr val="166534"/>
                </a:solidFill>
                <a:latin typeface="Calibri" pitchFamily="34" charset="0"/>
                <a:ea typeface="Calibri" pitchFamily="34" charset="-122"/>
                <a:cs typeface="Calibri" pitchFamily="34" charset="-120"/>
              </a:rPr>
              <a:t>Gibbs Sampling outperforms MEME in IC across all 11 datasets  (avg +1.2 bits)</a:t>
            </a:r>
            <a:endParaRPr lang="en-US" sz="1150" dirty="0"/>
          </a:p>
        </p:txBody>
      </p:sp>
      <p:sp>
        <p:nvSpPr>
          <p:cNvPr id="24" name="Text 21"/>
          <p:cNvSpPr/>
          <p:nvPr/>
        </p:nvSpPr>
        <p:spPr>
          <a:xfrm>
            <a:off x="4297680" y="3255264"/>
            <a:ext cx="4297680" cy="347472"/>
          </a:xfrm>
          <a:prstGeom prst="rect">
            <a:avLst/>
          </a:prstGeom>
          <a:noFill/>
          <a:ln/>
        </p:spPr>
        <p:txBody>
          <a:bodyPr wrap="square" rtlCol="0" anchor="ctr"/>
          <a:lstStyle/>
          <a:p>
            <a:pPr indent="0" marL="0">
              <a:buNone/>
            </a:pPr>
            <a:r>
              <a:rPr lang="en-US" sz="1050" dirty="0">
                <a:solidFill>
                  <a:srgbClr val="1D4ED8"/>
                </a:solidFill>
                <a:latin typeface="Calibri" pitchFamily="34" charset="0"/>
                <a:ea typeface="Calibri" pitchFamily="34" charset="-122"/>
                <a:cs typeface="Calibri" pitchFamily="34" charset="-120"/>
              </a:rPr>
              <a:t>MEME advantage: faster convergence · interpretable E-values · multi-motif discovery</a:t>
            </a:r>
            <a:endParaRPr lang="en-US" sz="1050" dirty="0"/>
          </a:p>
        </p:txBody>
      </p:sp>
      <p:graphicFrame>
        <p:nvGraphicFramePr>
          <p:cNvPr id="25" name="Chart 0" descr=""/>
          <p:cNvGraphicFramePr/>
          <p:nvPr/>
        </p:nvGraphicFramePr>
        <p:xfrm>
          <a:off x="457200" y="3822192"/>
          <a:ext cx="8229600" cy="1115568"/>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9FF"/>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2600" b="1" dirty="0">
                <a:solidFill>
                  <a:srgbClr val="0B1D35"/>
                </a:solidFill>
                <a:latin typeface="Calibri" pitchFamily="34" charset="0"/>
                <a:ea typeface="Calibri" pitchFamily="34" charset="-122"/>
                <a:cs typeface="Calibri" pitchFamily="34" charset="-120"/>
              </a:rPr>
              <a:t>Implementation Architecture</a:t>
            </a:r>
            <a:endParaRPr lang="en-US" sz="2600" dirty="0"/>
          </a:p>
        </p:txBody>
      </p:sp>
      <p:sp>
        <p:nvSpPr>
          <p:cNvPr id="3" name="Text 1"/>
          <p:cNvSpPr/>
          <p:nvPr/>
        </p:nvSpPr>
        <p:spPr>
          <a:xfrm>
            <a:off x="457200" y="704088"/>
            <a:ext cx="8229600" cy="256032"/>
          </a:xfrm>
          <a:prstGeom prst="rect">
            <a:avLst/>
          </a:prstGeom>
          <a:noFill/>
          <a:ln/>
        </p:spPr>
        <p:txBody>
          <a:bodyPr wrap="square"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Python 3 · NumPy · Matplotlib · JASPAR REST API · NCBI Entrez</a:t>
            </a:r>
            <a:endParaRPr lang="en-US" sz="1100" dirty="0"/>
          </a:p>
        </p:txBody>
      </p:sp>
      <p:sp>
        <p:nvSpPr>
          <p:cNvPr id="4" name="Shape 2"/>
          <p:cNvSpPr/>
          <p:nvPr/>
        </p:nvSpPr>
        <p:spPr>
          <a:xfrm>
            <a:off x="457200" y="1024128"/>
            <a:ext cx="1554480" cy="1691640"/>
          </a:xfrm>
          <a:prstGeom prst="rect">
            <a:avLst/>
          </a:prstGeom>
          <a:solidFill>
            <a:srgbClr val="FFFFFF"/>
          </a:solidFill>
          <a:ln w="19050">
            <a:solidFill>
              <a:srgbClr val="0D9488"/>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457200" y="1024128"/>
            <a:ext cx="1554480" cy="64008"/>
          </a:xfrm>
          <a:prstGeom prst="rect">
            <a:avLst/>
          </a:prstGeom>
          <a:solidFill>
            <a:srgbClr val="0D9488"/>
          </a:solidFill>
          <a:ln w="12700">
            <a:solidFill>
              <a:srgbClr val="0D9488"/>
            </a:solidFill>
            <a:prstDash val="solid"/>
          </a:ln>
        </p:spPr>
      </p:sp>
      <p:sp>
        <p:nvSpPr>
          <p:cNvPr id="6" name="Text 4"/>
          <p:cNvSpPr/>
          <p:nvPr/>
        </p:nvSpPr>
        <p:spPr>
          <a:xfrm>
            <a:off x="457200" y="1097280"/>
            <a:ext cx="1554480" cy="475488"/>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7" name="Text 5"/>
          <p:cNvSpPr/>
          <p:nvPr/>
        </p:nvSpPr>
        <p:spPr>
          <a:xfrm>
            <a:off x="530352" y="1591056"/>
            <a:ext cx="1408176" cy="274320"/>
          </a:xfrm>
          <a:prstGeom prst="rect">
            <a:avLst/>
          </a:prstGeom>
          <a:noFill/>
          <a:ln/>
        </p:spPr>
        <p:txBody>
          <a:bodyPr wrap="square" rtlCol="0" anchor="ctr"/>
          <a:lstStyle/>
          <a:p>
            <a:pPr algn="ctr" indent="0" marL="0">
              <a:buNone/>
            </a:pPr>
            <a:r>
              <a:rPr lang="en-US" sz="1100" b="1" dirty="0">
                <a:solidFill>
                  <a:srgbClr val="0B1D35"/>
                </a:solidFill>
                <a:latin typeface="Calibri" pitchFamily="34" charset="0"/>
                <a:ea typeface="Calibri" pitchFamily="34" charset="-122"/>
                <a:cs typeface="Calibri" pitchFamily="34" charset="-120"/>
              </a:rPr>
              <a:t>Data Fetch</a:t>
            </a:r>
            <a:endParaRPr lang="en-US" sz="1100" dirty="0"/>
          </a:p>
        </p:txBody>
      </p:sp>
      <p:sp>
        <p:nvSpPr>
          <p:cNvPr id="8" name="Text 6"/>
          <p:cNvSpPr/>
          <p:nvPr/>
        </p:nvSpPr>
        <p:spPr>
          <a:xfrm>
            <a:off x="530352" y="1883664"/>
            <a:ext cx="1408176" cy="713232"/>
          </a:xfrm>
          <a:prstGeom prst="rect">
            <a:avLst/>
          </a:prstGeom>
          <a:noFill/>
          <a:ln/>
        </p:spPr>
        <p:txBody>
          <a:bodyPr wrap="square" rtlCol="0" anchor="ctr"/>
          <a:lstStyle/>
          <a:p>
            <a:pPr algn="ctr" indent="0" marL="0">
              <a:buNone/>
            </a:pPr>
            <a:r>
              <a:rPr lang="en-US" sz="950" dirty="0">
                <a:solidFill>
                  <a:srgbClr val="475569"/>
                </a:solidFill>
                <a:latin typeface="Calibri" pitchFamily="34" charset="0"/>
                <a:ea typeface="Calibri" pitchFamily="34" charset="-122"/>
                <a:cs typeface="Calibri" pitchFamily="34" charset="-120"/>
              </a:rPr>
              <a:t>JASPAR API</a:t>
            </a:r>
            <a:endParaRPr lang="en-US" sz="950" dirty="0"/>
          </a:p>
          <a:p>
            <a:pPr algn="ctr" indent="0" marL="0">
              <a:buNone/>
            </a:pPr>
            <a:r>
              <a:rPr lang="en-US" sz="950" dirty="0">
                <a:solidFill>
                  <a:srgbClr val="475569"/>
                </a:solidFill>
                <a:latin typeface="Calibri" pitchFamily="34" charset="0"/>
                <a:ea typeface="Calibri" pitchFamily="34" charset="-122"/>
                <a:cs typeface="Calibri" pitchFamily="34" charset="-120"/>
              </a:rPr>
              <a:t>NCBI Entrez</a:t>
            </a:r>
            <a:endParaRPr lang="en-US" sz="950" dirty="0"/>
          </a:p>
        </p:txBody>
      </p:sp>
      <p:sp>
        <p:nvSpPr>
          <p:cNvPr id="9" name="Shape 7"/>
          <p:cNvSpPr/>
          <p:nvPr/>
        </p:nvSpPr>
        <p:spPr>
          <a:xfrm>
            <a:off x="2029968" y="1810512"/>
            <a:ext cx="109728" cy="64008"/>
          </a:xfrm>
          <a:prstGeom prst="rect">
            <a:avLst/>
          </a:prstGeom>
          <a:solidFill>
            <a:srgbClr val="475569"/>
          </a:solidFill>
          <a:ln w="12700">
            <a:solidFill>
              <a:srgbClr val="475569"/>
            </a:solidFill>
            <a:prstDash val="solid"/>
          </a:ln>
        </p:spPr>
      </p:sp>
      <p:sp>
        <p:nvSpPr>
          <p:cNvPr id="10" name="Shape 8"/>
          <p:cNvSpPr/>
          <p:nvPr/>
        </p:nvSpPr>
        <p:spPr>
          <a:xfrm>
            <a:off x="2139696" y="1024128"/>
            <a:ext cx="1554480" cy="1691640"/>
          </a:xfrm>
          <a:prstGeom prst="rect">
            <a:avLst/>
          </a:prstGeom>
          <a:solidFill>
            <a:srgbClr val="FFFFFF"/>
          </a:solidFill>
          <a:ln w="19050">
            <a:solidFill>
              <a:srgbClr val="7C3AED"/>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2139696" y="1024128"/>
            <a:ext cx="1554480" cy="64008"/>
          </a:xfrm>
          <a:prstGeom prst="rect">
            <a:avLst/>
          </a:prstGeom>
          <a:solidFill>
            <a:srgbClr val="7C3AED"/>
          </a:solidFill>
          <a:ln w="12700">
            <a:solidFill>
              <a:srgbClr val="7C3AED"/>
            </a:solidFill>
            <a:prstDash val="solid"/>
          </a:ln>
        </p:spPr>
      </p:sp>
      <p:sp>
        <p:nvSpPr>
          <p:cNvPr id="12" name="Text 10"/>
          <p:cNvSpPr/>
          <p:nvPr/>
        </p:nvSpPr>
        <p:spPr>
          <a:xfrm>
            <a:off x="2139696" y="1097280"/>
            <a:ext cx="1554480" cy="475488"/>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3" name="Text 11"/>
          <p:cNvSpPr/>
          <p:nvPr/>
        </p:nvSpPr>
        <p:spPr>
          <a:xfrm>
            <a:off x="2212848" y="1591056"/>
            <a:ext cx="1408176" cy="274320"/>
          </a:xfrm>
          <a:prstGeom prst="rect">
            <a:avLst/>
          </a:prstGeom>
          <a:noFill/>
          <a:ln/>
        </p:spPr>
        <p:txBody>
          <a:bodyPr wrap="square" rtlCol="0" anchor="ctr"/>
          <a:lstStyle/>
          <a:p>
            <a:pPr algn="ctr" indent="0" marL="0">
              <a:buNone/>
            </a:pPr>
            <a:r>
              <a:rPr lang="en-US" sz="1100" b="1" dirty="0">
                <a:solidFill>
                  <a:srgbClr val="0B1D35"/>
                </a:solidFill>
                <a:latin typeface="Calibri" pitchFamily="34" charset="0"/>
                <a:ea typeface="Calibri" pitchFamily="34" charset="-122"/>
                <a:cs typeface="Calibri" pitchFamily="34" charset="-120"/>
              </a:rPr>
              <a:t>Preprocess</a:t>
            </a:r>
            <a:endParaRPr lang="en-US" sz="1100" dirty="0"/>
          </a:p>
        </p:txBody>
      </p:sp>
      <p:sp>
        <p:nvSpPr>
          <p:cNvPr id="14" name="Text 12"/>
          <p:cNvSpPr/>
          <p:nvPr/>
        </p:nvSpPr>
        <p:spPr>
          <a:xfrm>
            <a:off x="2212848" y="1883664"/>
            <a:ext cx="1408176" cy="713232"/>
          </a:xfrm>
          <a:prstGeom prst="rect">
            <a:avLst/>
          </a:prstGeom>
          <a:noFill/>
          <a:ln/>
        </p:spPr>
        <p:txBody>
          <a:bodyPr wrap="square" rtlCol="0" anchor="ctr"/>
          <a:lstStyle/>
          <a:p>
            <a:pPr algn="ctr" indent="0" marL="0">
              <a:buNone/>
            </a:pPr>
            <a:r>
              <a:rPr lang="en-US" sz="950" dirty="0">
                <a:solidFill>
                  <a:srgbClr val="475569"/>
                </a:solidFill>
                <a:latin typeface="Calibri" pitchFamily="34" charset="0"/>
                <a:ea typeface="Calibri" pitchFamily="34" charset="-122"/>
                <a:cs typeface="Calibri" pitchFamily="34" charset="-120"/>
              </a:rPr>
              <a:t>Clean, filter</a:t>
            </a:r>
            <a:endParaRPr lang="en-US" sz="950" dirty="0"/>
          </a:p>
          <a:p>
            <a:pPr algn="ctr" indent="0" marL="0">
              <a:buNone/>
            </a:pPr>
            <a:r>
              <a:rPr lang="en-US" sz="950" dirty="0">
                <a:solidFill>
                  <a:srgbClr val="475569"/>
                </a:solidFill>
                <a:latin typeface="Calibri" pitchFamily="34" charset="0"/>
                <a:ea typeface="Calibri" pitchFamily="34" charset="-122"/>
                <a:cs typeface="Calibri" pitchFamily="34" charset="-120"/>
              </a:rPr>
              <a:t>background est.</a:t>
            </a:r>
            <a:endParaRPr lang="en-US" sz="950" dirty="0"/>
          </a:p>
        </p:txBody>
      </p:sp>
      <p:sp>
        <p:nvSpPr>
          <p:cNvPr id="15" name="Shape 13"/>
          <p:cNvSpPr/>
          <p:nvPr/>
        </p:nvSpPr>
        <p:spPr>
          <a:xfrm>
            <a:off x="3712464" y="1810512"/>
            <a:ext cx="109728" cy="64008"/>
          </a:xfrm>
          <a:prstGeom prst="rect">
            <a:avLst/>
          </a:prstGeom>
          <a:solidFill>
            <a:srgbClr val="475569"/>
          </a:solidFill>
          <a:ln w="12700">
            <a:solidFill>
              <a:srgbClr val="475569"/>
            </a:solidFill>
            <a:prstDash val="solid"/>
          </a:ln>
        </p:spPr>
      </p:sp>
      <p:sp>
        <p:nvSpPr>
          <p:cNvPr id="16" name="Shape 14"/>
          <p:cNvSpPr/>
          <p:nvPr/>
        </p:nvSpPr>
        <p:spPr>
          <a:xfrm>
            <a:off x="3822192" y="1024128"/>
            <a:ext cx="1554480" cy="1691640"/>
          </a:xfrm>
          <a:prstGeom prst="rect">
            <a:avLst/>
          </a:prstGeom>
          <a:solidFill>
            <a:srgbClr val="FFFFFF"/>
          </a:solidFill>
          <a:ln w="19050">
            <a:solidFill>
              <a:srgbClr val="1D4ED8"/>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3822192" y="1024128"/>
            <a:ext cx="1554480" cy="64008"/>
          </a:xfrm>
          <a:prstGeom prst="rect">
            <a:avLst/>
          </a:prstGeom>
          <a:solidFill>
            <a:srgbClr val="1D4ED8"/>
          </a:solidFill>
          <a:ln w="12700">
            <a:solidFill>
              <a:srgbClr val="1D4ED8"/>
            </a:solidFill>
            <a:prstDash val="solid"/>
          </a:ln>
        </p:spPr>
      </p:sp>
      <p:sp>
        <p:nvSpPr>
          <p:cNvPr id="18" name="Text 16"/>
          <p:cNvSpPr/>
          <p:nvPr/>
        </p:nvSpPr>
        <p:spPr>
          <a:xfrm>
            <a:off x="3822192" y="1097280"/>
            <a:ext cx="1554480" cy="475488"/>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9" name="Text 17"/>
          <p:cNvSpPr/>
          <p:nvPr/>
        </p:nvSpPr>
        <p:spPr>
          <a:xfrm>
            <a:off x="3895344" y="1591056"/>
            <a:ext cx="1408176" cy="274320"/>
          </a:xfrm>
          <a:prstGeom prst="rect">
            <a:avLst/>
          </a:prstGeom>
          <a:noFill/>
          <a:ln/>
        </p:spPr>
        <p:txBody>
          <a:bodyPr wrap="square" rtlCol="0" anchor="ctr"/>
          <a:lstStyle/>
          <a:p>
            <a:pPr algn="ctr" indent="0" marL="0">
              <a:buNone/>
            </a:pPr>
            <a:r>
              <a:rPr lang="en-US" sz="1100" b="1" dirty="0">
                <a:solidFill>
                  <a:srgbClr val="0B1D35"/>
                </a:solidFill>
                <a:latin typeface="Calibri" pitchFamily="34" charset="0"/>
                <a:ea typeface="Calibri" pitchFamily="34" charset="-122"/>
                <a:cs typeface="Calibri" pitchFamily="34" charset="-120"/>
              </a:rPr>
              <a:t>PWM Engine</a:t>
            </a:r>
            <a:endParaRPr lang="en-US" sz="1100" dirty="0"/>
          </a:p>
        </p:txBody>
      </p:sp>
      <p:sp>
        <p:nvSpPr>
          <p:cNvPr id="20" name="Text 18"/>
          <p:cNvSpPr/>
          <p:nvPr/>
        </p:nvSpPr>
        <p:spPr>
          <a:xfrm>
            <a:off x="3895344" y="1883664"/>
            <a:ext cx="1408176" cy="713232"/>
          </a:xfrm>
          <a:prstGeom prst="rect">
            <a:avLst/>
          </a:prstGeom>
          <a:noFill/>
          <a:ln/>
        </p:spPr>
        <p:txBody>
          <a:bodyPr wrap="square" rtlCol="0" anchor="ctr"/>
          <a:lstStyle/>
          <a:p>
            <a:pPr algn="ctr" indent="0" marL="0">
              <a:buNone/>
            </a:pPr>
            <a:r>
              <a:rPr lang="en-US" sz="950" dirty="0">
                <a:solidFill>
                  <a:srgbClr val="475569"/>
                </a:solidFill>
                <a:latin typeface="Calibri" pitchFamily="34" charset="0"/>
                <a:ea typeface="Calibri" pitchFamily="34" charset="-122"/>
                <a:cs typeface="Calibri" pitchFamily="34" charset="-120"/>
              </a:rPr>
              <a:t>Log-odds scoring</a:t>
            </a:r>
            <a:endParaRPr lang="en-US" sz="950" dirty="0"/>
          </a:p>
          <a:p>
            <a:pPr algn="ctr" indent="0" marL="0">
              <a:buNone/>
            </a:pPr>
            <a:r>
              <a:rPr lang="en-US" sz="950" dirty="0">
                <a:solidFill>
                  <a:srgbClr val="475569"/>
                </a:solidFill>
                <a:latin typeface="Calibri" pitchFamily="34" charset="0"/>
                <a:ea typeface="Calibri" pitchFamily="34" charset="-122"/>
                <a:cs typeface="Calibri" pitchFamily="34" charset="-120"/>
              </a:rPr>
              <a:t>IC calculation</a:t>
            </a:r>
            <a:endParaRPr lang="en-US" sz="950" dirty="0"/>
          </a:p>
        </p:txBody>
      </p:sp>
      <p:sp>
        <p:nvSpPr>
          <p:cNvPr id="21" name="Shape 19"/>
          <p:cNvSpPr/>
          <p:nvPr/>
        </p:nvSpPr>
        <p:spPr>
          <a:xfrm>
            <a:off x="5394960" y="1810512"/>
            <a:ext cx="109728" cy="64008"/>
          </a:xfrm>
          <a:prstGeom prst="rect">
            <a:avLst/>
          </a:prstGeom>
          <a:solidFill>
            <a:srgbClr val="475569"/>
          </a:solidFill>
          <a:ln w="12700">
            <a:solidFill>
              <a:srgbClr val="475569"/>
            </a:solidFill>
            <a:prstDash val="solid"/>
          </a:ln>
        </p:spPr>
      </p:sp>
      <p:sp>
        <p:nvSpPr>
          <p:cNvPr id="22" name="Shape 20"/>
          <p:cNvSpPr/>
          <p:nvPr/>
        </p:nvSpPr>
        <p:spPr>
          <a:xfrm>
            <a:off x="5504688" y="1024128"/>
            <a:ext cx="1554480" cy="1691640"/>
          </a:xfrm>
          <a:prstGeom prst="rect">
            <a:avLst/>
          </a:prstGeom>
          <a:solidFill>
            <a:srgbClr val="FFFFFF"/>
          </a:solidFill>
          <a:ln w="19050">
            <a:solidFill>
              <a:srgbClr val="F59E0B"/>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5504688" y="1024128"/>
            <a:ext cx="1554480" cy="64008"/>
          </a:xfrm>
          <a:prstGeom prst="rect">
            <a:avLst/>
          </a:prstGeom>
          <a:solidFill>
            <a:srgbClr val="F59E0B"/>
          </a:solidFill>
          <a:ln w="12700">
            <a:solidFill>
              <a:srgbClr val="F59E0B"/>
            </a:solidFill>
            <a:prstDash val="solid"/>
          </a:ln>
        </p:spPr>
      </p:sp>
      <p:sp>
        <p:nvSpPr>
          <p:cNvPr id="24" name="Text 22"/>
          <p:cNvSpPr/>
          <p:nvPr/>
        </p:nvSpPr>
        <p:spPr>
          <a:xfrm>
            <a:off x="5504688" y="1097280"/>
            <a:ext cx="1554480" cy="475488"/>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5" name="Text 23"/>
          <p:cNvSpPr/>
          <p:nvPr/>
        </p:nvSpPr>
        <p:spPr>
          <a:xfrm>
            <a:off x="5577840" y="1591056"/>
            <a:ext cx="1408176" cy="274320"/>
          </a:xfrm>
          <a:prstGeom prst="rect">
            <a:avLst/>
          </a:prstGeom>
          <a:noFill/>
          <a:ln/>
        </p:spPr>
        <p:txBody>
          <a:bodyPr wrap="square" rtlCol="0" anchor="ctr"/>
          <a:lstStyle/>
          <a:p>
            <a:pPr algn="ctr" indent="0" marL="0">
              <a:buNone/>
            </a:pPr>
            <a:r>
              <a:rPr lang="en-US" sz="1100" b="1" dirty="0">
                <a:solidFill>
                  <a:srgbClr val="0B1D35"/>
                </a:solidFill>
                <a:latin typeface="Calibri" pitchFamily="34" charset="0"/>
                <a:ea typeface="Calibri" pitchFamily="34" charset="-122"/>
                <a:cs typeface="Calibri" pitchFamily="34" charset="-120"/>
              </a:rPr>
              <a:t>MEME + Gibbs</a:t>
            </a:r>
            <a:endParaRPr lang="en-US" sz="1100" dirty="0"/>
          </a:p>
        </p:txBody>
      </p:sp>
      <p:sp>
        <p:nvSpPr>
          <p:cNvPr id="26" name="Text 24"/>
          <p:cNvSpPr/>
          <p:nvPr/>
        </p:nvSpPr>
        <p:spPr>
          <a:xfrm>
            <a:off x="5577840" y="1883664"/>
            <a:ext cx="1408176" cy="713232"/>
          </a:xfrm>
          <a:prstGeom prst="rect">
            <a:avLst/>
          </a:prstGeom>
          <a:noFill/>
          <a:ln/>
        </p:spPr>
        <p:txBody>
          <a:bodyPr wrap="square" rtlCol="0" anchor="ctr"/>
          <a:lstStyle/>
          <a:p>
            <a:pPr algn="ctr" indent="0" marL="0">
              <a:buNone/>
            </a:pPr>
            <a:r>
              <a:rPr lang="en-US" sz="950" dirty="0">
                <a:solidFill>
                  <a:srgbClr val="475569"/>
                </a:solidFill>
                <a:latin typeface="Calibri" pitchFamily="34" charset="0"/>
                <a:ea typeface="Calibri" pitchFamily="34" charset="-122"/>
                <a:cs typeface="Calibri" pitchFamily="34" charset="-120"/>
              </a:rPr>
              <a:t>EM algorithm</a:t>
            </a:r>
            <a:endParaRPr lang="en-US" sz="950" dirty="0"/>
          </a:p>
          <a:p>
            <a:pPr algn="ctr" indent="0" marL="0">
              <a:buNone/>
            </a:pPr>
            <a:r>
              <a:rPr lang="en-US" sz="950" dirty="0">
                <a:solidFill>
                  <a:srgbClr val="475569"/>
                </a:solidFill>
                <a:latin typeface="Calibri" pitchFamily="34" charset="0"/>
                <a:ea typeface="Calibri" pitchFamily="34" charset="-122"/>
                <a:cs typeface="Calibri" pitchFamily="34" charset="-120"/>
              </a:rPr>
              <a:t>Gibbs sampler</a:t>
            </a:r>
            <a:endParaRPr lang="en-US" sz="950" dirty="0"/>
          </a:p>
        </p:txBody>
      </p:sp>
      <p:sp>
        <p:nvSpPr>
          <p:cNvPr id="27" name="Shape 25"/>
          <p:cNvSpPr/>
          <p:nvPr/>
        </p:nvSpPr>
        <p:spPr>
          <a:xfrm>
            <a:off x="7077456" y="1810512"/>
            <a:ext cx="109728" cy="64008"/>
          </a:xfrm>
          <a:prstGeom prst="rect">
            <a:avLst/>
          </a:prstGeom>
          <a:solidFill>
            <a:srgbClr val="475569"/>
          </a:solidFill>
          <a:ln w="12700">
            <a:solidFill>
              <a:srgbClr val="475569"/>
            </a:solidFill>
            <a:prstDash val="solid"/>
          </a:ln>
        </p:spPr>
      </p:sp>
      <p:sp>
        <p:nvSpPr>
          <p:cNvPr id="28" name="Shape 26"/>
          <p:cNvSpPr/>
          <p:nvPr/>
        </p:nvSpPr>
        <p:spPr>
          <a:xfrm>
            <a:off x="7187184" y="1024128"/>
            <a:ext cx="1554480" cy="1691640"/>
          </a:xfrm>
          <a:prstGeom prst="rect">
            <a:avLst/>
          </a:prstGeom>
          <a:solidFill>
            <a:srgbClr val="FFFFFF"/>
          </a:solidFill>
          <a:ln w="19050">
            <a:solidFill>
              <a:srgbClr val="22C55E"/>
            </a:solidFill>
            <a:prstDash val="solid"/>
          </a:ln>
          <a:effectLst>
            <a:outerShdw sx="100000" sy="100000" kx="0" ky="0" algn="bl" rotWithShape="0" blurRad="101600" dist="38100" dir="8100000">
              <a:srgbClr val="000000">
                <a:alpha val="12000"/>
              </a:srgbClr>
            </a:outerShdw>
          </a:effectLst>
        </p:spPr>
      </p:sp>
      <p:sp>
        <p:nvSpPr>
          <p:cNvPr id="29" name="Shape 27"/>
          <p:cNvSpPr/>
          <p:nvPr/>
        </p:nvSpPr>
        <p:spPr>
          <a:xfrm>
            <a:off x="7187184" y="1024128"/>
            <a:ext cx="1554480" cy="64008"/>
          </a:xfrm>
          <a:prstGeom prst="rect">
            <a:avLst/>
          </a:prstGeom>
          <a:solidFill>
            <a:srgbClr val="22C55E"/>
          </a:solidFill>
          <a:ln w="12700">
            <a:solidFill>
              <a:srgbClr val="22C55E"/>
            </a:solidFill>
            <a:prstDash val="solid"/>
          </a:ln>
        </p:spPr>
      </p:sp>
      <p:sp>
        <p:nvSpPr>
          <p:cNvPr id="30" name="Text 28"/>
          <p:cNvSpPr/>
          <p:nvPr/>
        </p:nvSpPr>
        <p:spPr>
          <a:xfrm>
            <a:off x="7187184" y="1097280"/>
            <a:ext cx="1554480" cy="475488"/>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31" name="Text 29"/>
          <p:cNvSpPr/>
          <p:nvPr/>
        </p:nvSpPr>
        <p:spPr>
          <a:xfrm>
            <a:off x="7260336" y="1591056"/>
            <a:ext cx="1408176" cy="274320"/>
          </a:xfrm>
          <a:prstGeom prst="rect">
            <a:avLst/>
          </a:prstGeom>
          <a:noFill/>
          <a:ln/>
        </p:spPr>
        <p:txBody>
          <a:bodyPr wrap="square" rtlCol="0" anchor="ctr"/>
          <a:lstStyle/>
          <a:p>
            <a:pPr algn="ctr" indent="0" marL="0">
              <a:buNone/>
            </a:pPr>
            <a:r>
              <a:rPr lang="en-US" sz="1100" b="1" dirty="0">
                <a:solidFill>
                  <a:srgbClr val="0B1D35"/>
                </a:solidFill>
                <a:latin typeface="Calibri" pitchFamily="34" charset="0"/>
                <a:ea typeface="Calibri" pitchFamily="34" charset="-122"/>
                <a:cs typeface="Calibri" pitchFamily="34" charset="-120"/>
              </a:rPr>
              <a:t>Visualise</a:t>
            </a:r>
            <a:endParaRPr lang="en-US" sz="1100" dirty="0"/>
          </a:p>
        </p:txBody>
      </p:sp>
      <p:sp>
        <p:nvSpPr>
          <p:cNvPr id="32" name="Text 30"/>
          <p:cNvSpPr/>
          <p:nvPr/>
        </p:nvSpPr>
        <p:spPr>
          <a:xfrm>
            <a:off x="7260336" y="1883664"/>
            <a:ext cx="1408176" cy="713232"/>
          </a:xfrm>
          <a:prstGeom prst="rect">
            <a:avLst/>
          </a:prstGeom>
          <a:noFill/>
          <a:ln/>
        </p:spPr>
        <p:txBody>
          <a:bodyPr wrap="square" rtlCol="0" anchor="ctr"/>
          <a:lstStyle/>
          <a:p>
            <a:pPr algn="ctr" indent="0" marL="0">
              <a:buNone/>
            </a:pPr>
            <a:r>
              <a:rPr lang="en-US" sz="950" dirty="0">
                <a:solidFill>
                  <a:srgbClr val="475569"/>
                </a:solidFill>
                <a:latin typeface="Calibri" pitchFamily="34" charset="0"/>
                <a:ea typeface="Calibri" pitchFamily="34" charset="-122"/>
                <a:cs typeface="Calibri" pitchFamily="34" charset="-120"/>
              </a:rPr>
              <a:t>Logos, heatmaps</a:t>
            </a:r>
            <a:endParaRPr lang="en-US" sz="950" dirty="0"/>
          </a:p>
          <a:p>
            <a:pPr algn="ctr" indent="0" marL="0">
              <a:buNone/>
            </a:pPr>
            <a:r>
              <a:rPr lang="en-US" sz="950" dirty="0">
                <a:solidFill>
                  <a:srgbClr val="475569"/>
                </a:solidFill>
                <a:latin typeface="Calibri" pitchFamily="34" charset="0"/>
                <a:ea typeface="Calibri" pitchFamily="34" charset="-122"/>
                <a:cs typeface="Calibri" pitchFamily="34" charset="-120"/>
              </a:rPr>
              <a:t>Charts</a:t>
            </a:r>
            <a:endParaRPr lang="en-US" sz="9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2834640"/>
          <a:ext cx="8229600" cy="2057400"/>
        </p:xfrm>
        <a:graphic>
          <a:graphicData uri="http://schemas.openxmlformats.org/drawingml/2006/table">
            <a:tbl>
              <a:tblPr/>
              <a:tblGrid>
                <a:gridCol w="2011680"/>
                <a:gridCol w="5029200"/>
                <a:gridCol w="1188720"/>
              </a:tblGrid>
              <a:tr h="342900">
                <a:tc>
                  <a:txBody>
                    <a:bodyPr/>
                    <a:lstStyle/>
                    <a:p>
                      <a:pPr indent="0" marL="0">
                        <a:buNone/>
                      </a:pPr>
                      <a:r>
                        <a:rPr lang="en-US" sz="900" b="1" dirty="0">
                          <a:solidFill>
                            <a:srgbClr val="FFFFFF"/>
                          </a:solidFill>
                        </a:rPr>
                        <a:t>Module</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D35"/>
                    </a:solidFill>
                  </a:tcPr>
                </a:tc>
                <a:tc>
                  <a:txBody>
                    <a:bodyPr/>
                    <a:lstStyle/>
                    <a:p>
                      <a:pPr indent="0" marL="0">
                        <a:buNone/>
                      </a:pPr>
                      <a:r>
                        <a:rPr lang="en-US" sz="900" b="1" dirty="0">
                          <a:solidFill>
                            <a:srgbClr val="FFFFFF"/>
                          </a:solidFill>
                        </a:rPr>
                        <a:t>Responsibility</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D35"/>
                    </a:solidFill>
                  </a:tcPr>
                </a:tc>
                <a:tc>
                  <a:txBody>
                    <a:bodyPr/>
                    <a:lstStyle/>
                    <a:p>
                      <a:pPr indent="0" marL="0">
                        <a:buNone/>
                      </a:pPr>
                      <a:r>
                        <a:rPr lang="en-US" sz="900" b="1" dirty="0">
                          <a:solidFill>
                            <a:srgbClr val="FFFFFF"/>
                          </a:solidFill>
                        </a:rPr>
                        <a:t>LoC</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D35"/>
                    </a:solidFill>
                  </a:tcPr>
                </a:tc>
              </a:tr>
              <a:tr h="342900">
                <a:tc>
                  <a:txBody>
                    <a:bodyPr/>
                    <a:lstStyle/>
                    <a:p>
                      <a:pPr indent="0" marL="0">
                        <a:buNone/>
                      </a:pPr>
                      <a:r>
                        <a:rPr lang="en-US" sz="950" b="1" dirty="0">
                          <a:solidFill>
                            <a:srgbClr val="0D9488"/>
                          </a:solidFill>
                          <a:latin typeface="Consolas" pitchFamily="34" charset="0"/>
                          <a:ea typeface="Consolas" pitchFamily="34" charset="-122"/>
                          <a:cs typeface="Consolas" pitchFamily="34" charset="-120"/>
                        </a:rPr>
                        <a:t>pwm.py</a:t>
                      </a:r>
                      <a:endParaRPr lang="en-US" sz="95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Position Weight Matrix: log-odds, IC, consensus, scoring</a:t>
                      </a:r>
                      <a:endParaRPr lang="en-US" sz="9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~180</a:t>
                      </a:r>
                      <a:endParaRPr lang="en-US" sz="9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342900">
                <a:tc>
                  <a:txBody>
                    <a:bodyPr/>
                    <a:lstStyle/>
                    <a:p>
                      <a:pPr indent="0" marL="0">
                        <a:buNone/>
                      </a:pPr>
                      <a:r>
                        <a:rPr lang="en-US" sz="950" b="1" dirty="0">
                          <a:solidFill>
                            <a:srgbClr val="0D9488"/>
                          </a:solidFill>
                          <a:latin typeface="Consolas" pitchFamily="34" charset="0"/>
                          <a:ea typeface="Consolas" pitchFamily="34" charset="-122"/>
                          <a:cs typeface="Consolas" pitchFamily="34" charset="-120"/>
                        </a:rPr>
                        <a:t>meme_algorithm.py</a:t>
                      </a:r>
                      <a:endParaRPr lang="en-US" sz="95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Full MEME EM: E-step, M-step, OOPS/ZOOPS, multi-motif erasing</a:t>
                      </a:r>
                      <a:endParaRPr lang="en-US" sz="9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~250</a:t>
                      </a:r>
                      <a:endParaRPr lang="en-US" sz="9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42900">
                <a:tc>
                  <a:txBody>
                    <a:bodyPr/>
                    <a:lstStyle/>
                    <a:p>
                      <a:pPr indent="0" marL="0">
                        <a:buNone/>
                      </a:pPr>
                      <a:r>
                        <a:rPr lang="en-US" sz="950" b="1" dirty="0">
                          <a:solidFill>
                            <a:srgbClr val="0D9488"/>
                          </a:solidFill>
                          <a:latin typeface="Consolas" pitchFamily="34" charset="0"/>
                          <a:ea typeface="Consolas" pitchFamily="34" charset="-122"/>
                          <a:cs typeface="Consolas" pitchFamily="34" charset="-120"/>
                        </a:rPr>
                        <a:t>gibbs_sampling.py</a:t>
                      </a:r>
                      <a:endParaRPr lang="en-US" sz="95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Gibbs Sampler: leave-one-out, softmax sampling, multi-start</a:t>
                      </a:r>
                      <a:endParaRPr lang="en-US" sz="9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~280</a:t>
                      </a:r>
                      <a:endParaRPr lang="en-US" sz="9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342900">
                <a:tc>
                  <a:txBody>
                    <a:bodyPr/>
                    <a:lstStyle/>
                    <a:p>
                      <a:pPr indent="0" marL="0">
                        <a:buNone/>
                      </a:pPr>
                      <a:r>
                        <a:rPr lang="en-US" sz="950" b="1" dirty="0">
                          <a:solidFill>
                            <a:srgbClr val="0D9488"/>
                          </a:solidFill>
                          <a:latin typeface="Consolas" pitchFamily="34" charset="0"/>
                          <a:ea typeface="Consolas" pitchFamily="34" charset="-122"/>
                          <a:cs typeface="Consolas" pitchFamily="34" charset="-120"/>
                        </a:rPr>
                        <a:t>evaluate.py</a:t>
                      </a:r>
                      <a:endParaRPr lang="en-US" sz="95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Sensitivity, PPV, F1, nCC, site accuracy metrics</a:t>
                      </a:r>
                      <a:endParaRPr lang="en-US" sz="9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~150</a:t>
                      </a:r>
                      <a:endParaRPr lang="en-US" sz="9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42900">
                <a:tc>
                  <a:txBody>
                    <a:bodyPr/>
                    <a:lstStyle/>
                    <a:p>
                      <a:pPr indent="0" marL="0">
                        <a:buNone/>
                      </a:pPr>
                      <a:r>
                        <a:rPr lang="en-US" sz="950" b="1" dirty="0">
                          <a:solidFill>
                            <a:srgbClr val="0D9488"/>
                          </a:solidFill>
                          <a:latin typeface="Consolas" pitchFamily="34" charset="0"/>
                          <a:ea typeface="Consolas" pitchFamily="34" charset="-122"/>
                          <a:cs typeface="Consolas" pitchFamily="34" charset="-120"/>
                        </a:rPr>
                        <a:t>visualize.py</a:t>
                      </a:r>
                      <a:endParaRPr lang="en-US" sz="95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Sequence logos, heatmaps, convergence &amp; comparison plots</a:t>
                      </a:r>
                      <a:endParaRPr lang="en-US" sz="9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~320</a:t>
                      </a:r>
                      <a:endParaRPr lang="en-US" sz="9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D35"/>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Real-World Applications</a:t>
            </a:r>
            <a:endParaRPr lang="en-US" sz="2800" dirty="0"/>
          </a:p>
        </p:txBody>
      </p:sp>
      <p:sp>
        <p:nvSpPr>
          <p:cNvPr id="3" name="Text 1"/>
          <p:cNvSpPr/>
          <p:nvPr/>
        </p:nvSpPr>
        <p:spPr>
          <a:xfrm>
            <a:off x="457200" y="704088"/>
            <a:ext cx="8229600" cy="256032"/>
          </a:xfrm>
          <a:prstGeom prst="rect">
            <a:avLst/>
          </a:prstGeom>
          <a:noFill/>
          <a:ln/>
        </p:spPr>
        <p:txBody>
          <a:bodyPr wrap="square" rtlCol="0" anchor="ctr"/>
          <a:lstStyle/>
          <a:p>
            <a:pPr indent="0" marL="0">
              <a:buNone/>
            </a:pPr>
            <a:r>
              <a:rPr lang="en-US" sz="1150" i="1" dirty="0">
                <a:solidFill>
                  <a:srgbClr val="14B8A6"/>
                </a:solidFill>
                <a:latin typeface="Calibri" pitchFamily="34" charset="0"/>
                <a:ea typeface="Calibri" pitchFamily="34" charset="-122"/>
                <a:cs typeface="Calibri" pitchFamily="34" charset="-120"/>
              </a:rPr>
              <a:t>Motif discovery powers a USD 50B+ precision medicine and genomics industry</a:t>
            </a:r>
            <a:endParaRPr lang="en-US" sz="1150" dirty="0"/>
          </a:p>
        </p:txBody>
      </p:sp>
      <p:sp>
        <p:nvSpPr>
          <p:cNvPr id="4" name="Shape 2"/>
          <p:cNvSpPr/>
          <p:nvPr/>
        </p:nvSpPr>
        <p:spPr>
          <a:xfrm>
            <a:off x="457200" y="1078992"/>
            <a:ext cx="2651760" cy="1664208"/>
          </a:xfrm>
          <a:prstGeom prst="rect">
            <a:avLst/>
          </a:prstGeom>
          <a:solidFill>
            <a:srgbClr val="122744"/>
          </a:solidFill>
          <a:ln w="12700">
            <a:solidFill>
              <a:srgbClr val="0D9488"/>
            </a:solidFill>
            <a:prstDash val="solid"/>
          </a:ln>
          <a:effectLst>
            <a:outerShdw sx="100000" sy="100000" kx="0" ky="0" algn="bl" rotWithShape="0" blurRad="101600" dist="38100" dir="8100000">
              <a:srgbClr val="000000">
                <a:alpha val="12000"/>
              </a:srgbClr>
            </a:outerShdw>
          </a:effectLst>
        </p:spPr>
      </p:sp>
      <p:sp>
        <p:nvSpPr>
          <p:cNvPr id="5" name="Text 3"/>
          <p:cNvSpPr/>
          <p:nvPr/>
        </p:nvSpPr>
        <p:spPr>
          <a:xfrm>
            <a:off x="457200" y="1152144"/>
            <a:ext cx="566928" cy="566928"/>
          </a:xfrm>
          <a:prstGeom prst="rect">
            <a:avLst/>
          </a:prstGeom>
          <a:noFill/>
          <a:ln/>
        </p:spPr>
        <p:txBody>
          <a:bodyPr wrap="square" rtlCol="0" anchor="ctr"/>
          <a:lstStyle/>
          <a:p>
            <a:pPr indent="0" marL="0">
              <a:buNone/>
            </a:pPr>
            <a:r>
              <a:rPr lang="en-US" sz="2200" dirty="0">
                <a:solidFill>
                  <a:srgbClr val="000000"/>
                </a:solidFill>
              </a:rPr>
              <a:t>🧬</a:t>
            </a:r>
            <a:endParaRPr lang="en-US" sz="2200" dirty="0"/>
          </a:p>
        </p:txBody>
      </p:sp>
      <p:sp>
        <p:nvSpPr>
          <p:cNvPr id="6" name="Text 4"/>
          <p:cNvSpPr/>
          <p:nvPr/>
        </p:nvSpPr>
        <p:spPr>
          <a:xfrm>
            <a:off x="1051560" y="1170432"/>
            <a:ext cx="1920240" cy="384048"/>
          </a:xfrm>
          <a:prstGeom prst="rect">
            <a:avLst/>
          </a:prstGeom>
          <a:noFill/>
          <a:ln/>
        </p:spPr>
        <p:txBody>
          <a:bodyPr wrap="square" lIns="0" tIns="0" rIns="0" bIns="0" rtlCol="0" anchor="ctr"/>
          <a:lstStyle/>
          <a:p>
            <a:pPr indent="0" marL="0">
              <a:buNone/>
            </a:pPr>
            <a:r>
              <a:rPr lang="en-US" sz="1150" b="1" dirty="0">
                <a:solidFill>
                  <a:srgbClr val="0D9488"/>
                </a:solidFill>
                <a:latin typeface="Calibri" pitchFamily="34" charset="0"/>
                <a:ea typeface="Calibri" pitchFamily="34" charset="-122"/>
                <a:cs typeface="Calibri" pitchFamily="34" charset="-120"/>
              </a:rPr>
              <a:t>Cancer Genomics</a:t>
            </a:r>
            <a:endParaRPr lang="en-US" sz="1150" dirty="0"/>
          </a:p>
        </p:txBody>
      </p:sp>
      <p:sp>
        <p:nvSpPr>
          <p:cNvPr id="7" name="Text 5"/>
          <p:cNvSpPr/>
          <p:nvPr/>
        </p:nvSpPr>
        <p:spPr>
          <a:xfrm>
            <a:off x="566928" y="1645920"/>
            <a:ext cx="2432304" cy="100584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Identify mutated TF binding sites driving oncogene activation (e.g., TERT promoter mutations in melanoma)</a:t>
            </a:r>
            <a:endParaRPr lang="en-US" sz="950" dirty="0"/>
          </a:p>
        </p:txBody>
      </p:sp>
      <p:sp>
        <p:nvSpPr>
          <p:cNvPr id="8" name="Shape 6"/>
          <p:cNvSpPr/>
          <p:nvPr/>
        </p:nvSpPr>
        <p:spPr>
          <a:xfrm>
            <a:off x="3291840" y="1078992"/>
            <a:ext cx="2651760" cy="1664208"/>
          </a:xfrm>
          <a:prstGeom prst="rect">
            <a:avLst/>
          </a:prstGeom>
          <a:solidFill>
            <a:srgbClr val="122744"/>
          </a:solidFill>
          <a:ln w="12700">
            <a:solidFill>
              <a:srgbClr val="7C3AED"/>
            </a:solidFill>
            <a:prstDash val="solid"/>
          </a:ln>
          <a:effectLst>
            <a:outerShdw sx="100000" sy="100000" kx="0" ky="0" algn="bl" rotWithShape="0" blurRad="101600" dist="38100" dir="8100000">
              <a:srgbClr val="000000">
                <a:alpha val="12000"/>
              </a:srgbClr>
            </a:outerShdw>
          </a:effectLst>
        </p:spPr>
      </p:sp>
      <p:sp>
        <p:nvSpPr>
          <p:cNvPr id="9" name="Text 7"/>
          <p:cNvSpPr/>
          <p:nvPr/>
        </p:nvSpPr>
        <p:spPr>
          <a:xfrm>
            <a:off x="3291840" y="1152144"/>
            <a:ext cx="566928" cy="566928"/>
          </a:xfrm>
          <a:prstGeom prst="rect">
            <a:avLst/>
          </a:prstGeom>
          <a:noFill/>
          <a:ln/>
        </p:spPr>
        <p:txBody>
          <a:bodyPr wrap="square" rtlCol="0" anchor="ctr"/>
          <a:lstStyle/>
          <a:p>
            <a:pPr indent="0" marL="0">
              <a:buNone/>
            </a:pPr>
            <a:r>
              <a:rPr lang="en-US" sz="2200" dirty="0">
                <a:solidFill>
                  <a:srgbClr val="000000"/>
                </a:solidFill>
              </a:rPr>
              <a:t>💊</a:t>
            </a:r>
            <a:endParaRPr lang="en-US" sz="2200" dirty="0"/>
          </a:p>
        </p:txBody>
      </p:sp>
      <p:sp>
        <p:nvSpPr>
          <p:cNvPr id="10" name="Text 8"/>
          <p:cNvSpPr/>
          <p:nvPr/>
        </p:nvSpPr>
        <p:spPr>
          <a:xfrm>
            <a:off x="3886200" y="1170432"/>
            <a:ext cx="1920240" cy="384048"/>
          </a:xfrm>
          <a:prstGeom prst="rect">
            <a:avLst/>
          </a:prstGeom>
          <a:noFill/>
          <a:ln/>
        </p:spPr>
        <p:txBody>
          <a:bodyPr wrap="square" lIns="0" tIns="0" rIns="0" bIns="0" rtlCol="0" anchor="ctr"/>
          <a:lstStyle/>
          <a:p>
            <a:pPr indent="0" marL="0">
              <a:buNone/>
            </a:pPr>
            <a:r>
              <a:rPr lang="en-US" sz="1150" b="1" dirty="0">
                <a:solidFill>
                  <a:srgbClr val="7C3AED"/>
                </a:solidFill>
                <a:latin typeface="Calibri" pitchFamily="34" charset="0"/>
                <a:ea typeface="Calibri" pitchFamily="34" charset="-122"/>
                <a:cs typeface="Calibri" pitchFamily="34" charset="-120"/>
              </a:rPr>
              <a:t>Drug Discovery</a:t>
            </a:r>
            <a:endParaRPr lang="en-US" sz="1150" dirty="0"/>
          </a:p>
        </p:txBody>
      </p:sp>
      <p:sp>
        <p:nvSpPr>
          <p:cNvPr id="11" name="Text 9"/>
          <p:cNvSpPr/>
          <p:nvPr/>
        </p:nvSpPr>
        <p:spPr>
          <a:xfrm>
            <a:off x="3401568" y="1645920"/>
            <a:ext cx="2432304" cy="100584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Target TF–DNA interactions with small molecules; CTCF and E2F1 are active therapeutic targets</a:t>
            </a:r>
            <a:endParaRPr lang="en-US" sz="950" dirty="0"/>
          </a:p>
        </p:txBody>
      </p:sp>
      <p:sp>
        <p:nvSpPr>
          <p:cNvPr id="12" name="Shape 10"/>
          <p:cNvSpPr/>
          <p:nvPr/>
        </p:nvSpPr>
        <p:spPr>
          <a:xfrm>
            <a:off x="6126480" y="1078992"/>
            <a:ext cx="2651760" cy="1664208"/>
          </a:xfrm>
          <a:prstGeom prst="rect">
            <a:avLst/>
          </a:prstGeom>
          <a:solidFill>
            <a:srgbClr val="122744"/>
          </a:solidFill>
          <a:ln w="12700">
            <a:solidFill>
              <a:srgbClr val="22C55E"/>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6126480" y="1152144"/>
            <a:ext cx="566928" cy="566928"/>
          </a:xfrm>
          <a:prstGeom prst="rect">
            <a:avLst/>
          </a:prstGeom>
          <a:noFill/>
          <a:ln/>
        </p:spPr>
        <p:txBody>
          <a:bodyPr wrap="square" rtlCol="0" anchor="ctr"/>
          <a:lstStyle/>
          <a:p>
            <a:pPr indent="0" marL="0">
              <a:buNone/>
            </a:pPr>
            <a:r>
              <a:rPr lang="en-US" sz="2200" dirty="0">
                <a:solidFill>
                  <a:srgbClr val="000000"/>
                </a:solidFill>
              </a:rPr>
              <a:t>🌱</a:t>
            </a:r>
            <a:endParaRPr lang="en-US" sz="2200" dirty="0"/>
          </a:p>
        </p:txBody>
      </p:sp>
      <p:sp>
        <p:nvSpPr>
          <p:cNvPr id="14" name="Text 12"/>
          <p:cNvSpPr/>
          <p:nvPr/>
        </p:nvSpPr>
        <p:spPr>
          <a:xfrm>
            <a:off x="6720840" y="1170432"/>
            <a:ext cx="1920240" cy="384048"/>
          </a:xfrm>
          <a:prstGeom prst="rect">
            <a:avLst/>
          </a:prstGeom>
          <a:noFill/>
          <a:ln/>
        </p:spPr>
        <p:txBody>
          <a:bodyPr wrap="square" lIns="0" tIns="0" rIns="0" bIns="0" rtlCol="0" anchor="ctr"/>
          <a:lstStyle/>
          <a:p>
            <a:pPr indent="0" marL="0">
              <a:buNone/>
            </a:pPr>
            <a:r>
              <a:rPr lang="en-US" sz="1150" b="1" dirty="0">
                <a:solidFill>
                  <a:srgbClr val="22C55E"/>
                </a:solidFill>
                <a:latin typeface="Calibri" pitchFamily="34" charset="0"/>
                <a:ea typeface="Calibri" pitchFamily="34" charset="-122"/>
                <a:cs typeface="Calibri" pitchFamily="34" charset="-120"/>
              </a:rPr>
              <a:t>Synthetic Biology</a:t>
            </a:r>
            <a:endParaRPr lang="en-US" sz="1150" dirty="0"/>
          </a:p>
        </p:txBody>
      </p:sp>
      <p:sp>
        <p:nvSpPr>
          <p:cNvPr id="15" name="Text 13"/>
          <p:cNvSpPr/>
          <p:nvPr/>
        </p:nvSpPr>
        <p:spPr>
          <a:xfrm>
            <a:off x="6236208" y="1645920"/>
            <a:ext cx="2432304" cy="100584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Engineer synthetic promoters with precise, programmable expression using characterised motif elements</a:t>
            </a:r>
            <a:endParaRPr lang="en-US" sz="950" dirty="0"/>
          </a:p>
        </p:txBody>
      </p:sp>
      <p:sp>
        <p:nvSpPr>
          <p:cNvPr id="16" name="Shape 14"/>
          <p:cNvSpPr/>
          <p:nvPr/>
        </p:nvSpPr>
        <p:spPr>
          <a:xfrm>
            <a:off x="457200" y="2889504"/>
            <a:ext cx="2651760" cy="1664208"/>
          </a:xfrm>
          <a:prstGeom prst="rect">
            <a:avLst/>
          </a:prstGeom>
          <a:solidFill>
            <a:srgbClr val="122744"/>
          </a:solidFill>
          <a:ln w="12700">
            <a:solidFill>
              <a:srgbClr val="1D4ED8"/>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457200" y="2962656"/>
            <a:ext cx="566928" cy="566928"/>
          </a:xfrm>
          <a:prstGeom prst="rect">
            <a:avLst/>
          </a:prstGeom>
          <a:noFill/>
          <a:ln/>
        </p:spPr>
        <p:txBody>
          <a:bodyPr wrap="square" rtlCol="0" anchor="ctr"/>
          <a:lstStyle/>
          <a:p>
            <a:pPr indent="0" marL="0">
              <a:buNone/>
            </a:pPr>
            <a:r>
              <a:rPr lang="en-US" sz="2200" dirty="0">
                <a:solidFill>
                  <a:srgbClr val="000000"/>
                </a:solidFill>
              </a:rPr>
              <a:t>🔬</a:t>
            </a:r>
            <a:endParaRPr lang="en-US" sz="2200" dirty="0"/>
          </a:p>
        </p:txBody>
      </p:sp>
      <p:sp>
        <p:nvSpPr>
          <p:cNvPr id="18" name="Text 16"/>
          <p:cNvSpPr/>
          <p:nvPr/>
        </p:nvSpPr>
        <p:spPr>
          <a:xfrm>
            <a:off x="1051560" y="2980944"/>
            <a:ext cx="1920240" cy="384048"/>
          </a:xfrm>
          <a:prstGeom prst="rect">
            <a:avLst/>
          </a:prstGeom>
          <a:noFill/>
          <a:ln/>
        </p:spPr>
        <p:txBody>
          <a:bodyPr wrap="square" lIns="0" tIns="0" rIns="0" bIns="0" rtlCol="0" anchor="ctr"/>
          <a:lstStyle/>
          <a:p>
            <a:pPr indent="0" marL="0">
              <a:buNone/>
            </a:pPr>
            <a:r>
              <a:rPr lang="en-US" sz="1150" b="1" dirty="0">
                <a:solidFill>
                  <a:srgbClr val="1D4ED8"/>
                </a:solidFill>
                <a:latin typeface="Calibri" pitchFamily="34" charset="0"/>
                <a:ea typeface="Calibri" pitchFamily="34" charset="-122"/>
                <a:cs typeface="Calibri" pitchFamily="34" charset="-120"/>
              </a:rPr>
              <a:t>Comparative Genomics</a:t>
            </a:r>
            <a:endParaRPr lang="en-US" sz="1150" dirty="0"/>
          </a:p>
        </p:txBody>
      </p:sp>
      <p:sp>
        <p:nvSpPr>
          <p:cNvPr id="19" name="Text 17"/>
          <p:cNvSpPr/>
          <p:nvPr/>
        </p:nvSpPr>
        <p:spPr>
          <a:xfrm>
            <a:off x="566928" y="3456432"/>
            <a:ext cx="2432304" cy="100584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Identify conserved regulatory elements under evolutionary selection across species boundaries</a:t>
            </a:r>
            <a:endParaRPr lang="en-US" sz="950" dirty="0"/>
          </a:p>
        </p:txBody>
      </p:sp>
      <p:sp>
        <p:nvSpPr>
          <p:cNvPr id="20" name="Shape 18"/>
          <p:cNvSpPr/>
          <p:nvPr/>
        </p:nvSpPr>
        <p:spPr>
          <a:xfrm>
            <a:off x="3291840" y="2889504"/>
            <a:ext cx="2651760" cy="1664208"/>
          </a:xfrm>
          <a:prstGeom prst="rect">
            <a:avLst/>
          </a:prstGeom>
          <a:solidFill>
            <a:srgbClr val="122744"/>
          </a:solidFill>
          <a:ln w="12700">
            <a:solidFill>
              <a:srgbClr val="F59E0B"/>
            </a:solidFill>
            <a:prstDash val="solid"/>
          </a:ln>
          <a:effectLst>
            <a:outerShdw sx="100000" sy="100000" kx="0" ky="0" algn="bl" rotWithShape="0" blurRad="101600" dist="38100" dir="8100000">
              <a:srgbClr val="000000">
                <a:alpha val="12000"/>
              </a:srgbClr>
            </a:outerShdw>
          </a:effectLst>
        </p:spPr>
      </p:sp>
      <p:sp>
        <p:nvSpPr>
          <p:cNvPr id="21" name="Text 19"/>
          <p:cNvSpPr/>
          <p:nvPr/>
        </p:nvSpPr>
        <p:spPr>
          <a:xfrm>
            <a:off x="3291840" y="2962656"/>
            <a:ext cx="566928" cy="566928"/>
          </a:xfrm>
          <a:prstGeom prst="rect">
            <a:avLst/>
          </a:prstGeom>
          <a:noFill/>
          <a:ln/>
        </p:spPr>
        <p:txBody>
          <a:bodyPr wrap="square" rtlCol="0" anchor="ctr"/>
          <a:lstStyle/>
          <a:p>
            <a:pPr indent="0" marL="0">
              <a:buNone/>
            </a:pPr>
            <a:r>
              <a:rPr lang="en-US" sz="2200" dirty="0">
                <a:solidFill>
                  <a:srgbClr val="000000"/>
                </a:solidFill>
              </a:rPr>
              <a:t>🏥</a:t>
            </a:r>
            <a:endParaRPr lang="en-US" sz="2200" dirty="0"/>
          </a:p>
        </p:txBody>
      </p:sp>
      <p:sp>
        <p:nvSpPr>
          <p:cNvPr id="22" name="Text 20"/>
          <p:cNvSpPr/>
          <p:nvPr/>
        </p:nvSpPr>
        <p:spPr>
          <a:xfrm>
            <a:off x="3886200" y="2980944"/>
            <a:ext cx="1920240" cy="384048"/>
          </a:xfrm>
          <a:prstGeom prst="rect">
            <a:avLst/>
          </a:prstGeom>
          <a:noFill/>
          <a:ln/>
        </p:spPr>
        <p:txBody>
          <a:bodyPr wrap="square" lIns="0" tIns="0" rIns="0" bIns="0" rtlCol="0" anchor="ctr"/>
          <a:lstStyle/>
          <a:p>
            <a:pPr indent="0" marL="0">
              <a:buNone/>
            </a:pPr>
            <a:r>
              <a:rPr lang="en-US" sz="1150" b="1" dirty="0">
                <a:solidFill>
                  <a:srgbClr val="F59E0B"/>
                </a:solidFill>
                <a:latin typeface="Calibri" pitchFamily="34" charset="0"/>
                <a:ea typeface="Calibri" pitchFamily="34" charset="-122"/>
                <a:cs typeface="Calibri" pitchFamily="34" charset="-120"/>
              </a:rPr>
              <a:t>Personalised Medicine</a:t>
            </a:r>
            <a:endParaRPr lang="en-US" sz="1150" dirty="0"/>
          </a:p>
        </p:txBody>
      </p:sp>
      <p:sp>
        <p:nvSpPr>
          <p:cNvPr id="23" name="Text 21"/>
          <p:cNvSpPr/>
          <p:nvPr/>
        </p:nvSpPr>
        <p:spPr>
          <a:xfrm>
            <a:off x="3401568" y="3456432"/>
            <a:ext cx="2432304" cy="100584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Patient-specific rSNPs in TF binding sites explain differential drug response and disease risk</a:t>
            </a:r>
            <a:endParaRPr lang="en-US" sz="950" dirty="0"/>
          </a:p>
        </p:txBody>
      </p:sp>
      <p:sp>
        <p:nvSpPr>
          <p:cNvPr id="24" name="Shape 22"/>
          <p:cNvSpPr/>
          <p:nvPr/>
        </p:nvSpPr>
        <p:spPr>
          <a:xfrm>
            <a:off x="6126480" y="2889504"/>
            <a:ext cx="2651760" cy="1664208"/>
          </a:xfrm>
          <a:prstGeom prst="rect">
            <a:avLst/>
          </a:prstGeom>
          <a:solidFill>
            <a:srgbClr val="122744"/>
          </a:solidFill>
          <a:ln w="12700">
            <a:solidFill>
              <a:srgbClr val="22C55E"/>
            </a:solidFill>
            <a:prstDash val="solid"/>
          </a:ln>
          <a:effectLst>
            <a:outerShdw sx="100000" sy="100000" kx="0" ky="0" algn="bl" rotWithShape="0" blurRad="101600" dist="38100" dir="8100000">
              <a:srgbClr val="000000">
                <a:alpha val="12000"/>
              </a:srgbClr>
            </a:outerShdw>
          </a:effectLst>
        </p:spPr>
      </p:sp>
      <p:sp>
        <p:nvSpPr>
          <p:cNvPr id="25" name="Text 23"/>
          <p:cNvSpPr/>
          <p:nvPr/>
        </p:nvSpPr>
        <p:spPr>
          <a:xfrm>
            <a:off x="6126480" y="2962656"/>
            <a:ext cx="566928" cy="566928"/>
          </a:xfrm>
          <a:prstGeom prst="rect">
            <a:avLst/>
          </a:prstGeom>
          <a:noFill/>
          <a:ln/>
        </p:spPr>
        <p:txBody>
          <a:bodyPr wrap="square" rtlCol="0" anchor="ctr"/>
          <a:lstStyle/>
          <a:p>
            <a:pPr indent="0" marL="0">
              <a:buNone/>
            </a:pPr>
            <a:r>
              <a:rPr lang="en-US" sz="2200" dirty="0">
                <a:solidFill>
                  <a:srgbClr val="000000"/>
                </a:solidFill>
              </a:rPr>
              <a:t>🌾</a:t>
            </a:r>
            <a:endParaRPr lang="en-US" sz="2200" dirty="0"/>
          </a:p>
        </p:txBody>
      </p:sp>
      <p:sp>
        <p:nvSpPr>
          <p:cNvPr id="26" name="Text 24"/>
          <p:cNvSpPr/>
          <p:nvPr/>
        </p:nvSpPr>
        <p:spPr>
          <a:xfrm>
            <a:off x="6720840" y="2980944"/>
            <a:ext cx="1920240" cy="384048"/>
          </a:xfrm>
          <a:prstGeom prst="rect">
            <a:avLst/>
          </a:prstGeom>
          <a:noFill/>
          <a:ln/>
        </p:spPr>
        <p:txBody>
          <a:bodyPr wrap="square" lIns="0" tIns="0" rIns="0" bIns="0" rtlCol="0" anchor="ctr"/>
          <a:lstStyle/>
          <a:p>
            <a:pPr indent="0" marL="0">
              <a:buNone/>
            </a:pPr>
            <a:r>
              <a:rPr lang="en-US" sz="1150" b="1" dirty="0">
                <a:solidFill>
                  <a:srgbClr val="22C55E"/>
                </a:solidFill>
                <a:latin typeface="Calibri" pitchFamily="34" charset="0"/>
                <a:ea typeface="Calibri" pitchFamily="34" charset="-122"/>
                <a:cs typeface="Calibri" pitchFamily="34" charset="-120"/>
              </a:rPr>
              <a:t>Crop Engineering</a:t>
            </a:r>
            <a:endParaRPr lang="en-US" sz="1150" dirty="0"/>
          </a:p>
        </p:txBody>
      </p:sp>
      <p:sp>
        <p:nvSpPr>
          <p:cNvPr id="27" name="Text 25"/>
          <p:cNvSpPr/>
          <p:nvPr/>
        </p:nvSpPr>
        <p:spPr>
          <a:xfrm>
            <a:off x="6236208" y="3456432"/>
            <a:ext cx="2432304" cy="100584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G-box and ABA motifs engineer drought-tolerant crops — directly relevant to the plant TF data in this project</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D35"/>
        </a:solidFill>
      </p:bgPr>
    </p:bg>
    <p:spTree>
      <p:nvGrpSpPr>
        <p:cNvPr id="1" name=""/>
        <p:cNvGrpSpPr/>
        <p:nvPr/>
      </p:nvGrpSpPr>
      <p:grpSpPr>
        <a:xfrm>
          <a:off x="0" y="0"/>
          <a:ext cx="0" cy="0"/>
          <a:chOff x="0" y="0"/>
          <a:chExt cx="0" cy="0"/>
        </a:xfrm>
      </p:grpSpPr>
      <p:sp>
        <p:nvSpPr>
          <p:cNvPr id="2" name="Shape 0"/>
          <p:cNvSpPr/>
          <p:nvPr/>
        </p:nvSpPr>
        <p:spPr>
          <a:xfrm>
            <a:off x="2514600" y="502920"/>
            <a:ext cx="4114800" cy="4114800"/>
          </a:xfrm>
          <a:prstGeom prst="ellipse">
            <a:avLst/>
          </a:prstGeom>
          <a:solidFill>
            <a:srgbClr val="0D9488">
              <a:alpha val="8000"/>
            </a:srgbClr>
          </a:solidFill>
          <a:ln w="12700">
            <a:solidFill>
              <a:srgbClr val="14B8A6"/>
            </a:solidFill>
            <a:prstDash val="solid"/>
          </a:ln>
        </p:spPr>
      </p:sp>
      <p:sp>
        <p:nvSpPr>
          <p:cNvPr id="3" name="Text 1"/>
          <p:cNvSpPr/>
          <p:nvPr/>
        </p:nvSpPr>
        <p:spPr>
          <a:xfrm>
            <a:off x="457200" y="256032"/>
            <a:ext cx="502920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Conclusions</a:t>
            </a:r>
            <a:endParaRPr lang="en-US" sz="2800" dirty="0"/>
          </a:p>
        </p:txBody>
      </p:sp>
      <p:sp>
        <p:nvSpPr>
          <p:cNvPr id="4" name="Shape 2"/>
          <p:cNvSpPr/>
          <p:nvPr/>
        </p:nvSpPr>
        <p:spPr>
          <a:xfrm>
            <a:off x="457200" y="1005840"/>
            <a:ext cx="475488" cy="475488"/>
          </a:xfrm>
          <a:prstGeom prst="ellipse">
            <a:avLst/>
          </a:prstGeom>
          <a:solidFill>
            <a:srgbClr val="0D9488"/>
          </a:solidFill>
          <a:ln w="12700">
            <a:solidFill>
              <a:srgbClr val="0D9488"/>
            </a:solidFill>
            <a:prstDash val="solid"/>
          </a:ln>
        </p:spPr>
      </p:sp>
      <p:sp>
        <p:nvSpPr>
          <p:cNvPr id="5" name="Text 3"/>
          <p:cNvSpPr/>
          <p:nvPr/>
        </p:nvSpPr>
        <p:spPr>
          <a:xfrm>
            <a:off x="457200" y="1005840"/>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6" name="Text 4"/>
          <p:cNvSpPr/>
          <p:nvPr/>
        </p:nvSpPr>
        <p:spPr>
          <a:xfrm>
            <a:off x="1078992" y="896112"/>
            <a:ext cx="4114800" cy="292608"/>
          </a:xfrm>
          <a:prstGeom prst="rect">
            <a:avLst/>
          </a:prstGeom>
          <a:noFill/>
          <a:ln/>
        </p:spPr>
        <p:txBody>
          <a:bodyPr wrap="square" lIns="0" tIns="0" rIns="0" bIns="0" rtlCol="0" anchor="ctr"/>
          <a:lstStyle/>
          <a:p>
            <a:pPr indent="0" marL="0">
              <a:buNone/>
            </a:pPr>
            <a:r>
              <a:rPr lang="en-US" sz="1150" b="1" dirty="0">
                <a:solidFill>
                  <a:srgbClr val="0D9488"/>
                </a:solidFill>
                <a:latin typeface="Calibri" pitchFamily="34" charset="0"/>
                <a:ea typeface="Calibri" pitchFamily="34" charset="-122"/>
                <a:cs typeface="Calibri" pitchFamily="34" charset="-120"/>
              </a:rPr>
              <a:t>Motif discovery is fundamental</a:t>
            </a:r>
            <a:endParaRPr lang="en-US" sz="1150" dirty="0"/>
          </a:p>
        </p:txBody>
      </p:sp>
      <p:sp>
        <p:nvSpPr>
          <p:cNvPr id="7" name="Text 5"/>
          <p:cNvSpPr/>
          <p:nvPr/>
        </p:nvSpPr>
        <p:spPr>
          <a:xfrm>
            <a:off x="1078992" y="1207008"/>
            <a:ext cx="4206240" cy="5486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Motifs are the vocabulary of gene regulation — computationally finding them enables the entire field of transcriptomics</a:t>
            </a:r>
            <a:endParaRPr lang="en-US" sz="1000" dirty="0"/>
          </a:p>
        </p:txBody>
      </p:sp>
      <p:sp>
        <p:nvSpPr>
          <p:cNvPr id="8" name="Shape 6"/>
          <p:cNvSpPr/>
          <p:nvPr/>
        </p:nvSpPr>
        <p:spPr>
          <a:xfrm>
            <a:off x="457200" y="2011680"/>
            <a:ext cx="475488" cy="475488"/>
          </a:xfrm>
          <a:prstGeom prst="ellipse">
            <a:avLst/>
          </a:prstGeom>
          <a:solidFill>
            <a:srgbClr val="22C55E"/>
          </a:solidFill>
          <a:ln w="12700">
            <a:solidFill>
              <a:srgbClr val="22C55E"/>
            </a:solidFill>
            <a:prstDash val="solid"/>
          </a:ln>
        </p:spPr>
      </p:sp>
      <p:sp>
        <p:nvSpPr>
          <p:cNvPr id="9" name="Text 7"/>
          <p:cNvSpPr/>
          <p:nvPr/>
        </p:nvSpPr>
        <p:spPr>
          <a:xfrm>
            <a:off x="457200" y="2011680"/>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0" name="Text 8"/>
          <p:cNvSpPr/>
          <p:nvPr/>
        </p:nvSpPr>
        <p:spPr>
          <a:xfrm>
            <a:off x="1078992" y="1901952"/>
            <a:ext cx="4114800" cy="292608"/>
          </a:xfrm>
          <a:prstGeom prst="rect">
            <a:avLst/>
          </a:prstGeom>
          <a:noFill/>
          <a:ln/>
        </p:spPr>
        <p:txBody>
          <a:bodyPr wrap="square" lIns="0" tIns="0" rIns="0" bIns="0" rtlCol="0" anchor="ctr"/>
          <a:lstStyle/>
          <a:p>
            <a:pPr indent="0" marL="0">
              <a:buNone/>
            </a:pPr>
            <a:r>
              <a:rPr lang="en-US" sz="1150" b="1" dirty="0">
                <a:solidFill>
                  <a:srgbClr val="22C55E"/>
                </a:solidFill>
                <a:latin typeface="Calibri" pitchFamily="34" charset="0"/>
                <a:ea typeface="Calibri" pitchFamily="34" charset="-122"/>
                <a:cs typeface="Calibri" pitchFamily="34" charset="-120"/>
              </a:rPr>
              <a:t>Real data confirms algorithms</a:t>
            </a:r>
            <a:endParaRPr lang="en-US" sz="1150" dirty="0"/>
          </a:p>
        </p:txBody>
      </p:sp>
      <p:sp>
        <p:nvSpPr>
          <p:cNvPr id="11" name="Text 9"/>
          <p:cNvSpPr/>
          <p:nvPr/>
        </p:nvSpPr>
        <p:spPr>
          <a:xfrm>
            <a:off x="1078992" y="2212848"/>
            <a:ext cx="4206240" cy="5486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G-box (E=10⁻³⁰⁰), CTCF, E2F1, HOXA10 — all known motifs recovered from real JASPAR CORE data</a:t>
            </a:r>
            <a:endParaRPr lang="en-US" sz="1000" dirty="0"/>
          </a:p>
        </p:txBody>
      </p:sp>
      <p:sp>
        <p:nvSpPr>
          <p:cNvPr id="12" name="Shape 10"/>
          <p:cNvSpPr/>
          <p:nvPr/>
        </p:nvSpPr>
        <p:spPr>
          <a:xfrm>
            <a:off x="457200" y="3017520"/>
            <a:ext cx="475488" cy="475488"/>
          </a:xfrm>
          <a:prstGeom prst="ellipse">
            <a:avLst/>
          </a:prstGeom>
          <a:solidFill>
            <a:srgbClr val="F59E0B"/>
          </a:solidFill>
          <a:ln w="12700">
            <a:solidFill>
              <a:srgbClr val="F59E0B"/>
            </a:solidFill>
            <a:prstDash val="solid"/>
          </a:ln>
        </p:spPr>
      </p:sp>
      <p:sp>
        <p:nvSpPr>
          <p:cNvPr id="13" name="Text 11"/>
          <p:cNvSpPr/>
          <p:nvPr/>
        </p:nvSpPr>
        <p:spPr>
          <a:xfrm>
            <a:off x="457200" y="3017520"/>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14" name="Text 12"/>
          <p:cNvSpPr/>
          <p:nvPr/>
        </p:nvSpPr>
        <p:spPr>
          <a:xfrm>
            <a:off x="1078992" y="2907792"/>
            <a:ext cx="4114800" cy="292608"/>
          </a:xfrm>
          <a:prstGeom prst="rect">
            <a:avLst/>
          </a:prstGeom>
          <a:noFill/>
          <a:ln/>
        </p:spPr>
        <p:txBody>
          <a:bodyPr wrap="square" lIns="0" tIns="0" rIns="0" bIns="0" rtlCol="0" anchor="ctr"/>
          <a:lstStyle/>
          <a:p>
            <a:pPr indent="0" marL="0">
              <a:buNone/>
            </a:pPr>
            <a:r>
              <a:rPr lang="en-US" sz="1150" b="1" dirty="0">
                <a:solidFill>
                  <a:srgbClr val="F59E0B"/>
                </a:solidFill>
                <a:latin typeface="Calibri" pitchFamily="34" charset="0"/>
                <a:ea typeface="Calibri" pitchFamily="34" charset="-122"/>
                <a:cs typeface="Calibri" pitchFamily="34" charset="-120"/>
              </a:rPr>
              <a:t>Gibbs &gt; MEME on IC</a:t>
            </a:r>
            <a:endParaRPr lang="en-US" sz="1150" dirty="0"/>
          </a:p>
        </p:txBody>
      </p:sp>
      <p:sp>
        <p:nvSpPr>
          <p:cNvPr id="15" name="Text 13"/>
          <p:cNvSpPr/>
          <p:nvPr/>
        </p:nvSpPr>
        <p:spPr>
          <a:xfrm>
            <a:off x="1078992" y="3218688"/>
            <a:ext cx="4206240" cy="5486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+1.2 bits average advantage; MEME provides better E-values and multi-motif support — algorithms are complementary</a:t>
            </a:r>
            <a:endParaRPr lang="en-US" sz="1000" dirty="0"/>
          </a:p>
        </p:txBody>
      </p:sp>
      <p:sp>
        <p:nvSpPr>
          <p:cNvPr id="16" name="Shape 14"/>
          <p:cNvSpPr/>
          <p:nvPr/>
        </p:nvSpPr>
        <p:spPr>
          <a:xfrm>
            <a:off x="457200" y="4023360"/>
            <a:ext cx="475488" cy="475488"/>
          </a:xfrm>
          <a:prstGeom prst="ellipse">
            <a:avLst/>
          </a:prstGeom>
          <a:solidFill>
            <a:srgbClr val="7C3AED"/>
          </a:solidFill>
          <a:ln w="12700">
            <a:solidFill>
              <a:srgbClr val="7C3AED"/>
            </a:solidFill>
            <a:prstDash val="solid"/>
          </a:ln>
        </p:spPr>
      </p:sp>
      <p:sp>
        <p:nvSpPr>
          <p:cNvPr id="17" name="Text 15"/>
          <p:cNvSpPr/>
          <p:nvPr/>
        </p:nvSpPr>
        <p:spPr>
          <a:xfrm>
            <a:off x="457200" y="4023360"/>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18" name="Text 16"/>
          <p:cNvSpPr/>
          <p:nvPr/>
        </p:nvSpPr>
        <p:spPr>
          <a:xfrm>
            <a:off x="1078992" y="3913632"/>
            <a:ext cx="4114800" cy="292608"/>
          </a:xfrm>
          <a:prstGeom prst="rect">
            <a:avLst/>
          </a:prstGeom>
          <a:noFill/>
          <a:ln/>
        </p:spPr>
        <p:txBody>
          <a:bodyPr wrap="square" lIns="0" tIns="0" rIns="0" bIns="0" rtlCol="0" anchor="ctr"/>
          <a:lstStyle/>
          <a:p>
            <a:pPr indent="0" marL="0">
              <a:buNone/>
            </a:pPr>
            <a:r>
              <a:rPr lang="en-US" sz="1150" b="1" dirty="0">
                <a:solidFill>
                  <a:srgbClr val="7C3AED"/>
                </a:solidFill>
                <a:latin typeface="Calibri" pitchFamily="34" charset="0"/>
                <a:ea typeface="Calibri" pitchFamily="34" charset="-122"/>
                <a:cs typeface="Calibri" pitchFamily="34" charset="-120"/>
              </a:rPr>
              <a:t>Applications are immediate</a:t>
            </a:r>
            <a:endParaRPr lang="en-US" sz="1150" dirty="0"/>
          </a:p>
        </p:txBody>
      </p:sp>
      <p:sp>
        <p:nvSpPr>
          <p:cNvPr id="19" name="Text 17"/>
          <p:cNvSpPr/>
          <p:nvPr/>
        </p:nvSpPr>
        <p:spPr>
          <a:xfrm>
            <a:off x="1078992" y="4224528"/>
            <a:ext cx="4206240" cy="5486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Cancer, drug discovery, crop engineering, personalised medicine — this is infrastructure for the genomics era</a:t>
            </a:r>
            <a:endParaRPr lang="en-US" sz="1000" dirty="0"/>
          </a:p>
        </p:txBody>
      </p:sp>
      <p:sp>
        <p:nvSpPr>
          <p:cNvPr id="20" name="Text 18"/>
          <p:cNvSpPr/>
          <p:nvPr/>
        </p:nvSpPr>
        <p:spPr>
          <a:xfrm>
            <a:off x="5760720" y="1188720"/>
            <a:ext cx="2926080" cy="914400"/>
          </a:xfrm>
          <a:prstGeom prst="rect">
            <a:avLst/>
          </a:prstGeom>
          <a:noFill/>
          <a:ln/>
        </p:spPr>
        <p:txBody>
          <a:bodyPr wrap="square" rtlCol="0" anchor="ctr"/>
          <a:lstStyle/>
          <a:p>
            <a:pPr algn="ctr" indent="0" marL="0">
              <a:buNone/>
            </a:pPr>
            <a:r>
              <a:rPr lang="en-US" sz="4200" b="1" dirty="0">
                <a:solidFill>
                  <a:srgbClr val="FFFFFF"/>
                </a:solidFill>
                <a:latin typeface="Calibri" pitchFamily="34" charset="0"/>
                <a:ea typeface="Calibri" pitchFamily="34" charset="-122"/>
                <a:cs typeface="Calibri" pitchFamily="34" charset="-120"/>
              </a:rPr>
              <a:t>Thank You</a:t>
            </a:r>
            <a:endParaRPr lang="en-US" sz="4200" dirty="0"/>
          </a:p>
        </p:txBody>
      </p:sp>
      <p:sp>
        <p:nvSpPr>
          <p:cNvPr id="21" name="Shape 19"/>
          <p:cNvSpPr/>
          <p:nvPr/>
        </p:nvSpPr>
        <p:spPr>
          <a:xfrm>
            <a:off x="6400800" y="2121408"/>
            <a:ext cx="1645920" cy="36576"/>
          </a:xfrm>
          <a:prstGeom prst="rect">
            <a:avLst/>
          </a:prstGeom>
          <a:solidFill>
            <a:srgbClr val="0D9488"/>
          </a:solidFill>
          <a:ln w="12700">
            <a:solidFill>
              <a:srgbClr val="0D9488"/>
            </a:solidFill>
            <a:prstDash val="solid"/>
          </a:ln>
        </p:spPr>
      </p:sp>
      <p:sp>
        <p:nvSpPr>
          <p:cNvPr id="22" name="Text 20"/>
          <p:cNvSpPr/>
          <p:nvPr/>
        </p:nvSpPr>
        <p:spPr>
          <a:xfrm>
            <a:off x="5760720" y="2240280"/>
            <a:ext cx="2926080" cy="640080"/>
          </a:xfrm>
          <a:prstGeom prst="rect">
            <a:avLst/>
          </a:prstGeom>
          <a:noFill/>
          <a:ln/>
        </p:spPr>
        <p:txBody>
          <a:bodyPr wrap="square" rtlCol="0" anchor="ctr"/>
          <a:lstStyle/>
          <a:p>
            <a:pPr algn="ctr" indent="0" marL="0">
              <a:lnSpc>
                <a:spcPct val="130000"/>
              </a:lnSpc>
              <a:buNone/>
            </a:pPr>
            <a:r>
              <a:rPr lang="en-US" sz="1300" b="1" dirty="0">
                <a:solidFill>
                  <a:srgbClr val="FFFFFF"/>
                </a:solidFill>
                <a:latin typeface="Calibri" pitchFamily="34" charset="0"/>
                <a:ea typeface="Calibri" pitchFamily="34" charset="-122"/>
                <a:cs typeface="Calibri" pitchFamily="34" charset="-120"/>
              </a:rPr>
              <a:t>Ramesh Chandra Soren</a:t>
            </a:r>
            <a:endParaRPr lang="en-US" sz="1300" dirty="0"/>
          </a:p>
          <a:p>
            <a:pPr algn="ctr" indent="0" marL="0">
              <a:lnSpc>
                <a:spcPct val="130000"/>
              </a:lnSpc>
              <a:buNone/>
            </a:pPr>
            <a:r>
              <a:rPr lang="en-US" sz="1300" b="1" dirty="0">
                <a:solidFill>
                  <a:srgbClr val="FFFFFF"/>
                </a:solidFill>
                <a:latin typeface="Calibri" pitchFamily="34" charset="0"/>
                <a:ea typeface="Calibri" pitchFamily="34" charset="-122"/>
                <a:cs typeface="Calibri" pitchFamily="34" charset="-120"/>
              </a:rPr>
              <a:t>2022CSB086</a:t>
            </a:r>
            <a:endParaRPr lang="en-US" sz="1300" dirty="0"/>
          </a:p>
        </p:txBody>
      </p:sp>
      <p:sp>
        <p:nvSpPr>
          <p:cNvPr id="23" name="Text 21"/>
          <p:cNvSpPr/>
          <p:nvPr/>
        </p:nvSpPr>
        <p:spPr>
          <a:xfrm>
            <a:off x="5760720" y="2944368"/>
            <a:ext cx="2926080" cy="594360"/>
          </a:xfrm>
          <a:prstGeom prst="rect">
            <a:avLst/>
          </a:prstGeom>
          <a:noFill/>
          <a:ln/>
        </p:spPr>
        <p:txBody>
          <a:bodyPr wrap="square" rtlCol="0" anchor="ctr"/>
          <a:lstStyle/>
          <a:p>
            <a:pPr algn="ctr" indent="0" marL="0">
              <a:lnSpc>
                <a:spcPct val="140000"/>
              </a:lnSpc>
              <a:buNone/>
            </a:pPr>
            <a:r>
              <a:rPr lang="en-US" sz="1050" dirty="0">
                <a:solidFill>
                  <a:srgbClr val="94A3B8"/>
                </a:solidFill>
                <a:latin typeface="Calibri" pitchFamily="34" charset="0"/>
                <a:ea typeface="Calibri" pitchFamily="34" charset="-122"/>
                <a:cs typeface="Calibri" pitchFamily="34" charset="-120"/>
              </a:rPr>
              <a:t>Dr. Surajeet Ghosh (Supervisor)</a:t>
            </a:r>
            <a:endParaRPr lang="en-US" sz="1050" dirty="0"/>
          </a:p>
          <a:p>
            <a:pPr algn="ctr" indent="0" marL="0">
              <a:lnSpc>
                <a:spcPct val="140000"/>
              </a:lnSpc>
              <a:buNone/>
            </a:pPr>
            <a:r>
              <a:rPr lang="en-US" sz="1050" dirty="0">
                <a:solidFill>
                  <a:srgbClr val="94A3B8"/>
                </a:solidFill>
                <a:latin typeface="Calibri" pitchFamily="34" charset="0"/>
                <a:ea typeface="Calibri" pitchFamily="34" charset="-122"/>
                <a:cs typeface="Calibri" pitchFamily="34" charset="-120"/>
              </a:rPr>
              <a:t>IIEST Shibpur · 17 March 2026</a:t>
            </a:r>
            <a:endParaRPr lang="en-US" sz="1050" dirty="0"/>
          </a:p>
        </p:txBody>
      </p:sp>
      <p:sp>
        <p:nvSpPr>
          <p:cNvPr id="24" name="Shape 22"/>
          <p:cNvSpPr/>
          <p:nvPr/>
        </p:nvSpPr>
        <p:spPr>
          <a:xfrm>
            <a:off x="5760720" y="3657600"/>
            <a:ext cx="2926080" cy="822960"/>
          </a:xfrm>
          <a:prstGeom prst="rect">
            <a:avLst/>
          </a:prstGeom>
          <a:solidFill>
            <a:srgbClr val="122744"/>
          </a:solidFill>
          <a:ln w="12700">
            <a:solidFill>
              <a:srgbClr val="0D9488"/>
            </a:solidFill>
            <a:prstDash val="solid"/>
          </a:ln>
        </p:spPr>
      </p:sp>
      <p:sp>
        <p:nvSpPr>
          <p:cNvPr id="25" name="Text 23"/>
          <p:cNvSpPr/>
          <p:nvPr/>
        </p:nvSpPr>
        <p:spPr>
          <a:xfrm>
            <a:off x="5760720" y="3712464"/>
            <a:ext cx="2926080" cy="347472"/>
          </a:xfrm>
          <a:prstGeom prst="rect">
            <a:avLst/>
          </a:prstGeom>
          <a:noFill/>
          <a:ln/>
        </p:spPr>
        <p:txBody>
          <a:bodyPr wrap="square" rtlCol="0" anchor="ctr"/>
          <a:lstStyle/>
          <a:p>
            <a:pPr algn="ctr" indent="0" marL="0">
              <a:buNone/>
            </a:pPr>
            <a:r>
              <a:rPr lang="en-US" sz="1400" b="1" dirty="0">
                <a:solidFill>
                  <a:srgbClr val="14B8A6"/>
                </a:solidFill>
                <a:latin typeface="Calibri" pitchFamily="34" charset="0"/>
                <a:ea typeface="Calibri" pitchFamily="34" charset="-122"/>
                <a:cs typeface="Calibri" pitchFamily="34" charset="-120"/>
              </a:rPr>
              <a:t>Questions?</a:t>
            </a:r>
            <a:endParaRPr lang="en-US" sz="1400" dirty="0"/>
          </a:p>
        </p:txBody>
      </p:sp>
      <p:sp>
        <p:nvSpPr>
          <p:cNvPr id="26" name="Text 24"/>
          <p:cNvSpPr/>
          <p:nvPr/>
        </p:nvSpPr>
        <p:spPr>
          <a:xfrm>
            <a:off x="5760720" y="4087368"/>
            <a:ext cx="2926080" cy="274320"/>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github · JASPAR · MEME Suite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Biological Sequence Motif Discovery</dc:title>
  <dc:subject>B.Tech Major Project — IIEST Shibpur 2026</dc:subject>
  <dc:creator>Ramesh Chandra Soren</dc:creator>
  <cp:lastModifiedBy>Ramesh Chandra Soren</cp:lastModifiedBy>
  <cp:revision>1</cp:revision>
  <dcterms:created xsi:type="dcterms:W3CDTF">2026-05-13T10:33:45Z</dcterms:created>
  <dcterms:modified xsi:type="dcterms:W3CDTF">2026-05-13T10:33:45Z</dcterms:modified>
</cp:coreProperties>
</file>