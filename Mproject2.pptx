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MEME</c:v>
                </c:pt>
              </c:strCache>
            </c:strRef>
          </c:tx>
          <c:spPr>
            <a:solidFill>
              <a:srgbClr val="1d4ed8"/>
            </a:solidFill>
            <a:ln w="0">
              <a:noFill/>
            </a:ln>
          </c:spPr>
          <c:invertIfNegative val="0"/>
          <c:dLbls>
            <c:numFmt formatCode="0.0" sourceLinked="0"/>
            <c:txPr>
              <a:bodyPr wrap="square"/>
              <a:lstStyle/>
              <a:p>
                <a:pPr>
                  <a:defRPr b="0" sz="700" spc="-1" strike="noStrik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9"/>
                <c:pt idx="0">
                  <c:v>CTCF</c:v>
                </c:pt>
                <c:pt idx="1">
                  <c:v>E2F1
SELEX</c:v>
                </c:pt>
                <c:pt idx="2">
                  <c:v>E2F1
ChIP</c:v>
                </c:pt>
                <c:pt idx="3">
                  <c:v>HOXA10</c:v>
                </c:pt>
                <c:pt idx="4">
                  <c:v>Plant
bZIP</c:v>
                </c:pt>
                <c:pt idx="5">
                  <c:v>Plant
B3/MADS</c:v>
                </c:pt>
                <c:pt idx="6">
                  <c:v>Yeast
ABF</c:v>
                </c:pt>
                <c:pt idx="7">
                  <c:v>Synth
TATA</c:v>
                </c:pt>
                <c:pt idx="8">
                  <c:v>Synth
E-box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9"/>
                <c:pt idx="0">
                  <c:v>9</c:v>
                </c:pt>
                <c:pt idx="1">
                  <c:v>10.11</c:v>
                </c:pt>
                <c:pt idx="2">
                  <c:v>8.47</c:v>
                </c:pt>
                <c:pt idx="3">
                  <c:v>6.52</c:v>
                </c:pt>
                <c:pt idx="4">
                  <c:v>8.64</c:v>
                </c:pt>
                <c:pt idx="5">
                  <c:v>4.69</c:v>
                </c:pt>
                <c:pt idx="6">
                  <c:v>6.63</c:v>
                </c:pt>
                <c:pt idx="7">
                  <c:v>6.96</c:v>
                </c:pt>
                <c:pt idx="8">
                  <c:v>6.9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Gibbs</c:v>
                </c:pt>
              </c:strCache>
            </c:strRef>
          </c:tx>
          <c:spPr>
            <a:solidFill>
              <a:srgbClr val="0ea5e9"/>
            </a:solidFill>
            <a:ln w="0">
              <a:noFill/>
            </a:ln>
          </c:spPr>
          <c:invertIfNegative val="0"/>
          <c:dLbls>
            <c:numFmt formatCode="0.0" sourceLinked="0"/>
            <c:txPr>
              <a:bodyPr wrap="square"/>
              <a:lstStyle/>
              <a:p>
                <a:pPr>
                  <a:defRPr b="0" sz="700" spc="-1" strike="noStrik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9"/>
                <c:pt idx="0">
                  <c:v>CTCF</c:v>
                </c:pt>
                <c:pt idx="1">
                  <c:v>E2F1
SELEX</c:v>
                </c:pt>
                <c:pt idx="2">
                  <c:v>E2F1
ChIP</c:v>
                </c:pt>
                <c:pt idx="3">
                  <c:v>HOXA10</c:v>
                </c:pt>
                <c:pt idx="4">
                  <c:v>Plant
bZIP</c:v>
                </c:pt>
                <c:pt idx="5">
                  <c:v>Plant
B3/MADS</c:v>
                </c:pt>
                <c:pt idx="6">
                  <c:v>Yeast
ABF</c:v>
                </c:pt>
                <c:pt idx="7">
                  <c:v>Synth
TATA</c:v>
                </c:pt>
                <c:pt idx="8">
                  <c:v>Synth
E-box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9"/>
                <c:pt idx="0">
                  <c:v>11.29</c:v>
                </c:pt>
                <c:pt idx="1">
                  <c:v>11.12</c:v>
                </c:pt>
                <c:pt idx="2">
                  <c:v>9.47</c:v>
                </c:pt>
                <c:pt idx="3">
                  <c:v>7.38</c:v>
                </c:pt>
                <c:pt idx="4">
                  <c:v>8.85</c:v>
                </c:pt>
                <c:pt idx="5">
                  <c:v>5.15</c:v>
                </c:pt>
                <c:pt idx="6">
                  <c:v>6.72</c:v>
                </c:pt>
                <c:pt idx="7">
                  <c:v>10.66</c:v>
                </c:pt>
                <c:pt idx="8">
                  <c:v>8.73</c:v>
                </c:pt>
              </c:numCache>
            </c:numRef>
          </c:val>
        </c:ser>
        <c:gapWidth val="150"/>
        <c:overlap val="0"/>
        <c:axId val="6915512"/>
        <c:axId val="11697497"/>
      </c:barChart>
      <c:catAx>
        <c:axId val="691551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900" spc="-1" strike="noStrike">
                <a:solidFill>
                  <a:srgbClr val="475569"/>
                </a:solidFill>
                <a:latin typeface="Arial"/>
              </a:defRPr>
            </a:pPr>
          </a:p>
        </c:txPr>
        <c:crossAx val="11697497"/>
        <c:crosses val="autoZero"/>
        <c:auto val="1"/>
        <c:lblAlgn val="ctr"/>
        <c:lblOffset val="100"/>
        <c:noMultiLvlLbl val="0"/>
      </c:catAx>
      <c:valAx>
        <c:axId val="11697497"/>
        <c:scaling>
          <c:orientation val="minMax"/>
          <c:max val="14"/>
          <c:min val="0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900" spc="-1" strike="noStrike">
                <a:solidFill>
                  <a:srgbClr val="475569"/>
                </a:solidFill>
                <a:latin typeface="Arial"/>
              </a:defRPr>
            </a:pPr>
          </a:p>
        </c:txPr>
        <c:crossAx val="69155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t"/>
      <c:overlay val="0"/>
      <c:spPr>
        <a:noFill/>
        <a:ln w="0">
          <a:noFill/>
        </a:ln>
      </c:spPr>
      <c:txPr>
        <a:bodyPr/>
        <a:lstStyle/>
        <a:p>
          <a:pPr>
            <a:defRPr b="0" sz="11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span"/>
  </c:chart>
  <c:spPr>
    <a:solidFill>
      <a:srgbClr val="ffffff"/>
    </a:solidFill>
    <a:ln w="936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16ACB65C-DE57-4161-A0C1-77D021E64898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EDFA42D-7255-4E79-B221-A6F3984ADD9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B46F110-DC8D-4716-9348-3CC6B04C828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482D2F1-8F42-49A1-9F46-22AF224340A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F20EC99-4CA7-47F3-87EB-2D16800AE8A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C3FBFAA-8872-4313-BC3B-C0DC91A81E8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578CD4E-E0BD-48ED-90A6-890CE82F0AC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FD966C0-6E83-4FB6-8270-138A8E28582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7340292-F37F-438C-AFBC-AAF926E93BC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AC63DC9-1D5F-4325-9BA0-01D6E4F64F9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8B23612-932C-4237-8053-C171AA8CD45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370891A-5167-46C4-9182-C7298E8A22B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5330179-B9B2-403D-B997-2850128382E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94B3193-745C-4E6A-A3AB-E5DD5970504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E251E96-0D4E-43B7-A141-4FD4CA2093B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80733A2-36B2-4444-9971-43E531F63CB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BCF5024-1C88-4BCB-B4C6-431CE15C3CC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8412480" y="274320"/>
            <a:ext cx="1279800" cy="1279800"/>
          </a:xfrm>
          <a:prstGeom prst="ellipse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8778240" y="914400"/>
            <a:ext cx="822600" cy="822600"/>
          </a:xfrm>
          <a:prstGeom prst="ellipse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8321040" y="1645920"/>
            <a:ext cx="1096920" cy="1096920"/>
          </a:xfrm>
          <a:prstGeom prst="ellipse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Shape 3"/>
          <p:cNvSpPr/>
          <p:nvPr/>
        </p:nvSpPr>
        <p:spPr>
          <a:xfrm>
            <a:off x="8686800" y="2377440"/>
            <a:ext cx="639720" cy="639720"/>
          </a:xfrm>
          <a:prstGeom prst="ellipse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Shape 4"/>
          <p:cNvSpPr/>
          <p:nvPr/>
        </p:nvSpPr>
        <p:spPr>
          <a:xfrm>
            <a:off x="8412480" y="2926080"/>
            <a:ext cx="1005480" cy="1005480"/>
          </a:xfrm>
          <a:prstGeom prst="ellipse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Shape 5"/>
          <p:cNvSpPr/>
          <p:nvPr/>
        </p:nvSpPr>
        <p:spPr>
          <a:xfrm>
            <a:off x="8778240" y="3657600"/>
            <a:ext cx="731160" cy="731160"/>
          </a:xfrm>
          <a:prstGeom prst="ellipse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Shape 6"/>
          <p:cNvSpPr/>
          <p:nvPr/>
        </p:nvSpPr>
        <p:spPr>
          <a:xfrm>
            <a:off x="502920" y="1371600"/>
            <a:ext cx="54360" cy="2559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7"/>
          <p:cNvSpPr/>
          <p:nvPr/>
        </p:nvSpPr>
        <p:spPr>
          <a:xfrm>
            <a:off x="640080" y="128016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199" strike="noStrike">
                <a:solidFill>
                  <a:srgbClr val="0ea5e9"/>
                </a:solidFill>
                <a:latin typeface="Calibri"/>
                <a:ea typeface="Calibri"/>
              </a:rPr>
              <a:t>Department of Computer Science and Technology  ·  IIEST Shibpur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640080" y="1645920"/>
            <a:ext cx="74977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Biological Sequence</a:t>
            </a:r>
            <a:endParaRPr b="0" lang="en-IN" sz="4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Motif Discovery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53" name="Text 9"/>
          <p:cNvSpPr/>
          <p:nvPr/>
        </p:nvSpPr>
        <p:spPr>
          <a:xfrm>
            <a:off x="640080" y="3337560"/>
            <a:ext cx="7497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cbd5e1"/>
                </a:solidFill>
                <a:latin typeface="Calibri"/>
                <a:ea typeface="Calibri"/>
              </a:rPr>
              <a:t>B.Tech Major Project — Algorithms, Real Data &amp; Results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640080" y="39319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Presented by: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Ramesh Chandra Soren (2022CSB086) 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                        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Souvik Majee(2022CSB028)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640080" y="42519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Supervisor: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Dr. Surajeet Ghosh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640080" y="457200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17 March 2026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457200" y="2743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e293b"/>
                </a:solidFill>
                <a:latin typeface="Calibri"/>
                <a:ea typeface="Calibri"/>
              </a:rPr>
              <a:t>What are Biological Motifs?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58" name="Shape 1"/>
          <p:cNvSpPr/>
          <p:nvPr/>
        </p:nvSpPr>
        <p:spPr>
          <a:xfrm>
            <a:off x="457200" y="1005840"/>
            <a:ext cx="5303160" cy="10054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9" name="Text 2"/>
          <p:cNvSpPr/>
          <p:nvPr/>
        </p:nvSpPr>
        <p:spPr>
          <a:xfrm>
            <a:off x="594360" y="1069920"/>
            <a:ext cx="5028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Recurring short patterns in DNA, RNA, or protein sequences that are statistically significant and biologically functional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457200" y="2148840"/>
            <a:ext cx="1919880" cy="1462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1" name="Shape 4"/>
          <p:cNvSpPr/>
          <p:nvPr/>
        </p:nvSpPr>
        <p:spPr>
          <a:xfrm>
            <a:off x="457200" y="2148840"/>
            <a:ext cx="1919880" cy="72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5"/>
          <p:cNvSpPr/>
          <p:nvPr/>
        </p:nvSpPr>
        <p:spPr>
          <a:xfrm>
            <a:off x="502920" y="2212920"/>
            <a:ext cx="1828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🧬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502920" y="26334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Short length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502920" y="2907720"/>
            <a:ext cx="1828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6–20 nucleotides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or amino acids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5" name="Shape 8"/>
          <p:cNvSpPr/>
          <p:nvPr/>
        </p:nvSpPr>
        <p:spPr>
          <a:xfrm>
            <a:off x="2541960" y="2148840"/>
            <a:ext cx="1919880" cy="1462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6" name="Shape 9"/>
          <p:cNvSpPr/>
          <p:nvPr/>
        </p:nvSpPr>
        <p:spPr>
          <a:xfrm>
            <a:off x="2541960" y="2148840"/>
            <a:ext cx="1919880" cy="72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10"/>
          <p:cNvSpPr/>
          <p:nvPr/>
        </p:nvSpPr>
        <p:spPr>
          <a:xfrm>
            <a:off x="2587680" y="2212920"/>
            <a:ext cx="1828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⚙️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2587680" y="26334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Functional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2587680" y="2907720"/>
            <a:ext cx="1828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Regulatory elements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&amp; binding sites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0" name="Shape 13"/>
          <p:cNvSpPr/>
          <p:nvPr/>
        </p:nvSpPr>
        <p:spPr>
          <a:xfrm>
            <a:off x="4626720" y="2148840"/>
            <a:ext cx="1919880" cy="1462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1" name="Shape 14"/>
          <p:cNvSpPr/>
          <p:nvPr/>
        </p:nvSpPr>
        <p:spPr>
          <a:xfrm>
            <a:off x="4626720" y="2148840"/>
            <a:ext cx="1919880" cy="72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15"/>
          <p:cNvSpPr/>
          <p:nvPr/>
        </p:nvSpPr>
        <p:spPr>
          <a:xfrm>
            <a:off x="4672440" y="2212920"/>
            <a:ext cx="1828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🌍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4672440" y="26334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Conserved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4672440" y="2907720"/>
            <a:ext cx="1828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Preserved across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species by evolution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5" name="Shape 18"/>
          <p:cNvSpPr/>
          <p:nvPr/>
        </p:nvSpPr>
        <p:spPr>
          <a:xfrm>
            <a:off x="6711840" y="2148840"/>
            <a:ext cx="1919880" cy="1462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6" name="Shape 19"/>
          <p:cNvSpPr/>
          <p:nvPr/>
        </p:nvSpPr>
        <p:spPr>
          <a:xfrm>
            <a:off x="6711840" y="2148840"/>
            <a:ext cx="1919880" cy="72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20"/>
          <p:cNvSpPr/>
          <p:nvPr/>
        </p:nvSpPr>
        <p:spPr>
          <a:xfrm>
            <a:off x="6757560" y="2212920"/>
            <a:ext cx="1828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🔀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78" name="Text 21"/>
          <p:cNvSpPr/>
          <p:nvPr/>
        </p:nvSpPr>
        <p:spPr>
          <a:xfrm>
            <a:off x="6757560" y="26334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Variable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9" name="Text 22"/>
          <p:cNvSpPr/>
          <p:nvPr/>
        </p:nvSpPr>
        <p:spPr>
          <a:xfrm>
            <a:off x="6757560" y="2907720"/>
            <a:ext cx="1828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Flexible positions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with mismatches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0" name="Shape 23"/>
          <p:cNvSpPr/>
          <p:nvPr/>
        </p:nvSpPr>
        <p:spPr>
          <a:xfrm>
            <a:off x="457200" y="3794760"/>
            <a:ext cx="5303160" cy="731160"/>
          </a:xfrm>
          <a:prstGeom prst="rect">
            <a:avLst/>
          </a:prstGeom>
          <a:solidFill>
            <a:srgbClr val="fff7ed"/>
          </a:solidFill>
          <a:ln w="19050">
            <a:solidFill>
              <a:srgbClr val="f59e0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1" name="Text 24"/>
          <p:cNvSpPr/>
          <p:nvPr/>
        </p:nvSpPr>
        <p:spPr>
          <a:xfrm>
            <a:off x="594360" y="3858840"/>
            <a:ext cx="5028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Example — TATA box: </a:t>
            </a:r>
            <a:r>
              <a:rPr b="1" lang="en-US" sz="1100" spc="-1" strike="noStrike">
                <a:solidFill>
                  <a:srgbClr val="1e293b"/>
                </a:solidFill>
                <a:latin typeface="Consolas"/>
                <a:ea typeface="Consolas"/>
              </a:rPr>
              <a:t>TATA[AT]A[AT]</a:t>
            </a: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  →  initiates transcription in eukaryotes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457200" y="27432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e293b"/>
                </a:solidFill>
                <a:latin typeface="Calibri"/>
                <a:ea typeface="Calibri"/>
              </a:rPr>
              <a:t>Types of Biological Motifs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83" name="Shape 1"/>
          <p:cNvSpPr/>
          <p:nvPr/>
        </p:nvSpPr>
        <p:spPr>
          <a:xfrm>
            <a:off x="457200" y="1005840"/>
            <a:ext cx="2651400" cy="352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00000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4" name="Shape 2"/>
          <p:cNvSpPr/>
          <p:nvPr/>
        </p:nvSpPr>
        <p:spPr>
          <a:xfrm>
            <a:off x="457200" y="1005840"/>
            <a:ext cx="2651400" cy="411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3"/>
          <p:cNvSpPr/>
          <p:nvPr/>
        </p:nvSpPr>
        <p:spPr>
          <a:xfrm>
            <a:off x="548640" y="100584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DNA Motifs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6" name="Text 4"/>
          <p:cNvSpPr/>
          <p:nvPr/>
        </p:nvSpPr>
        <p:spPr>
          <a:xfrm>
            <a:off x="548640" y="1508760"/>
            <a:ext cx="246852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Transcription factor binding sites (TFBS)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Promoter elements (TATA box, CAAT box)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Enhancer sequences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Splice sites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7" name="Shape 5"/>
          <p:cNvSpPr/>
          <p:nvPr/>
        </p:nvSpPr>
        <p:spPr>
          <a:xfrm>
            <a:off x="3291840" y="1005840"/>
            <a:ext cx="2651400" cy="3520080"/>
          </a:xfrm>
          <a:prstGeom prst="rect">
            <a:avLst/>
          </a:prstGeom>
          <a:solidFill>
            <a:srgbClr val="f5f3ff"/>
          </a:solidFill>
          <a:ln w="12700">
            <a:solidFill>
              <a:srgbClr val="00000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8" name="Shape 6"/>
          <p:cNvSpPr/>
          <p:nvPr/>
        </p:nvSpPr>
        <p:spPr>
          <a:xfrm>
            <a:off x="3291840" y="1005840"/>
            <a:ext cx="2651400" cy="411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7"/>
          <p:cNvSpPr/>
          <p:nvPr/>
        </p:nvSpPr>
        <p:spPr>
          <a:xfrm>
            <a:off x="3383280" y="100584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Protein Motifs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0" name="Text 8"/>
          <p:cNvSpPr/>
          <p:nvPr/>
        </p:nvSpPr>
        <p:spPr>
          <a:xfrm>
            <a:off x="3383280" y="1508760"/>
            <a:ext cx="246852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Zinc finger domains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Leucine zippers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Signal peptides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Active site residues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1" name="Shape 9"/>
          <p:cNvSpPr/>
          <p:nvPr/>
        </p:nvSpPr>
        <p:spPr>
          <a:xfrm>
            <a:off x="6126480" y="1005840"/>
            <a:ext cx="2651400" cy="3520080"/>
          </a:xfrm>
          <a:prstGeom prst="rect">
            <a:avLst/>
          </a:prstGeom>
          <a:solidFill>
            <a:srgbClr val="ecfdf5"/>
          </a:solidFill>
          <a:ln w="12700">
            <a:solidFill>
              <a:srgbClr val="00000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2" name="Shape 10"/>
          <p:cNvSpPr/>
          <p:nvPr/>
        </p:nvSpPr>
        <p:spPr>
          <a:xfrm>
            <a:off x="6126480" y="1005840"/>
            <a:ext cx="2651400" cy="4111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 11"/>
          <p:cNvSpPr/>
          <p:nvPr/>
        </p:nvSpPr>
        <p:spPr>
          <a:xfrm>
            <a:off x="6217920" y="100584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RNA Motifs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4" name="Text 12"/>
          <p:cNvSpPr/>
          <p:nvPr/>
        </p:nvSpPr>
        <p:spPr>
          <a:xfrm>
            <a:off x="6217920" y="1508760"/>
            <a:ext cx="246852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Ribosome binding sites (Shine-Dalgarno)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RNA secondary structure motifs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miRNA binding sites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Splicing signals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The Motif Discovery Problem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96" name="Shape 1"/>
          <p:cNvSpPr/>
          <p:nvPr/>
        </p:nvSpPr>
        <p:spPr>
          <a:xfrm>
            <a:off x="457200" y="960120"/>
            <a:ext cx="8229240" cy="639720"/>
          </a:xfrm>
          <a:prstGeom prst="rect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2"/>
          <p:cNvSpPr/>
          <p:nvPr/>
        </p:nvSpPr>
        <p:spPr>
          <a:xfrm>
            <a:off x="594360" y="1005840"/>
            <a:ext cx="79549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Given a set of biological sequences — find recurring patterns that are statistically significant, biologically meaningful, and present with variations.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8" name="Shape 3"/>
          <p:cNvSpPr/>
          <p:nvPr/>
        </p:nvSpPr>
        <p:spPr>
          <a:xfrm>
            <a:off x="457200" y="1783080"/>
            <a:ext cx="3931560" cy="28800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9" name="Text 4"/>
          <p:cNvSpPr/>
          <p:nvPr/>
        </p:nvSpPr>
        <p:spPr>
          <a:xfrm>
            <a:off x="594360" y="187452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59e0b"/>
                </a:solidFill>
                <a:latin typeface="Calibri"/>
                <a:ea typeface="Calibri"/>
              </a:rPr>
              <a:t>Biological Challenges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594360" y="2267640"/>
            <a:ext cx="36572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cbd5e1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Unknown motif length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cbd5e1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Variable positions in sequences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cbd5e1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Multiple motifs per sequence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cbd5e1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Weak or noisy signals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1" name="Shape 6"/>
          <p:cNvSpPr/>
          <p:nvPr/>
        </p:nvSpPr>
        <p:spPr>
          <a:xfrm>
            <a:off x="4663440" y="1783080"/>
            <a:ext cx="3931560" cy="28800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2" name="Text 7"/>
          <p:cNvSpPr/>
          <p:nvPr/>
        </p:nvSpPr>
        <p:spPr>
          <a:xfrm>
            <a:off x="4800600" y="187452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87171"/>
                </a:solidFill>
                <a:latin typeface="Calibri"/>
                <a:ea typeface="Calibri"/>
              </a:rPr>
              <a:t>Computational Challenges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4800600" y="2267640"/>
            <a:ext cx="36572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cbd5e1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Exponentially large search space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cbd5e1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NP-hard combinatorial problem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cbd5e1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High false positive rates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cbd5e1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Scalability to genome scale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e293b"/>
                </a:solidFill>
                <a:latin typeface="Calibri"/>
                <a:ea typeface="Calibri"/>
              </a:rPr>
              <a:t>Motif Representation Methods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105" name="Shape 1"/>
          <p:cNvSpPr/>
          <p:nvPr/>
        </p:nvSpPr>
        <p:spPr>
          <a:xfrm>
            <a:off x="457200" y="960120"/>
            <a:ext cx="822924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6" name="Shape 2"/>
          <p:cNvSpPr/>
          <p:nvPr/>
        </p:nvSpPr>
        <p:spPr>
          <a:xfrm>
            <a:off x="567000" y="1234440"/>
            <a:ext cx="529920" cy="529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3"/>
          <p:cNvSpPr/>
          <p:nvPr/>
        </p:nvSpPr>
        <p:spPr>
          <a:xfrm>
            <a:off x="567000" y="1234440"/>
            <a:ext cx="5299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1234440" y="105156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Consensus Sequence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1234440" y="1398960"/>
            <a:ext cx="4297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Most frequent nucleotide at each position. Simple but loses information about variability.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0" name="Shape 6"/>
          <p:cNvSpPr/>
          <p:nvPr/>
        </p:nvSpPr>
        <p:spPr>
          <a:xfrm>
            <a:off x="5852160" y="1161360"/>
            <a:ext cx="2605680" cy="868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7"/>
          <p:cNvSpPr/>
          <p:nvPr/>
        </p:nvSpPr>
        <p:spPr>
          <a:xfrm>
            <a:off x="5943600" y="1216080"/>
            <a:ext cx="242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ea5e9"/>
                </a:solidFill>
                <a:latin typeface="Consolas"/>
                <a:ea typeface="Consolas"/>
              </a:rPr>
              <a:t>T  A  T  A  A  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2" name="Text 8"/>
          <p:cNvSpPr/>
          <p:nvPr/>
        </p:nvSpPr>
        <p:spPr>
          <a:xfrm>
            <a:off x="5943600" y="161856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← </a:t>
            </a: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TATA box consensus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13" name="Shape 9"/>
          <p:cNvSpPr/>
          <p:nvPr/>
        </p:nvSpPr>
        <p:spPr>
          <a:xfrm>
            <a:off x="457200" y="2350080"/>
            <a:ext cx="822924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4" name="Shape 10"/>
          <p:cNvSpPr/>
          <p:nvPr/>
        </p:nvSpPr>
        <p:spPr>
          <a:xfrm>
            <a:off x="567000" y="2624400"/>
            <a:ext cx="529920" cy="529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11"/>
          <p:cNvSpPr/>
          <p:nvPr/>
        </p:nvSpPr>
        <p:spPr>
          <a:xfrm>
            <a:off x="567000" y="2624400"/>
            <a:ext cx="5299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6" name="Text 12"/>
          <p:cNvSpPr/>
          <p:nvPr/>
        </p:nvSpPr>
        <p:spPr>
          <a:xfrm>
            <a:off x="1234440" y="244152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Position Weight Matrix (PWM)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7" name="Text 13"/>
          <p:cNvSpPr/>
          <p:nvPr/>
        </p:nvSpPr>
        <p:spPr>
          <a:xfrm>
            <a:off x="1234440" y="2788920"/>
            <a:ext cx="4297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Log-odds frequency of each nucleotide at each position vs. background. Standard tool in bioinformatics.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8" name="Shape 14"/>
          <p:cNvSpPr/>
          <p:nvPr/>
        </p:nvSpPr>
        <p:spPr>
          <a:xfrm>
            <a:off x="5852160" y="2551320"/>
            <a:ext cx="2605680" cy="868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15"/>
          <p:cNvSpPr/>
          <p:nvPr/>
        </p:nvSpPr>
        <p:spPr>
          <a:xfrm>
            <a:off x="5943600" y="2606040"/>
            <a:ext cx="242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ea5e9"/>
                </a:solidFill>
                <a:latin typeface="Consolas"/>
                <a:ea typeface="Consolas"/>
              </a:rPr>
              <a:t>log₂(f_i,j  /  b_j)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0" name="Text 16"/>
          <p:cNvSpPr/>
          <p:nvPr/>
        </p:nvSpPr>
        <p:spPr>
          <a:xfrm>
            <a:off x="5943600" y="300852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← </a:t>
            </a: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Scoring formula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21" name="Shape 17"/>
          <p:cNvSpPr/>
          <p:nvPr/>
        </p:nvSpPr>
        <p:spPr>
          <a:xfrm>
            <a:off x="457200" y="3740040"/>
            <a:ext cx="822924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2" name="Shape 18"/>
          <p:cNvSpPr/>
          <p:nvPr/>
        </p:nvSpPr>
        <p:spPr>
          <a:xfrm>
            <a:off x="567000" y="4014360"/>
            <a:ext cx="529920" cy="529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19"/>
          <p:cNvSpPr/>
          <p:nvPr/>
        </p:nvSpPr>
        <p:spPr>
          <a:xfrm>
            <a:off x="567000" y="4014360"/>
            <a:ext cx="5299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4" name="Text 20"/>
          <p:cNvSpPr/>
          <p:nvPr/>
        </p:nvSpPr>
        <p:spPr>
          <a:xfrm>
            <a:off x="1234440" y="383148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Sequence Logo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5" name="Text 21"/>
          <p:cNvSpPr/>
          <p:nvPr/>
        </p:nvSpPr>
        <p:spPr>
          <a:xfrm>
            <a:off x="1234440" y="4178880"/>
            <a:ext cx="4297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Visual representation: letter height = information content (IC) in bits. Max 2 bits/position for DNA.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6" name="Shape 22"/>
          <p:cNvSpPr/>
          <p:nvPr/>
        </p:nvSpPr>
        <p:spPr>
          <a:xfrm>
            <a:off x="5852160" y="3940920"/>
            <a:ext cx="2605680" cy="868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23"/>
          <p:cNvSpPr/>
          <p:nvPr/>
        </p:nvSpPr>
        <p:spPr>
          <a:xfrm>
            <a:off x="5943600" y="3996000"/>
            <a:ext cx="242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ea5e9"/>
                </a:solidFill>
                <a:latin typeface="Consolas"/>
                <a:ea typeface="Consolas"/>
              </a:rPr>
              <a:t>IC = 2 + Σ f·log₂(f)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8" name="Text 24"/>
          <p:cNvSpPr/>
          <p:nvPr/>
        </p:nvSpPr>
        <p:spPr>
          <a:xfrm>
            <a:off x="5943600" y="439812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← </a:t>
            </a: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Shannon entropy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/>
          <p:nvPr/>
        </p:nvSpPr>
        <p:spPr>
          <a:xfrm>
            <a:off x="457200" y="255960"/>
            <a:ext cx="5943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e293b"/>
                </a:solidFill>
                <a:latin typeface="Calibri"/>
                <a:ea typeface="Calibri"/>
              </a:rPr>
              <a:t>MEME Algorithm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457200" y="8229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Multiple EM for Motif Elicitation — Bailey &amp; Elkan (1994)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1" name="Shape 2"/>
          <p:cNvSpPr/>
          <p:nvPr/>
        </p:nvSpPr>
        <p:spPr>
          <a:xfrm>
            <a:off x="841320" y="1234440"/>
            <a:ext cx="749520" cy="7495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 3"/>
          <p:cNvSpPr/>
          <p:nvPr/>
        </p:nvSpPr>
        <p:spPr>
          <a:xfrm>
            <a:off x="841320" y="1234440"/>
            <a:ext cx="7495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3" name="Shape 4"/>
          <p:cNvSpPr/>
          <p:nvPr/>
        </p:nvSpPr>
        <p:spPr>
          <a:xfrm>
            <a:off x="1600200" y="1572840"/>
            <a:ext cx="475200" cy="72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5"/>
          <p:cNvSpPr/>
          <p:nvPr/>
        </p:nvSpPr>
        <p:spPr>
          <a:xfrm>
            <a:off x="502920" y="2103120"/>
            <a:ext cx="1572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Initialise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502920" y="2404800"/>
            <a:ext cx="1572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Candidate seed k-mer from sequences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6" name="Shape 7"/>
          <p:cNvSpPr/>
          <p:nvPr/>
        </p:nvSpPr>
        <p:spPr>
          <a:xfrm>
            <a:off x="2523600" y="1234440"/>
            <a:ext cx="749520" cy="7495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8"/>
          <p:cNvSpPr/>
          <p:nvPr/>
        </p:nvSpPr>
        <p:spPr>
          <a:xfrm>
            <a:off x="2523600" y="1234440"/>
            <a:ext cx="7495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8" name="Shape 9"/>
          <p:cNvSpPr/>
          <p:nvPr/>
        </p:nvSpPr>
        <p:spPr>
          <a:xfrm>
            <a:off x="3282840" y="1572840"/>
            <a:ext cx="475200" cy="72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10"/>
          <p:cNvSpPr/>
          <p:nvPr/>
        </p:nvSpPr>
        <p:spPr>
          <a:xfrm>
            <a:off x="2185560" y="2103120"/>
            <a:ext cx="1572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E-Step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0" name="Text 11"/>
          <p:cNvSpPr/>
          <p:nvPr/>
        </p:nvSpPr>
        <p:spPr>
          <a:xfrm>
            <a:off x="2185560" y="2404800"/>
            <a:ext cx="1572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Estimate P(motif at position i)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1" name="Shape 12"/>
          <p:cNvSpPr/>
          <p:nvPr/>
        </p:nvSpPr>
        <p:spPr>
          <a:xfrm>
            <a:off x="4206240" y="1234440"/>
            <a:ext cx="749520" cy="7495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13"/>
          <p:cNvSpPr/>
          <p:nvPr/>
        </p:nvSpPr>
        <p:spPr>
          <a:xfrm>
            <a:off x="4206240" y="1234440"/>
            <a:ext cx="7495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3" name="Shape 14"/>
          <p:cNvSpPr/>
          <p:nvPr/>
        </p:nvSpPr>
        <p:spPr>
          <a:xfrm>
            <a:off x="4965120" y="1572840"/>
            <a:ext cx="475200" cy="72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15"/>
          <p:cNvSpPr/>
          <p:nvPr/>
        </p:nvSpPr>
        <p:spPr>
          <a:xfrm>
            <a:off x="3867840" y="2103120"/>
            <a:ext cx="1572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M-Step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5" name="Text 16"/>
          <p:cNvSpPr/>
          <p:nvPr/>
        </p:nvSpPr>
        <p:spPr>
          <a:xfrm>
            <a:off x="3867840" y="2404800"/>
            <a:ext cx="1572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Update PWM via weighted counts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6" name="Shape 17"/>
          <p:cNvSpPr/>
          <p:nvPr/>
        </p:nvSpPr>
        <p:spPr>
          <a:xfrm>
            <a:off x="5888880" y="1234440"/>
            <a:ext cx="749520" cy="7495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8"/>
          <p:cNvSpPr/>
          <p:nvPr/>
        </p:nvSpPr>
        <p:spPr>
          <a:xfrm>
            <a:off x="5888880" y="1234440"/>
            <a:ext cx="7495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8" name="Shape 19"/>
          <p:cNvSpPr/>
          <p:nvPr/>
        </p:nvSpPr>
        <p:spPr>
          <a:xfrm>
            <a:off x="6647760" y="1572840"/>
            <a:ext cx="475200" cy="72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20"/>
          <p:cNvSpPr/>
          <p:nvPr/>
        </p:nvSpPr>
        <p:spPr>
          <a:xfrm>
            <a:off x="5550480" y="2103120"/>
            <a:ext cx="1572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Iterate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0" name="Text 21"/>
          <p:cNvSpPr/>
          <p:nvPr/>
        </p:nvSpPr>
        <p:spPr>
          <a:xfrm>
            <a:off x="5550480" y="2404800"/>
            <a:ext cx="1572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Repeat E↔M until convergence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1" name="Shape 22"/>
          <p:cNvSpPr/>
          <p:nvPr/>
        </p:nvSpPr>
        <p:spPr>
          <a:xfrm>
            <a:off x="7571160" y="1234440"/>
            <a:ext cx="749520" cy="7495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23"/>
          <p:cNvSpPr/>
          <p:nvPr/>
        </p:nvSpPr>
        <p:spPr>
          <a:xfrm>
            <a:off x="7571160" y="1234440"/>
            <a:ext cx="7495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3" name="Text 24"/>
          <p:cNvSpPr/>
          <p:nvPr/>
        </p:nvSpPr>
        <p:spPr>
          <a:xfrm>
            <a:off x="7232760" y="2103120"/>
            <a:ext cx="1572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Erase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4" name="Text 25"/>
          <p:cNvSpPr/>
          <p:nvPr/>
        </p:nvSpPr>
        <p:spPr>
          <a:xfrm>
            <a:off x="7232760" y="2404800"/>
            <a:ext cx="1572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Mask found sites; repeat for next motif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5" name="Shape 26"/>
          <p:cNvSpPr/>
          <p:nvPr/>
        </p:nvSpPr>
        <p:spPr>
          <a:xfrm>
            <a:off x="457200" y="3246120"/>
            <a:ext cx="2605680" cy="1325520"/>
          </a:xfrm>
          <a:prstGeom prst="rect">
            <a:avLst/>
          </a:prstGeom>
          <a:solidFill>
            <a:srgbClr val="f0fdf4"/>
          </a:solidFill>
          <a:ln w="12700">
            <a:solidFill>
              <a:srgbClr val="00000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6" name="Shape 27"/>
          <p:cNvSpPr/>
          <p:nvPr/>
        </p:nvSpPr>
        <p:spPr>
          <a:xfrm>
            <a:off x="457200" y="3246120"/>
            <a:ext cx="63720" cy="1325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28"/>
          <p:cNvSpPr/>
          <p:nvPr/>
        </p:nvSpPr>
        <p:spPr>
          <a:xfrm>
            <a:off x="621720" y="333756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5803d"/>
                </a:solidFill>
                <a:latin typeface="Calibri"/>
                <a:ea typeface="Calibri"/>
              </a:rPr>
              <a:t>✓  </a:t>
            </a:r>
            <a:r>
              <a:rPr b="1" lang="en-US" sz="1100" spc="-1" strike="noStrike">
                <a:solidFill>
                  <a:srgbClr val="15803d"/>
                </a:solidFill>
                <a:latin typeface="Calibri"/>
                <a:ea typeface="Calibri"/>
              </a:rPr>
              <a:t>Finds multiple motifs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8" name="Text 29"/>
          <p:cNvSpPr/>
          <p:nvPr/>
        </p:nvSpPr>
        <p:spPr>
          <a:xfrm>
            <a:off x="621720" y="3657600"/>
            <a:ext cx="2331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Single run with erasing strategy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9" name="Shape 30"/>
          <p:cNvSpPr/>
          <p:nvPr/>
        </p:nvSpPr>
        <p:spPr>
          <a:xfrm>
            <a:off x="3246120" y="3246120"/>
            <a:ext cx="2605680" cy="1325520"/>
          </a:xfrm>
          <a:prstGeom prst="rect">
            <a:avLst/>
          </a:prstGeom>
          <a:solidFill>
            <a:srgbClr val="f0fdf4"/>
          </a:solidFill>
          <a:ln w="12700">
            <a:solidFill>
              <a:srgbClr val="00000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0" name="Shape 31"/>
          <p:cNvSpPr/>
          <p:nvPr/>
        </p:nvSpPr>
        <p:spPr>
          <a:xfrm>
            <a:off x="3246120" y="3246120"/>
            <a:ext cx="63720" cy="1325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32"/>
          <p:cNvSpPr/>
          <p:nvPr/>
        </p:nvSpPr>
        <p:spPr>
          <a:xfrm>
            <a:off x="3410640" y="333756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5803d"/>
                </a:solidFill>
                <a:latin typeface="Calibri"/>
                <a:ea typeface="Calibri"/>
              </a:rPr>
              <a:t>✓  </a:t>
            </a:r>
            <a:r>
              <a:rPr b="1" lang="en-US" sz="1100" spc="-1" strike="noStrike">
                <a:solidFill>
                  <a:srgbClr val="15803d"/>
                </a:solidFill>
                <a:latin typeface="Calibri"/>
                <a:ea typeface="Calibri"/>
              </a:rPr>
              <a:t>OOPS / ZOOPS models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2" name="Text 33"/>
          <p:cNvSpPr/>
          <p:nvPr/>
        </p:nvSpPr>
        <p:spPr>
          <a:xfrm>
            <a:off x="3410640" y="3657600"/>
            <a:ext cx="2331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Handles variable motif occurrence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3" name="Shape 34"/>
          <p:cNvSpPr/>
          <p:nvPr/>
        </p:nvSpPr>
        <p:spPr>
          <a:xfrm>
            <a:off x="6035040" y="3246120"/>
            <a:ext cx="2605680" cy="1325520"/>
          </a:xfrm>
          <a:prstGeom prst="rect">
            <a:avLst/>
          </a:prstGeom>
          <a:solidFill>
            <a:srgbClr val="f0fdf4"/>
          </a:solidFill>
          <a:ln w="12700">
            <a:solidFill>
              <a:srgbClr val="00000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4" name="Shape 35"/>
          <p:cNvSpPr/>
          <p:nvPr/>
        </p:nvSpPr>
        <p:spPr>
          <a:xfrm>
            <a:off x="6035040" y="3246120"/>
            <a:ext cx="63720" cy="1325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 36"/>
          <p:cNvSpPr/>
          <p:nvPr/>
        </p:nvSpPr>
        <p:spPr>
          <a:xfrm>
            <a:off x="6199560" y="333756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5803d"/>
                </a:solidFill>
                <a:latin typeface="Calibri"/>
                <a:ea typeface="Calibri"/>
              </a:rPr>
              <a:t>✓  </a:t>
            </a:r>
            <a:r>
              <a:rPr b="1" lang="en-US" sz="1100" spc="-1" strike="noStrike">
                <a:solidFill>
                  <a:srgbClr val="15803d"/>
                </a:solidFill>
                <a:latin typeface="Calibri"/>
                <a:ea typeface="Calibri"/>
              </a:rPr>
              <a:t>E-value scoring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6" name="Text 37"/>
          <p:cNvSpPr/>
          <p:nvPr/>
        </p:nvSpPr>
        <p:spPr>
          <a:xfrm>
            <a:off x="6199560" y="3657600"/>
            <a:ext cx="2331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Statistical significance quantified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e293b"/>
                </a:solidFill>
                <a:latin typeface="Calibri"/>
                <a:ea typeface="Calibri"/>
              </a:rPr>
              <a:t>Gibbs Sampling Algorithm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168" name="Text 1"/>
          <p:cNvSpPr/>
          <p:nvPr/>
        </p:nvSpPr>
        <p:spPr>
          <a:xfrm>
            <a:off x="457200" y="8229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Stochastic Bayesian approach — Lawrence et al. (1993)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9" name="Shape 2"/>
          <p:cNvSpPr/>
          <p:nvPr/>
        </p:nvSpPr>
        <p:spPr>
          <a:xfrm>
            <a:off x="457200" y="1298520"/>
            <a:ext cx="639720" cy="6397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3"/>
          <p:cNvSpPr/>
          <p:nvPr/>
        </p:nvSpPr>
        <p:spPr>
          <a:xfrm>
            <a:off x="457200" y="12985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1" name="Text 4"/>
          <p:cNvSpPr/>
          <p:nvPr/>
        </p:nvSpPr>
        <p:spPr>
          <a:xfrm>
            <a:off x="1234440" y="1188720"/>
            <a:ext cx="2194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Random Init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2" name="Text 5"/>
          <p:cNvSpPr/>
          <p:nvPr/>
        </p:nvSpPr>
        <p:spPr>
          <a:xfrm>
            <a:off x="1234440" y="153612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Randomly assign one start position per sequence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3" name="Shape 6"/>
          <p:cNvSpPr/>
          <p:nvPr/>
        </p:nvSpPr>
        <p:spPr>
          <a:xfrm>
            <a:off x="457200" y="2185560"/>
            <a:ext cx="639720" cy="6397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7"/>
          <p:cNvSpPr/>
          <p:nvPr/>
        </p:nvSpPr>
        <p:spPr>
          <a:xfrm>
            <a:off x="457200" y="218556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5" name="Text 8"/>
          <p:cNvSpPr/>
          <p:nvPr/>
        </p:nvSpPr>
        <p:spPr>
          <a:xfrm>
            <a:off x="1234440" y="2075760"/>
            <a:ext cx="2194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Leave-One-Out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6" name="Text 9"/>
          <p:cNvSpPr/>
          <p:nvPr/>
        </p:nvSpPr>
        <p:spPr>
          <a:xfrm>
            <a:off x="1234440" y="242316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Remove sequence i; build PWM from all others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7" name="Shape 10"/>
          <p:cNvSpPr/>
          <p:nvPr/>
        </p:nvSpPr>
        <p:spPr>
          <a:xfrm>
            <a:off x="457200" y="3072240"/>
            <a:ext cx="639720" cy="6397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11"/>
          <p:cNvSpPr/>
          <p:nvPr/>
        </p:nvSpPr>
        <p:spPr>
          <a:xfrm>
            <a:off x="457200" y="307224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9" name="Text 12"/>
          <p:cNvSpPr/>
          <p:nvPr/>
        </p:nvSpPr>
        <p:spPr>
          <a:xfrm>
            <a:off x="1234440" y="2962800"/>
            <a:ext cx="2194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Sample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0" name="Text 13"/>
          <p:cNvSpPr/>
          <p:nvPr/>
        </p:nvSpPr>
        <p:spPr>
          <a:xfrm>
            <a:off x="1234440" y="331020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Score all windows in held-out sequence; sample new position from probabilities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1" name="Shape 14"/>
          <p:cNvSpPr/>
          <p:nvPr/>
        </p:nvSpPr>
        <p:spPr>
          <a:xfrm>
            <a:off x="457200" y="3959280"/>
            <a:ext cx="639720" cy="6397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15"/>
          <p:cNvSpPr/>
          <p:nvPr/>
        </p:nvSpPr>
        <p:spPr>
          <a:xfrm>
            <a:off x="457200" y="395928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83" name="Text 16"/>
          <p:cNvSpPr/>
          <p:nvPr/>
        </p:nvSpPr>
        <p:spPr>
          <a:xfrm>
            <a:off x="1234440" y="3849480"/>
            <a:ext cx="2194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Iterate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4" name="Text 17"/>
          <p:cNvSpPr/>
          <p:nvPr/>
        </p:nvSpPr>
        <p:spPr>
          <a:xfrm>
            <a:off x="1234440" y="419724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Repeat across all sequences; track best alignment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5" name="Shape 18"/>
          <p:cNvSpPr/>
          <p:nvPr/>
        </p:nvSpPr>
        <p:spPr>
          <a:xfrm>
            <a:off x="5760720" y="1188720"/>
            <a:ext cx="2880000" cy="1691280"/>
          </a:xfrm>
          <a:prstGeom prst="rect">
            <a:avLst/>
          </a:prstGeom>
          <a:solidFill>
            <a:srgbClr val="f0fdf4"/>
          </a:solidFill>
          <a:ln w="12700">
            <a:solidFill>
              <a:srgbClr val="00000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6" name="Text 19"/>
          <p:cNvSpPr/>
          <p:nvPr/>
        </p:nvSpPr>
        <p:spPr>
          <a:xfrm>
            <a:off x="5897880" y="128016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2c55e"/>
                </a:solidFill>
                <a:latin typeface="Calibri"/>
                <a:ea typeface="Calibri"/>
              </a:rPr>
              <a:t>Advantages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7" name="Text 20"/>
          <p:cNvSpPr/>
          <p:nvPr/>
        </p:nvSpPr>
        <p:spPr>
          <a:xfrm>
            <a:off x="5897880" y="1600200"/>
            <a:ext cx="26056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Fast on large sequences</a:t>
            </a:r>
            <a:endParaRPr b="0" lang="en-IN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Escapes local optima via sampling</a:t>
            </a:r>
            <a:endParaRPr b="0" lang="en-IN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Multi-start overcomes sensitivity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8" name="Shape 21"/>
          <p:cNvSpPr/>
          <p:nvPr/>
        </p:nvSpPr>
        <p:spPr>
          <a:xfrm>
            <a:off x="5760720" y="3108960"/>
            <a:ext cx="2880000" cy="1691280"/>
          </a:xfrm>
          <a:prstGeom prst="rect">
            <a:avLst/>
          </a:prstGeom>
          <a:solidFill>
            <a:srgbClr val="fff1f2"/>
          </a:solidFill>
          <a:ln w="12700">
            <a:solidFill>
              <a:srgbClr val="00000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9" name="Text 22"/>
          <p:cNvSpPr/>
          <p:nvPr/>
        </p:nvSpPr>
        <p:spPr>
          <a:xfrm>
            <a:off x="5897880" y="320040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87171"/>
                </a:solidFill>
                <a:latin typeface="Calibri"/>
                <a:ea typeface="Calibri"/>
              </a:rPr>
              <a:t>Limitations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0" name="Text 23"/>
          <p:cNvSpPr/>
          <p:nvPr/>
        </p:nvSpPr>
        <p:spPr>
          <a:xfrm>
            <a:off x="5897880" y="3520440"/>
            <a:ext cx="26056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Sensitive to initialisation</a:t>
            </a:r>
            <a:endParaRPr b="0" lang="en-IN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No guaranteed convergence</a:t>
            </a:r>
            <a:endParaRPr b="0" lang="en-IN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Stochastic — needs multiple runs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Real Data — JASPAR CORE Database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192" name="Text 1"/>
          <p:cNvSpPr/>
          <p:nvPr/>
        </p:nvSpPr>
        <p:spPr>
          <a:xfrm>
            <a:off x="457200" y="8229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22 real PFMs fetched live from jaspar.elixir.no REST API — backed by peer-reviewed publications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3" name="Shape 2"/>
          <p:cNvSpPr/>
          <p:nvPr/>
        </p:nvSpPr>
        <p:spPr>
          <a:xfrm>
            <a:off x="457200" y="1207080"/>
            <a:ext cx="1919880" cy="10512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4" name="Text 3"/>
          <p:cNvSpPr/>
          <p:nvPr/>
        </p:nvSpPr>
        <p:spPr>
          <a:xfrm>
            <a:off x="457200" y="1261800"/>
            <a:ext cx="1919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ea5e9"/>
                </a:solidFill>
                <a:latin typeface="Calibri"/>
                <a:ea typeface="Calibri"/>
              </a:rPr>
              <a:t>22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195" name="Text 4"/>
          <p:cNvSpPr/>
          <p:nvPr/>
        </p:nvSpPr>
        <p:spPr>
          <a:xfrm>
            <a:off x="457200" y="1828800"/>
            <a:ext cx="1919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Real TF Matrices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6" name="Shape 5"/>
          <p:cNvSpPr/>
          <p:nvPr/>
        </p:nvSpPr>
        <p:spPr>
          <a:xfrm>
            <a:off x="2541960" y="1207080"/>
            <a:ext cx="1919880" cy="10512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7" name="Text 6"/>
          <p:cNvSpPr/>
          <p:nvPr/>
        </p:nvSpPr>
        <p:spPr>
          <a:xfrm>
            <a:off x="2541960" y="1261800"/>
            <a:ext cx="1919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ea5e9"/>
                </a:solidFill>
                <a:latin typeface="Calibri"/>
                <a:ea typeface="Calibri"/>
              </a:rPr>
              <a:t>4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198" name="Text 7"/>
          <p:cNvSpPr/>
          <p:nvPr/>
        </p:nvSpPr>
        <p:spPr>
          <a:xfrm>
            <a:off x="2541960" y="1828800"/>
            <a:ext cx="1919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Organisms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9" name="Shape 8"/>
          <p:cNvSpPr/>
          <p:nvPr/>
        </p:nvSpPr>
        <p:spPr>
          <a:xfrm>
            <a:off x="4626720" y="1207080"/>
            <a:ext cx="1919880" cy="10512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0" name="Text 9"/>
          <p:cNvSpPr/>
          <p:nvPr/>
        </p:nvSpPr>
        <p:spPr>
          <a:xfrm>
            <a:off x="4626720" y="1261800"/>
            <a:ext cx="1919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ea5e9"/>
                </a:solidFill>
                <a:latin typeface="Calibri"/>
                <a:ea typeface="Calibri"/>
              </a:rPr>
              <a:t>5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201" name="Text 10"/>
          <p:cNvSpPr/>
          <p:nvPr/>
        </p:nvSpPr>
        <p:spPr>
          <a:xfrm>
            <a:off x="4626720" y="1828800"/>
            <a:ext cx="1919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Experiment Types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2" name="Shape 11"/>
          <p:cNvSpPr/>
          <p:nvPr/>
        </p:nvSpPr>
        <p:spPr>
          <a:xfrm>
            <a:off x="6711840" y="1207080"/>
            <a:ext cx="1919880" cy="10512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3" name="Text 12"/>
          <p:cNvSpPr/>
          <p:nvPr/>
        </p:nvSpPr>
        <p:spPr>
          <a:xfrm>
            <a:off x="6711840" y="1261800"/>
            <a:ext cx="1919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ea5e9"/>
                </a:solidFill>
                <a:latin typeface="Calibri"/>
                <a:ea typeface="Calibri"/>
              </a:rPr>
              <a:t>660+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204" name="Text 13"/>
          <p:cNvSpPr/>
          <p:nvPr/>
        </p:nvSpPr>
        <p:spPr>
          <a:xfrm>
            <a:off x="6711840" y="1828800"/>
            <a:ext cx="1919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Sequences Generated</a:t>
            </a:r>
            <a:endParaRPr b="0" lang="en-IN" sz="1000" spc="-1" strike="noStrike">
              <a:latin typeface="Arial"/>
            </a:endParaRPr>
          </a:p>
        </p:txBody>
      </p:sp>
      <p:graphicFrame>
        <p:nvGraphicFramePr>
          <p:cNvPr id="205" name="Table 0"/>
          <p:cNvGraphicFramePr/>
          <p:nvPr/>
        </p:nvGraphicFramePr>
        <p:xfrm>
          <a:off x="457200" y="2395800"/>
          <a:ext cx="8229240" cy="248688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1280160"/>
                <a:gridCol w="1097280"/>
                <a:gridCol w="914400"/>
                <a:gridCol w="3108960"/>
              </a:tblGrid>
              <a:tr h="310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Matrix ID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TF Name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Organism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Experiment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PubMed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Consensus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1e3a5f"/>
                    </a:solidFill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MA0139.2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CTCF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Homo sapiens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ChIP-seq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21106759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CCAGGGGGCGC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MA0024.3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E2F1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Homo sapiens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HT-SELEX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9372931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TTTGGCGCCAAA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MA0899.1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HOXA10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Homo sapiens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HT-SELEX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18585359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GGTAATAAAAA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MA0265.1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ABF1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S. cerevisiae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PBM/DIP-chip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19111667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CTCTATTTCGTG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MA0001.1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AGL3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A. thaliana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SELEX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7632923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CCATATATAG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MA0930.3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ABF3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A. thaliana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ChIP-seq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11005831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GACACGTGT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12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MA1244.1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ABR1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A. thaliana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DAP-seq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9756931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GCCACGTGTG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334155"/>
                      </a:solidFill>
                    </a:lnL>
                    <a:lnR w="6480">
                      <a:solidFill>
                        <a:srgbClr val="334155"/>
                      </a:solidFill>
                    </a:lnR>
                    <a:lnT w="6480">
                      <a:solidFill>
                        <a:srgbClr val="334155"/>
                      </a:solidFill>
                    </a:lnT>
                    <a:lnB w="6480">
                      <a:solidFill>
                        <a:srgbClr val="33415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e293b"/>
                </a:solidFill>
                <a:latin typeface="Calibri"/>
                <a:ea typeface="Calibri"/>
              </a:rPr>
              <a:t>Key Result: Plant bZIP G-box Motif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207" name="Shape 1"/>
          <p:cNvSpPr/>
          <p:nvPr/>
        </p:nvSpPr>
        <p:spPr>
          <a:xfrm>
            <a:off x="457200" y="960120"/>
            <a:ext cx="8229240" cy="594000"/>
          </a:xfrm>
          <a:prstGeom prst="rect">
            <a:avLst/>
          </a:prstGeom>
          <a:solidFill>
            <a:srgbClr val="f0fdf4"/>
          </a:solidFill>
          <a:ln w="25400">
            <a:solidFill>
              <a:srgbClr val="22c55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8" name="Text 2"/>
          <p:cNvSpPr/>
          <p:nvPr/>
        </p:nvSpPr>
        <p:spPr>
          <a:xfrm>
            <a:off x="594360" y="100584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5803d"/>
                </a:solidFill>
                <a:latin typeface="Calibri"/>
                <a:ea typeface="Calibri"/>
              </a:rPr>
              <a:t>Both MEME and Gibbs Sampling independently recovered ACACGTGT — the canonical G-box / ACGT-core — from 180 real sequences (SELEX + PBM + ChIP-seq + DAP-seq). E-value = 1×10⁻³⁰⁰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209" name="Image 0" descr="preencoded.png"/>
          <p:cNvPicPr/>
          <p:nvPr/>
        </p:nvPicPr>
        <p:blipFill>
          <a:blip r:embed="rId1"/>
          <a:stretch/>
        </p:blipFill>
        <p:spPr>
          <a:xfrm>
            <a:off x="457200" y="1691640"/>
            <a:ext cx="5028840" cy="1508400"/>
          </a:xfrm>
          <a:prstGeom prst="rect">
            <a:avLst/>
          </a:prstGeom>
          <a:ln w="0">
            <a:noFill/>
          </a:ln>
        </p:spPr>
      </p:pic>
      <p:sp>
        <p:nvSpPr>
          <p:cNvPr id="210" name="Text 3"/>
          <p:cNvSpPr/>
          <p:nvPr/>
        </p:nvSpPr>
        <p:spPr>
          <a:xfrm>
            <a:off x="457200" y="3218760"/>
            <a:ext cx="5028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MEME Sequence Logo — Plant bZIP dataset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11" name="Shape 4"/>
          <p:cNvSpPr/>
          <p:nvPr/>
        </p:nvSpPr>
        <p:spPr>
          <a:xfrm>
            <a:off x="5669280" y="1691640"/>
            <a:ext cx="29714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2" name="Text 5"/>
          <p:cNvSpPr/>
          <p:nvPr/>
        </p:nvSpPr>
        <p:spPr>
          <a:xfrm>
            <a:off x="5760720" y="1728360"/>
            <a:ext cx="278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ea5e9"/>
                </a:solidFill>
                <a:latin typeface="Consolas"/>
                <a:ea typeface="Consolas"/>
              </a:rPr>
              <a:t>ACACGTGT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3" name="Text 6"/>
          <p:cNvSpPr/>
          <p:nvPr/>
        </p:nvSpPr>
        <p:spPr>
          <a:xfrm>
            <a:off x="5760720" y="2002680"/>
            <a:ext cx="278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Consensus (both)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14" name="Shape 7"/>
          <p:cNvSpPr/>
          <p:nvPr/>
        </p:nvSpPr>
        <p:spPr>
          <a:xfrm>
            <a:off x="5669280" y="2350080"/>
            <a:ext cx="29714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5" name="Text 8"/>
          <p:cNvSpPr/>
          <p:nvPr/>
        </p:nvSpPr>
        <p:spPr>
          <a:xfrm>
            <a:off x="5760720" y="2386440"/>
            <a:ext cx="278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ea5e9"/>
                </a:solidFill>
                <a:latin typeface="Consolas"/>
                <a:ea typeface="Consolas"/>
              </a:rPr>
              <a:t>8.85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6" name="Text 9"/>
          <p:cNvSpPr/>
          <p:nvPr/>
        </p:nvSpPr>
        <p:spPr>
          <a:xfrm>
            <a:off x="5760720" y="2660760"/>
            <a:ext cx="278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Gibbs IC (bits)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17" name="Shape 10"/>
          <p:cNvSpPr/>
          <p:nvPr/>
        </p:nvSpPr>
        <p:spPr>
          <a:xfrm>
            <a:off x="5669280" y="3008520"/>
            <a:ext cx="29714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8" name="Text 11"/>
          <p:cNvSpPr/>
          <p:nvPr/>
        </p:nvSpPr>
        <p:spPr>
          <a:xfrm>
            <a:off x="5760720" y="3044880"/>
            <a:ext cx="278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ea5e9"/>
                </a:solidFill>
                <a:latin typeface="Consolas"/>
                <a:ea typeface="Consolas"/>
              </a:rPr>
              <a:t>8.64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9" name="Text 12"/>
          <p:cNvSpPr/>
          <p:nvPr/>
        </p:nvSpPr>
        <p:spPr>
          <a:xfrm>
            <a:off x="5760720" y="3319200"/>
            <a:ext cx="278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MEME IC (bits)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20" name="Shape 13"/>
          <p:cNvSpPr/>
          <p:nvPr/>
        </p:nvSpPr>
        <p:spPr>
          <a:xfrm>
            <a:off x="5669280" y="3666600"/>
            <a:ext cx="29714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1" name="Text 14"/>
          <p:cNvSpPr/>
          <p:nvPr/>
        </p:nvSpPr>
        <p:spPr>
          <a:xfrm>
            <a:off x="5760720" y="3703320"/>
            <a:ext cx="278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ea5e9"/>
                </a:solidFill>
                <a:latin typeface="Consolas"/>
                <a:ea typeface="Consolas"/>
              </a:rPr>
              <a:t>1×10⁻³⁰⁰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2" name="Text 15"/>
          <p:cNvSpPr/>
          <p:nvPr/>
        </p:nvSpPr>
        <p:spPr>
          <a:xfrm>
            <a:off x="5760720" y="3977640"/>
            <a:ext cx="278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E-value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23" name="Shape 16"/>
          <p:cNvSpPr/>
          <p:nvPr/>
        </p:nvSpPr>
        <p:spPr>
          <a:xfrm>
            <a:off x="5669280" y="4325040"/>
            <a:ext cx="297144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4" name="Text 17"/>
          <p:cNvSpPr/>
          <p:nvPr/>
        </p:nvSpPr>
        <p:spPr>
          <a:xfrm>
            <a:off x="5760720" y="4361760"/>
            <a:ext cx="278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ea5e9"/>
                </a:solidFill>
                <a:latin typeface="Consolas"/>
                <a:ea typeface="Consolas"/>
              </a:rPr>
              <a:t>180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5" name="Text 18"/>
          <p:cNvSpPr/>
          <p:nvPr/>
        </p:nvSpPr>
        <p:spPr>
          <a:xfrm>
            <a:off x="5760720" y="4636080"/>
            <a:ext cx="278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Real sequences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e293b"/>
                </a:solidFill>
                <a:latin typeface="Calibri"/>
                <a:ea typeface="Calibri"/>
              </a:rPr>
              <a:t>Human Transcription Factor Results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227" name="Text 1"/>
          <p:cNvSpPr/>
          <p:nvPr/>
        </p:nvSpPr>
        <p:spPr>
          <a:xfrm>
            <a:off x="457200" y="82296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Real JASPAR data: CTCF (ChIP-seq) · E2F1 (HT-SELEX + ChIP-seq) · HOXA10 (HT-SELEX)</a:t>
            </a:r>
            <a:endParaRPr b="0" lang="en-IN" sz="1100" spc="-1" strike="noStrike">
              <a:latin typeface="Arial"/>
            </a:endParaRPr>
          </a:p>
        </p:txBody>
      </p:sp>
      <p:graphicFrame>
        <p:nvGraphicFramePr>
          <p:cNvPr id="228" name="Table 0"/>
          <p:cNvGraphicFramePr/>
          <p:nvPr/>
        </p:nvGraphicFramePr>
        <p:xfrm>
          <a:off x="457200" y="1170360"/>
          <a:ext cx="8229240" cy="1874160"/>
        </p:xfrm>
        <a:graphic>
          <a:graphicData uri="http://schemas.openxmlformats.org/drawingml/2006/table">
            <a:tbl>
              <a:tblPr/>
              <a:tblGrid>
                <a:gridCol w="685800"/>
                <a:gridCol w="1188720"/>
                <a:gridCol w="1188720"/>
                <a:gridCol w="640080"/>
                <a:gridCol w="1188720"/>
                <a:gridCol w="658080"/>
                <a:gridCol w="1097280"/>
                <a:gridCol w="1581840"/>
              </a:tblGrid>
              <a:tr h="374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TF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Experiment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MEME Consensus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MEME IC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Gibbs Consensus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Gibbs IC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E-value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Biological significance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1d4ed8"/>
                    </a:solidFill>
                  </a:tcPr>
                </a:tc>
              </a:tr>
              <a:tr h="374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CTCF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75569"/>
                          </a:solidFill>
                          <a:latin typeface="Calibri"/>
                        </a:rPr>
                        <a:t>ChIP-seq MA0139.2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d4ed8"/>
                          </a:solidFill>
                          <a:latin typeface="Consolas"/>
                          <a:ea typeface="Consolas"/>
                        </a:rPr>
                        <a:t>CAGGGGGCAC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9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7c3aed"/>
                          </a:solidFill>
                          <a:latin typeface="Consolas"/>
                          <a:ea typeface="Consolas"/>
                        </a:rPr>
                        <a:t>CACCAGGGGG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0ea5e9"/>
                          </a:solidFill>
                          <a:latin typeface="Calibri"/>
                        </a:rPr>
                        <a:t>11.29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75569"/>
                          </a:solidFill>
                          <a:latin typeface="Calibri"/>
                        </a:rPr>
                        <a:t>4.7×10⁻¹³⁸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i="1" lang="en-US" sz="900" spc="-1" strike="noStrike">
                          <a:solidFill>
                            <a:srgbClr val="475569"/>
                          </a:solidFill>
                          <a:latin typeface="Calibri"/>
                        </a:rPr>
                        <a:t>GC-rich insulator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74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E2F1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75569"/>
                          </a:solidFill>
                          <a:latin typeface="Calibri"/>
                        </a:rPr>
                        <a:t>HT-SELEX MA0024.3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d4ed8"/>
                          </a:solidFill>
                          <a:latin typeface="Consolas"/>
                          <a:ea typeface="Consolas"/>
                        </a:rPr>
                        <a:t>TTGGCGCC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10.11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7c3aed"/>
                          </a:solidFill>
                          <a:latin typeface="Consolas"/>
                          <a:ea typeface="Consolas"/>
                        </a:rPr>
                        <a:t>TTGGCGCC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0ea5e9"/>
                          </a:solidFill>
                          <a:latin typeface="Calibri"/>
                        </a:rPr>
                        <a:t>11.12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75569"/>
                          </a:solidFill>
                          <a:latin typeface="Calibri"/>
                        </a:rPr>
                        <a:t>5.7×10⁻¹⁵²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i="1" lang="en-US" sz="900" spc="-1" strike="noStrike">
                          <a:solidFill>
                            <a:srgbClr val="475569"/>
                          </a:solidFill>
                          <a:latin typeface="Calibri"/>
                        </a:rPr>
                        <a:t>Cell-cycle GCGCGCGC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E2F1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75569"/>
                          </a:solidFill>
                          <a:latin typeface="Calibri"/>
                        </a:rPr>
                        <a:t>ChIP-seq MA0024.2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d4ed8"/>
                          </a:solidFill>
                          <a:latin typeface="Consolas"/>
                          <a:ea typeface="Consolas"/>
                        </a:rPr>
                        <a:t>GGCGGGAG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8.47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7c3aed"/>
                          </a:solidFill>
                          <a:latin typeface="Consolas"/>
                          <a:ea typeface="Consolas"/>
                        </a:rPr>
                        <a:t>GGCGGGAG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0ea5e9"/>
                          </a:solidFill>
                          <a:latin typeface="Calibri"/>
                        </a:rPr>
                        <a:t>9.47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75569"/>
                          </a:solidFill>
                          <a:latin typeface="Calibri"/>
                        </a:rPr>
                        <a:t>1.7×10⁻¹³⁰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i="1" lang="en-US" sz="900" spc="-1" strike="noStrike">
                          <a:solidFill>
                            <a:srgbClr val="475569"/>
                          </a:solidFill>
                          <a:latin typeface="Calibri"/>
                        </a:rPr>
                        <a:t>ENCODE validated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75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HOXA10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75569"/>
                          </a:solidFill>
                          <a:latin typeface="Calibri"/>
                        </a:rPr>
                        <a:t>HT-SELEX MA0899.1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d4ed8"/>
                          </a:solidFill>
                          <a:latin typeface="Consolas"/>
                          <a:ea typeface="Consolas"/>
                        </a:rPr>
                        <a:t>GTAATAAA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6.52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7c3aed"/>
                          </a:solidFill>
                          <a:latin typeface="Consolas"/>
                          <a:ea typeface="Consolas"/>
                        </a:rPr>
                        <a:t>GTAATAAA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0ea5e9"/>
                          </a:solidFill>
                          <a:latin typeface="Calibri"/>
                        </a:rPr>
                        <a:t>7.38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75569"/>
                          </a:solidFill>
                          <a:latin typeface="Calibri"/>
                        </a:rPr>
                        <a:t>6.7×10⁻¹⁰¹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i="1" lang="en-US" sz="900" spc="-1" strike="noStrike">
                          <a:solidFill>
                            <a:srgbClr val="475569"/>
                          </a:solidFill>
                          <a:latin typeface="Calibri"/>
                        </a:rPr>
                        <a:t>TAAT homeodomain core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29" name="Image 0" descr="preencoded.png"/>
          <p:cNvPicPr/>
          <p:nvPr/>
        </p:nvPicPr>
        <p:blipFill>
          <a:blip r:embed="rId1"/>
          <a:stretch/>
        </p:blipFill>
        <p:spPr>
          <a:xfrm>
            <a:off x="457200" y="3200400"/>
            <a:ext cx="5120280" cy="1554120"/>
          </a:xfrm>
          <a:prstGeom prst="rect">
            <a:avLst/>
          </a:prstGeom>
          <a:ln w="0">
            <a:noFill/>
          </a:ln>
        </p:spPr>
      </p:pic>
      <p:sp>
        <p:nvSpPr>
          <p:cNvPr id="230" name="Text 2"/>
          <p:cNvSpPr/>
          <p:nvPr/>
        </p:nvSpPr>
        <p:spPr>
          <a:xfrm>
            <a:off x="457200" y="4736520"/>
            <a:ext cx="5120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MEME Sequence Logo — Human CTCF (ChIP-seq, MA0139.2)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31" name="Shape 3"/>
          <p:cNvSpPr/>
          <p:nvPr/>
        </p:nvSpPr>
        <p:spPr>
          <a:xfrm>
            <a:off x="5669280" y="3200400"/>
            <a:ext cx="2971440" cy="173700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2" name="Text 4"/>
          <p:cNvSpPr/>
          <p:nvPr/>
        </p:nvSpPr>
        <p:spPr>
          <a:xfrm>
            <a:off x="5760720" y="3291840"/>
            <a:ext cx="2788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d4ed8"/>
                </a:solidFill>
                <a:latin typeface="Calibri"/>
                <a:ea typeface="Calibri"/>
              </a:rPr>
              <a:t>Gibbs &gt; MEME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d4ed8"/>
                </a:solidFill>
                <a:latin typeface="Calibri"/>
                <a:ea typeface="Calibri"/>
              </a:rPr>
              <a:t>in all 4 datasets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33" name="Text 5"/>
          <p:cNvSpPr/>
          <p:nvPr/>
        </p:nvSpPr>
        <p:spPr>
          <a:xfrm>
            <a:off x="5760720" y="3913560"/>
            <a:ext cx="2788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Average IC advantage: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+1.2 bits across all 11 datasets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e293b"/>
                </a:solidFill>
                <a:latin typeface="Calibri"/>
                <a:ea typeface="Calibri"/>
              </a:rPr>
              <a:t>Evaluating Motif Discovery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235" name="Shape 1"/>
          <p:cNvSpPr/>
          <p:nvPr/>
        </p:nvSpPr>
        <p:spPr>
          <a:xfrm>
            <a:off x="457200" y="1005840"/>
            <a:ext cx="2633040" cy="1416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6" name="Text 2"/>
          <p:cNvSpPr/>
          <p:nvPr/>
        </p:nvSpPr>
        <p:spPr>
          <a:xfrm>
            <a:off x="567000" y="1078920"/>
            <a:ext cx="2413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ea5e9"/>
                </a:solidFill>
                <a:latin typeface="Calibri"/>
                <a:ea typeface="Calibri"/>
              </a:rPr>
              <a:t>E-value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7" name="Text 3"/>
          <p:cNvSpPr/>
          <p:nvPr/>
        </p:nvSpPr>
        <p:spPr>
          <a:xfrm>
            <a:off x="567000" y="1417320"/>
            <a:ext cx="241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Expected number of random motifs scoring as well by chance. Lower = more significant.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8" name="Text 4"/>
          <p:cNvSpPr/>
          <p:nvPr/>
        </p:nvSpPr>
        <p:spPr>
          <a:xfrm>
            <a:off x="567000" y="2066400"/>
            <a:ext cx="2413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onsolas"/>
                <a:ea typeface="Consolas"/>
              </a:rPr>
              <a:t>Used in MEME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39" name="Shape 5"/>
          <p:cNvSpPr/>
          <p:nvPr/>
        </p:nvSpPr>
        <p:spPr>
          <a:xfrm>
            <a:off x="3246120" y="1005840"/>
            <a:ext cx="2633040" cy="1416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0" name="Text 6"/>
          <p:cNvSpPr/>
          <p:nvPr/>
        </p:nvSpPr>
        <p:spPr>
          <a:xfrm>
            <a:off x="3355920" y="1078920"/>
            <a:ext cx="2413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ea5e9"/>
                </a:solidFill>
                <a:latin typeface="Calibri"/>
                <a:ea typeface="Calibri"/>
              </a:rPr>
              <a:t>Information Content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1" name="Text 7"/>
          <p:cNvSpPr/>
          <p:nvPr/>
        </p:nvSpPr>
        <p:spPr>
          <a:xfrm>
            <a:off x="3355920" y="1417320"/>
            <a:ext cx="241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Bits of conservation at each position. Max 2 bits/position for DNA.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2" name="Text 8"/>
          <p:cNvSpPr/>
          <p:nvPr/>
        </p:nvSpPr>
        <p:spPr>
          <a:xfrm>
            <a:off x="3355920" y="2066400"/>
            <a:ext cx="2413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onsolas"/>
                <a:ea typeface="Consolas"/>
              </a:rPr>
              <a:t>IC = 2 + Σ f·log₂(f)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43" name="Shape 9"/>
          <p:cNvSpPr/>
          <p:nvPr/>
        </p:nvSpPr>
        <p:spPr>
          <a:xfrm>
            <a:off x="6035040" y="1005840"/>
            <a:ext cx="2633040" cy="1416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4" name="Text 10"/>
          <p:cNvSpPr/>
          <p:nvPr/>
        </p:nvSpPr>
        <p:spPr>
          <a:xfrm>
            <a:off x="6144840" y="1078920"/>
            <a:ext cx="2413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ea5e9"/>
                </a:solidFill>
                <a:latin typeface="Calibri"/>
                <a:ea typeface="Calibri"/>
              </a:rPr>
              <a:t>Log-likelihood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5" name="Text 11"/>
          <p:cNvSpPr/>
          <p:nvPr/>
        </p:nvSpPr>
        <p:spPr>
          <a:xfrm>
            <a:off x="6144840" y="1417320"/>
            <a:ext cx="241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Log probability of observed sequences under motif model vs. background.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6" name="Text 12"/>
          <p:cNvSpPr/>
          <p:nvPr/>
        </p:nvSpPr>
        <p:spPr>
          <a:xfrm>
            <a:off x="6144840" y="2066400"/>
            <a:ext cx="2413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onsolas"/>
                <a:ea typeface="Consolas"/>
              </a:rPr>
              <a:t>LL = Σ log P(seq|motif)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47" name="Text 13"/>
          <p:cNvSpPr/>
          <p:nvPr/>
        </p:nvSpPr>
        <p:spPr>
          <a:xfrm>
            <a:off x="457200" y="260604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Performance Metrics (for synthetic benchmarks with planted ground truth)</a:t>
            </a:r>
            <a:endParaRPr b="0" lang="en-IN" sz="1100" spc="-1" strike="noStrike">
              <a:latin typeface="Arial"/>
            </a:endParaRPr>
          </a:p>
        </p:txBody>
      </p:sp>
      <p:graphicFrame>
        <p:nvGraphicFramePr>
          <p:cNvPr id="248" name="Table 0"/>
          <p:cNvGraphicFramePr/>
          <p:nvPr/>
        </p:nvGraphicFramePr>
        <p:xfrm>
          <a:off x="457200" y="2944440"/>
          <a:ext cx="8229240" cy="17370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1554480"/>
                <a:gridCol w="1737360"/>
              </a:tblGrid>
              <a:tr h="347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MEME (avg)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Gibbs (avg)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1b2a3b"/>
                    </a:solidFill>
                  </a:tcPr>
                </a:tc>
              </a:tr>
              <a:tr h="347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Sensitivity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Fraction of true sites identified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0.78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0ea5e9"/>
                          </a:solidFill>
                          <a:latin typeface="Calibri"/>
                        </a:rPr>
                        <a:t>0.82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PPV / Precision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Fraction of predicted sites correct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0.78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0ea5e9"/>
                          </a:solidFill>
                          <a:latin typeface="Calibri"/>
                        </a:rPr>
                        <a:t>0.82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47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F1 Score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Harmonic mean of Sensitivity &amp; PPV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0.78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0ea5e9"/>
                          </a:solidFill>
                          <a:latin typeface="Calibri"/>
                        </a:rPr>
                        <a:t>0.82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nCC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Nucleotide Correlation Coefficient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1e293b"/>
                          </a:solidFill>
                          <a:latin typeface="Calibri"/>
                        </a:rPr>
                        <a:t>0.78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0ea5e9"/>
                          </a:solidFill>
                          <a:latin typeface="Calibri"/>
                        </a:rPr>
                        <a:t>0.80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e293b"/>
                </a:solidFill>
                <a:latin typeface="Calibri"/>
                <a:ea typeface="Calibri"/>
              </a:rPr>
              <a:t>Algorithm Comparison — All Datasets</a:t>
            </a:r>
            <a:endParaRPr b="0" lang="en-IN" sz="3000" spc="-1" strike="noStrike">
              <a:latin typeface="Arial"/>
            </a:endParaRPr>
          </a:p>
        </p:txBody>
      </p:sp>
      <p:graphicFrame>
        <p:nvGraphicFramePr>
          <p:cNvPr id="250" name="Chart 0"/>
          <p:cNvGraphicFramePr/>
          <p:nvPr/>
        </p:nvGraphicFramePr>
        <p:xfrm>
          <a:off x="365760" y="914400"/>
          <a:ext cx="8320680" cy="393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e293b"/>
                </a:solidFill>
                <a:latin typeface="Calibri"/>
                <a:ea typeface="Calibri"/>
              </a:rPr>
              <a:t>Implementation &amp; Tools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252" name="Shape 1"/>
          <p:cNvSpPr/>
          <p:nvPr/>
        </p:nvSpPr>
        <p:spPr>
          <a:xfrm>
            <a:off x="457200" y="1005840"/>
            <a:ext cx="4023000" cy="118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3" name="Shape 2"/>
          <p:cNvSpPr/>
          <p:nvPr/>
        </p:nvSpPr>
        <p:spPr>
          <a:xfrm>
            <a:off x="457200" y="1005840"/>
            <a:ext cx="63720" cy="1188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Text 3"/>
          <p:cNvSpPr/>
          <p:nvPr/>
        </p:nvSpPr>
        <p:spPr>
          <a:xfrm>
            <a:off x="621720" y="1097280"/>
            <a:ext cx="2559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MEME Suite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5" name="Shape 4"/>
          <p:cNvSpPr/>
          <p:nvPr/>
        </p:nvSpPr>
        <p:spPr>
          <a:xfrm>
            <a:off x="3154680" y="1134000"/>
            <a:ext cx="1234080" cy="237240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Text 5"/>
          <p:cNvSpPr/>
          <p:nvPr/>
        </p:nvSpPr>
        <p:spPr>
          <a:xfrm>
            <a:off x="3154680" y="1134000"/>
            <a:ext cx="1234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1d4ed8"/>
                </a:solidFill>
                <a:latin typeface="Calibri"/>
                <a:ea typeface="Calibri"/>
              </a:rPr>
              <a:t>Gold standard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57" name="Text 6"/>
          <p:cNvSpPr/>
          <p:nvPr/>
        </p:nvSpPr>
        <p:spPr>
          <a:xfrm>
            <a:off x="621720" y="1426320"/>
            <a:ext cx="3767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meme.dna.uq.edu.au — comprehensive toolkit with MEME, DREME, FIMO, AME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8" name="Shape 7"/>
          <p:cNvSpPr/>
          <p:nvPr/>
        </p:nvSpPr>
        <p:spPr>
          <a:xfrm>
            <a:off x="4709160" y="1005840"/>
            <a:ext cx="4023000" cy="118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9" name="Shape 8"/>
          <p:cNvSpPr/>
          <p:nvPr/>
        </p:nvSpPr>
        <p:spPr>
          <a:xfrm>
            <a:off x="4709160" y="1005840"/>
            <a:ext cx="63720" cy="1188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Text 9"/>
          <p:cNvSpPr/>
          <p:nvPr/>
        </p:nvSpPr>
        <p:spPr>
          <a:xfrm>
            <a:off x="4873680" y="1097280"/>
            <a:ext cx="2559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HOMER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1" name="Shape 10"/>
          <p:cNvSpPr/>
          <p:nvPr/>
        </p:nvSpPr>
        <p:spPr>
          <a:xfrm>
            <a:off x="7406640" y="1134000"/>
            <a:ext cx="1234080" cy="237240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Text 11"/>
          <p:cNvSpPr/>
          <p:nvPr/>
        </p:nvSpPr>
        <p:spPr>
          <a:xfrm>
            <a:off x="7406640" y="1134000"/>
            <a:ext cx="1234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1d4ed8"/>
                </a:solidFill>
                <a:latin typeface="Calibri"/>
                <a:ea typeface="Calibri"/>
              </a:rPr>
              <a:t>ChIP-seq specialist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63" name="Text 12"/>
          <p:cNvSpPr/>
          <p:nvPr/>
        </p:nvSpPr>
        <p:spPr>
          <a:xfrm>
            <a:off x="4873680" y="1426320"/>
            <a:ext cx="3767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Hypergeometric Optimisation of Motif EnRichment — best for ChIP-seq peaks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4" name="Shape 13"/>
          <p:cNvSpPr/>
          <p:nvPr/>
        </p:nvSpPr>
        <p:spPr>
          <a:xfrm>
            <a:off x="457200" y="2331720"/>
            <a:ext cx="4023000" cy="118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5" name="Shape 14"/>
          <p:cNvSpPr/>
          <p:nvPr/>
        </p:nvSpPr>
        <p:spPr>
          <a:xfrm>
            <a:off x="457200" y="2331720"/>
            <a:ext cx="63720" cy="1188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Text 15"/>
          <p:cNvSpPr/>
          <p:nvPr/>
        </p:nvSpPr>
        <p:spPr>
          <a:xfrm>
            <a:off x="621720" y="2423160"/>
            <a:ext cx="2559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JASPAR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7" name="Shape 16"/>
          <p:cNvSpPr/>
          <p:nvPr/>
        </p:nvSpPr>
        <p:spPr>
          <a:xfrm>
            <a:off x="3154680" y="2459880"/>
            <a:ext cx="1234080" cy="237240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Text 17"/>
          <p:cNvSpPr/>
          <p:nvPr/>
        </p:nvSpPr>
        <p:spPr>
          <a:xfrm>
            <a:off x="3154680" y="2459880"/>
            <a:ext cx="1234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1d4ed8"/>
                </a:solidFill>
                <a:latin typeface="Calibri"/>
                <a:ea typeface="Calibri"/>
              </a:rPr>
              <a:t>Known motif DB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69" name="Text 18"/>
          <p:cNvSpPr/>
          <p:nvPr/>
        </p:nvSpPr>
        <p:spPr>
          <a:xfrm>
            <a:off x="621720" y="2752200"/>
            <a:ext cx="3767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Open-access database of curated TF binding profiles — jaspar.elixir.no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0" name="Shape 19"/>
          <p:cNvSpPr/>
          <p:nvPr/>
        </p:nvSpPr>
        <p:spPr>
          <a:xfrm>
            <a:off x="4709160" y="2331720"/>
            <a:ext cx="4023000" cy="118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1" name="Shape 20"/>
          <p:cNvSpPr/>
          <p:nvPr/>
        </p:nvSpPr>
        <p:spPr>
          <a:xfrm>
            <a:off x="4709160" y="2331720"/>
            <a:ext cx="63720" cy="1188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Text 21"/>
          <p:cNvSpPr/>
          <p:nvPr/>
        </p:nvSpPr>
        <p:spPr>
          <a:xfrm>
            <a:off x="4873680" y="2423160"/>
            <a:ext cx="2559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DeepBind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3" name="Shape 22"/>
          <p:cNvSpPr/>
          <p:nvPr/>
        </p:nvSpPr>
        <p:spPr>
          <a:xfrm>
            <a:off x="7406640" y="2459880"/>
            <a:ext cx="1234080" cy="237240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 23"/>
          <p:cNvSpPr/>
          <p:nvPr/>
        </p:nvSpPr>
        <p:spPr>
          <a:xfrm>
            <a:off x="7406640" y="2459880"/>
            <a:ext cx="1234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1d4ed8"/>
                </a:solidFill>
                <a:latin typeface="Calibri"/>
                <a:ea typeface="Calibri"/>
              </a:rPr>
              <a:t>Deep learning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75" name="Text 24"/>
          <p:cNvSpPr/>
          <p:nvPr/>
        </p:nvSpPr>
        <p:spPr>
          <a:xfrm>
            <a:off x="4873680" y="2752200"/>
            <a:ext cx="3767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CNN-based deep learning for TF binding prediction from sequence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6" name="Shape 25"/>
          <p:cNvSpPr/>
          <p:nvPr/>
        </p:nvSpPr>
        <p:spPr>
          <a:xfrm>
            <a:off x="457200" y="3657600"/>
            <a:ext cx="4023000" cy="118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7" name="Shape 26"/>
          <p:cNvSpPr/>
          <p:nvPr/>
        </p:nvSpPr>
        <p:spPr>
          <a:xfrm>
            <a:off x="457200" y="3657600"/>
            <a:ext cx="63720" cy="1188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Text 27"/>
          <p:cNvSpPr/>
          <p:nvPr/>
        </p:nvSpPr>
        <p:spPr>
          <a:xfrm>
            <a:off x="621720" y="3749040"/>
            <a:ext cx="2559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AlignACE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9" name="Shape 28"/>
          <p:cNvSpPr/>
          <p:nvPr/>
        </p:nvSpPr>
        <p:spPr>
          <a:xfrm>
            <a:off x="3154680" y="3785760"/>
            <a:ext cx="1234080" cy="237240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Text 29"/>
          <p:cNvSpPr/>
          <p:nvPr/>
        </p:nvSpPr>
        <p:spPr>
          <a:xfrm>
            <a:off x="3154680" y="3785760"/>
            <a:ext cx="1234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1d4ed8"/>
                </a:solidFill>
                <a:latin typeface="Calibri"/>
                <a:ea typeface="Calibri"/>
              </a:rPr>
              <a:t>Gibbs-based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81" name="Text 30"/>
          <p:cNvSpPr/>
          <p:nvPr/>
        </p:nvSpPr>
        <p:spPr>
          <a:xfrm>
            <a:off x="621720" y="4078080"/>
            <a:ext cx="3767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Gibbs sampling implementation — best for short regulatory motifs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2" name="Shape 31"/>
          <p:cNvSpPr/>
          <p:nvPr/>
        </p:nvSpPr>
        <p:spPr>
          <a:xfrm>
            <a:off x="4709160" y="3657600"/>
            <a:ext cx="4023000" cy="118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3" name="Shape 32"/>
          <p:cNvSpPr/>
          <p:nvPr/>
        </p:nvSpPr>
        <p:spPr>
          <a:xfrm>
            <a:off x="4709160" y="3657600"/>
            <a:ext cx="63720" cy="1188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Text 33"/>
          <p:cNvSpPr/>
          <p:nvPr/>
        </p:nvSpPr>
        <p:spPr>
          <a:xfrm>
            <a:off x="4873680" y="3749040"/>
            <a:ext cx="2559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Our Implementation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5" name="Shape 34"/>
          <p:cNvSpPr/>
          <p:nvPr/>
        </p:nvSpPr>
        <p:spPr>
          <a:xfrm>
            <a:off x="7406640" y="3785760"/>
            <a:ext cx="1234080" cy="237240"/>
          </a:xfrm>
          <a:prstGeom prst="roundRect">
            <a:avLst>
              <a:gd name="adj" fmla="val 30769"/>
            </a:avLst>
          </a:prstGeom>
          <a:solidFill>
            <a:srgbClr val="fff7ed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Text 35"/>
          <p:cNvSpPr/>
          <p:nvPr/>
        </p:nvSpPr>
        <p:spPr>
          <a:xfrm>
            <a:off x="7406640" y="3785760"/>
            <a:ext cx="1234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92400e"/>
                </a:solidFill>
                <a:latin typeface="Calibri"/>
                <a:ea typeface="Calibri"/>
              </a:rPr>
              <a:t>This project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87" name="Text 36"/>
          <p:cNvSpPr/>
          <p:nvPr/>
        </p:nvSpPr>
        <p:spPr>
          <a:xfrm>
            <a:off x="4873680" y="4078080"/>
            <a:ext cx="3767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Full MEME + Gibbs from scratch — Python, NumPy, Matplotlib, JASPAR API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Real-World Applications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289" name="Shape 1"/>
          <p:cNvSpPr/>
          <p:nvPr/>
        </p:nvSpPr>
        <p:spPr>
          <a:xfrm>
            <a:off x="457200" y="1051560"/>
            <a:ext cx="2651400" cy="16912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0" name="Text 2"/>
          <p:cNvSpPr/>
          <p:nvPr/>
        </p:nvSpPr>
        <p:spPr>
          <a:xfrm>
            <a:off x="548640" y="11613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🧬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91" name="Text 3"/>
          <p:cNvSpPr/>
          <p:nvPr/>
        </p:nvSpPr>
        <p:spPr>
          <a:xfrm>
            <a:off x="1051560" y="1161360"/>
            <a:ext cx="1938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ea5e9"/>
                </a:solidFill>
                <a:latin typeface="Calibri"/>
                <a:ea typeface="Calibri"/>
              </a:rPr>
              <a:t>Cancer Genomics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2" name="Text 4"/>
          <p:cNvSpPr/>
          <p:nvPr/>
        </p:nvSpPr>
        <p:spPr>
          <a:xfrm>
            <a:off x="567000" y="1645920"/>
            <a:ext cx="2422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Identify mutated regulatory regions that aberrantly activate oncogenes or silence tumour suppressors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3" name="Shape 5"/>
          <p:cNvSpPr/>
          <p:nvPr/>
        </p:nvSpPr>
        <p:spPr>
          <a:xfrm>
            <a:off x="3291840" y="1051560"/>
            <a:ext cx="2651400" cy="16912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4" name="Text 6"/>
          <p:cNvSpPr/>
          <p:nvPr/>
        </p:nvSpPr>
        <p:spPr>
          <a:xfrm>
            <a:off x="3383280" y="11613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💊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95" name="Text 7"/>
          <p:cNvSpPr/>
          <p:nvPr/>
        </p:nvSpPr>
        <p:spPr>
          <a:xfrm>
            <a:off x="3886200" y="1161360"/>
            <a:ext cx="1938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ea5e9"/>
                </a:solidFill>
                <a:latin typeface="Calibri"/>
                <a:ea typeface="Calibri"/>
              </a:rPr>
              <a:t>Drug Target Discovery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6" name="Text 8"/>
          <p:cNvSpPr/>
          <p:nvPr/>
        </p:nvSpPr>
        <p:spPr>
          <a:xfrm>
            <a:off x="3401640" y="1645920"/>
            <a:ext cx="2422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Conserved protein motifs across disease-relevant TFs become targets for small-molecule inhibitors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7" name="Shape 9"/>
          <p:cNvSpPr/>
          <p:nvPr/>
        </p:nvSpPr>
        <p:spPr>
          <a:xfrm>
            <a:off x="6126480" y="1051560"/>
            <a:ext cx="2651400" cy="16912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8" name="Text 10"/>
          <p:cNvSpPr/>
          <p:nvPr/>
        </p:nvSpPr>
        <p:spPr>
          <a:xfrm>
            <a:off x="6217920" y="11613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🌱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99" name="Text 11"/>
          <p:cNvSpPr/>
          <p:nvPr/>
        </p:nvSpPr>
        <p:spPr>
          <a:xfrm>
            <a:off x="6720840" y="1161360"/>
            <a:ext cx="1938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ea5e9"/>
                </a:solidFill>
                <a:latin typeface="Calibri"/>
                <a:ea typeface="Calibri"/>
              </a:rPr>
              <a:t>Synthetic Biology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0" name="Text 12"/>
          <p:cNvSpPr/>
          <p:nvPr/>
        </p:nvSpPr>
        <p:spPr>
          <a:xfrm>
            <a:off x="6236280" y="1645920"/>
            <a:ext cx="2422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Design synthetic promoters and regulatory circuits with precise tissue-specific expression control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1" name="Shape 13"/>
          <p:cNvSpPr/>
          <p:nvPr/>
        </p:nvSpPr>
        <p:spPr>
          <a:xfrm>
            <a:off x="457200" y="2926080"/>
            <a:ext cx="2651400" cy="16912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2" name="Text 14"/>
          <p:cNvSpPr/>
          <p:nvPr/>
        </p:nvSpPr>
        <p:spPr>
          <a:xfrm>
            <a:off x="548640" y="3035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🔬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03" name="Text 15"/>
          <p:cNvSpPr/>
          <p:nvPr/>
        </p:nvSpPr>
        <p:spPr>
          <a:xfrm>
            <a:off x="1051560" y="3035880"/>
            <a:ext cx="1938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ea5e9"/>
                </a:solidFill>
                <a:latin typeface="Calibri"/>
                <a:ea typeface="Calibri"/>
              </a:rPr>
              <a:t>Comparative Genomics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4" name="Text 16"/>
          <p:cNvSpPr/>
          <p:nvPr/>
        </p:nvSpPr>
        <p:spPr>
          <a:xfrm>
            <a:off x="567000" y="3520440"/>
            <a:ext cx="2422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Track evolutionary conservation of functional elements to infer common ancestry and selective pressure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5" name="Shape 17"/>
          <p:cNvSpPr/>
          <p:nvPr/>
        </p:nvSpPr>
        <p:spPr>
          <a:xfrm>
            <a:off x="3291840" y="2926080"/>
            <a:ext cx="2651400" cy="16912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6" name="Text 18"/>
          <p:cNvSpPr/>
          <p:nvPr/>
        </p:nvSpPr>
        <p:spPr>
          <a:xfrm>
            <a:off x="3383280" y="3035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🏥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07" name="Text 19"/>
          <p:cNvSpPr/>
          <p:nvPr/>
        </p:nvSpPr>
        <p:spPr>
          <a:xfrm>
            <a:off x="3886200" y="3035880"/>
            <a:ext cx="1938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ea5e9"/>
                </a:solidFill>
                <a:latin typeface="Calibri"/>
                <a:ea typeface="Calibri"/>
              </a:rPr>
              <a:t>Personalised Medicine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8" name="Text 20"/>
          <p:cNvSpPr/>
          <p:nvPr/>
        </p:nvSpPr>
        <p:spPr>
          <a:xfrm>
            <a:off x="3401640" y="3520440"/>
            <a:ext cx="2422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Predict individual drug response based on patient-specific SNPs in regulatory motif binding sites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9" name="Shape 21"/>
          <p:cNvSpPr/>
          <p:nvPr/>
        </p:nvSpPr>
        <p:spPr>
          <a:xfrm>
            <a:off x="6126480" y="2926080"/>
            <a:ext cx="2651400" cy="16912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0" name="Text 22"/>
          <p:cNvSpPr/>
          <p:nvPr/>
        </p:nvSpPr>
        <p:spPr>
          <a:xfrm>
            <a:off x="6217920" y="3035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🌾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11" name="Text 23"/>
          <p:cNvSpPr/>
          <p:nvPr/>
        </p:nvSpPr>
        <p:spPr>
          <a:xfrm>
            <a:off x="6720840" y="3035880"/>
            <a:ext cx="1938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ea5e9"/>
                </a:solidFill>
                <a:latin typeface="Calibri"/>
                <a:ea typeface="Calibri"/>
              </a:rPr>
              <a:t>Crop Improvement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2" name="Text 24"/>
          <p:cNvSpPr/>
          <p:nvPr/>
        </p:nvSpPr>
        <p:spPr>
          <a:xfrm>
            <a:off x="6236280" y="3520440"/>
            <a:ext cx="2422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Engineer drought/stress-responsive gene circuits in crops using stress-inducible promoter motifs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 0"/>
          <p:cNvSpPr/>
          <p:nvPr/>
        </p:nvSpPr>
        <p:spPr>
          <a:xfrm>
            <a:off x="457200" y="2559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e293b"/>
                </a:solidFill>
                <a:latin typeface="Calibri"/>
                <a:ea typeface="Calibri"/>
              </a:rPr>
              <a:t>Key Takeaways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314" name="Shape 1"/>
          <p:cNvSpPr/>
          <p:nvPr/>
        </p:nvSpPr>
        <p:spPr>
          <a:xfrm>
            <a:off x="457200" y="1005840"/>
            <a:ext cx="8229240" cy="731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5" name="Shape 2"/>
          <p:cNvSpPr/>
          <p:nvPr/>
        </p:nvSpPr>
        <p:spPr>
          <a:xfrm>
            <a:off x="567000" y="1115640"/>
            <a:ext cx="511560" cy="5115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Text 3"/>
          <p:cNvSpPr/>
          <p:nvPr/>
        </p:nvSpPr>
        <p:spPr>
          <a:xfrm>
            <a:off x="567000" y="111564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7" name="Text 4"/>
          <p:cNvSpPr/>
          <p:nvPr/>
        </p:nvSpPr>
        <p:spPr>
          <a:xfrm>
            <a:off x="1234440" y="1097280"/>
            <a:ext cx="7223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Motif discovery is fundamental to understanding gene regulation — motifs are the vocabulary of the genome.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8" name="Shape 5"/>
          <p:cNvSpPr/>
          <p:nvPr/>
        </p:nvSpPr>
        <p:spPr>
          <a:xfrm>
            <a:off x="457200" y="1828800"/>
            <a:ext cx="8229240" cy="731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9" name="Shape 6"/>
          <p:cNvSpPr/>
          <p:nvPr/>
        </p:nvSpPr>
        <p:spPr>
          <a:xfrm>
            <a:off x="567000" y="1938600"/>
            <a:ext cx="511560" cy="5115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Text 7"/>
          <p:cNvSpPr/>
          <p:nvPr/>
        </p:nvSpPr>
        <p:spPr>
          <a:xfrm>
            <a:off x="567000" y="193860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1" name="Text 8"/>
          <p:cNvSpPr/>
          <p:nvPr/>
        </p:nvSpPr>
        <p:spPr>
          <a:xfrm>
            <a:off x="1234440" y="1920240"/>
            <a:ext cx="7223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MEME and Gibbs Sampling are complementary: MEME gives E-values; Gibbs gives higher IC and better sensitivity.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22" name="Shape 9"/>
          <p:cNvSpPr/>
          <p:nvPr/>
        </p:nvSpPr>
        <p:spPr>
          <a:xfrm>
            <a:off x="457200" y="2651760"/>
            <a:ext cx="8229240" cy="731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3" name="Shape 10"/>
          <p:cNvSpPr/>
          <p:nvPr/>
        </p:nvSpPr>
        <p:spPr>
          <a:xfrm>
            <a:off x="567000" y="2761560"/>
            <a:ext cx="511560" cy="5115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Text 11"/>
          <p:cNvSpPr/>
          <p:nvPr/>
        </p:nvSpPr>
        <p:spPr>
          <a:xfrm>
            <a:off x="567000" y="276156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5" name="Text 12"/>
          <p:cNvSpPr/>
          <p:nvPr/>
        </p:nvSpPr>
        <p:spPr>
          <a:xfrm>
            <a:off x="1234440" y="2743200"/>
            <a:ext cx="7223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Real JASPAR data (22 matrices, 4 organisms, 5 experiment types) confirmed known biological motifs with E ≤ 10⁻¹⁰¹.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26" name="Shape 13"/>
          <p:cNvSpPr/>
          <p:nvPr/>
        </p:nvSpPr>
        <p:spPr>
          <a:xfrm>
            <a:off x="457200" y="3474720"/>
            <a:ext cx="8229240" cy="731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7" name="Shape 14"/>
          <p:cNvSpPr/>
          <p:nvPr/>
        </p:nvSpPr>
        <p:spPr>
          <a:xfrm>
            <a:off x="567000" y="3584520"/>
            <a:ext cx="511560" cy="5115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Text 15"/>
          <p:cNvSpPr/>
          <p:nvPr/>
        </p:nvSpPr>
        <p:spPr>
          <a:xfrm>
            <a:off x="567000" y="358452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04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9" name="Text 16"/>
          <p:cNvSpPr/>
          <p:nvPr/>
        </p:nvSpPr>
        <p:spPr>
          <a:xfrm>
            <a:off x="1234440" y="3566160"/>
            <a:ext cx="7223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The canonical G-box (ACACGTGT) was independently recovered by both algorithms from 180 real ChIP-seq/SELEX sequences.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0" name="Shape 17"/>
          <p:cNvSpPr/>
          <p:nvPr/>
        </p:nvSpPr>
        <p:spPr>
          <a:xfrm>
            <a:off x="457200" y="4297680"/>
            <a:ext cx="8229240" cy="731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1" name="Shape 18"/>
          <p:cNvSpPr/>
          <p:nvPr/>
        </p:nvSpPr>
        <p:spPr>
          <a:xfrm>
            <a:off x="567000" y="4407480"/>
            <a:ext cx="511560" cy="51156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Text 19"/>
          <p:cNvSpPr/>
          <p:nvPr/>
        </p:nvSpPr>
        <p:spPr>
          <a:xfrm>
            <a:off x="567000" y="44074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05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3" name="Text 20"/>
          <p:cNvSpPr/>
          <p:nvPr/>
        </p:nvSpPr>
        <p:spPr>
          <a:xfrm>
            <a:off x="1234440" y="4389120"/>
            <a:ext cx="7223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Applications span cancer genomics, drug discovery, synthetic biology, personalised medicine, and crop engineering.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hape 0"/>
          <p:cNvSpPr/>
          <p:nvPr/>
        </p:nvSpPr>
        <p:spPr>
          <a:xfrm>
            <a:off x="-685800" y="-685800"/>
            <a:ext cx="2285640" cy="228564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5" name="Shape 1"/>
          <p:cNvSpPr/>
          <p:nvPr/>
        </p:nvSpPr>
        <p:spPr>
          <a:xfrm>
            <a:off x="7772400" y="3474720"/>
            <a:ext cx="1828440" cy="182844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Shape 2"/>
          <p:cNvSpPr/>
          <p:nvPr/>
        </p:nvSpPr>
        <p:spPr>
          <a:xfrm>
            <a:off x="2743200" y="457200"/>
            <a:ext cx="3657240" cy="365724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Text 3"/>
          <p:cNvSpPr/>
          <p:nvPr/>
        </p:nvSpPr>
        <p:spPr>
          <a:xfrm>
            <a:off x="1371600" y="1371600"/>
            <a:ext cx="6400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600" spc="-1" strike="noStrike">
                <a:solidFill>
                  <a:srgbClr val="ffffff"/>
                </a:solidFill>
                <a:latin typeface="Calibri"/>
                <a:ea typeface="Calibri"/>
              </a:rPr>
              <a:t>Thank You</a:t>
            </a:r>
            <a:endParaRPr b="0" lang="en-IN" sz="5600" spc="-1" strike="noStrike">
              <a:latin typeface="Arial"/>
            </a:endParaRPr>
          </a:p>
        </p:txBody>
      </p:sp>
      <p:sp>
        <p:nvSpPr>
          <p:cNvPr id="338" name="Text 4"/>
          <p:cNvSpPr/>
          <p:nvPr/>
        </p:nvSpPr>
        <p:spPr>
          <a:xfrm>
            <a:off x="1371600" y="2697480"/>
            <a:ext cx="6400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cbd5e1"/>
                </a:solidFill>
                <a:latin typeface="Calibri"/>
                <a:ea typeface="Calibri"/>
              </a:rPr>
              <a:t>Biological Sequence Motif Discovery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39" name="Shape 5"/>
          <p:cNvSpPr/>
          <p:nvPr/>
        </p:nvSpPr>
        <p:spPr>
          <a:xfrm>
            <a:off x="2743200" y="3246120"/>
            <a:ext cx="3657240" cy="36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Text 6"/>
          <p:cNvSpPr/>
          <p:nvPr/>
        </p:nvSpPr>
        <p:spPr>
          <a:xfrm>
            <a:off x="1371600" y="342900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Ramesh Chandra Soren  </a:t>
            </a: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(2022CSB086)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1" name="Text 7"/>
          <p:cNvSpPr/>
          <p:nvPr/>
        </p:nvSpPr>
        <p:spPr>
          <a:xfrm>
            <a:off x="1371600" y="376740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Supervisor: Dr. Surajeet Ghosh  ·  Dept. Computer Science &amp; Technology  ·  IIEST Shibpur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2" name="Text 8"/>
          <p:cNvSpPr/>
          <p:nvPr/>
        </p:nvSpPr>
        <p:spPr>
          <a:xfrm>
            <a:off x="1371600" y="411480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17 March 2026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2026-04-27T11:57:25Z</dcterms:created>
  <dc:creator>Ramesh Chandra Soren</dc:creator>
  <dc:description/>
  <dc:language>en-IN</dc:language>
  <cp:lastModifiedBy/>
  <dcterms:modified xsi:type="dcterms:W3CDTF">2026-05-13T01:11:59Z</dcterms:modified>
  <cp:revision>2</cp:revision>
  <dc:subject>PptxGenJS Presentation</dc:subject>
  <dc:title>Biological Sequence Motif Discovery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